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R4nv1HruppAbjKUG9bDg7a5fG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657B40-FC4D-442C-877C-31F0D8B13DA2}">
  <a:tblStyle styleId="{BE657B40-FC4D-442C-877C-31F0D8B13D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Hourly Rate (AUD)</c:v>
                </c:pt>
              </c:strCache>
            </c:strRef>
          </c:tx>
          <c:spPr>
            <a:solidFill>
              <a:srgbClr val="94A3B8"/>
            </a:solidFill>
            <a:effectLst/>
          </c:spPr>
          <c:invertIfNegative val="0"/>
          <c:dLbls>
            <c:numFmt formatCode="#,##0" sourceLinked="0"/>
            <c:txPr>
              <a:bodyPr/>
              <a:lstStyle/>
              <a:p>
                <a:pPr>
                  <a:defRPr b="0" i="0" strike="noStrike" sz="1100" u="none">
                    <a:solidFill>
                      <a:srgbClr val="1E2A3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E14B4B"/>
              </a:solidFill>
              <a:effectLst/>
            </c:spPr>
          </c:dPt>
          <c:dPt>
            <c:idx val="2"/>
            <c:invertIfNegative val="0"/>
            <c:bubble3D val="0"/>
            <c:spPr>
              <a:solidFill>
                <a:srgbClr val="F59E0B"/>
              </a:solidFill>
              <a:effectLst/>
            </c:spPr>
          </c:dPt>
          <c:dPt>
            <c:idx val="3"/>
            <c:invertIfNegative val="0"/>
            <c:bubble3D val="0"/>
            <c:spPr>
              <a:solidFill>
                <a:srgbClr val="E14B4B"/>
              </a:solidFill>
              <a:effectLst/>
            </c:spPr>
          </c:dPt>
          <c:dPt>
            <c:idx val="4"/>
            <c:invertIfNegative val="0"/>
            <c:bubble3D val="0"/>
            <c:spPr>
              <a:solidFill>
                <a:srgbClr val="27AE60"/>
              </a:solidFill>
              <a:effectLst/>
            </c:spPr>
          </c:dPt>
          <c:cat>
            <c:multiLvlStrRef>
              <c:f>Sheet1!$A$2:$A$6</c:f>
              <c:multiLvlStrCache>
                <c:ptCount val="5"/>
                <c:lvl>
                  <c:pt idx="0">
                    <c:v>Award Minimum
(Cert III)</c:v>
                  </c:pt>
                  <c:pt idx="1">
                    <c:v>Raw Talent
(Current)</c:v>
                  </c:pt>
                  <c:pt idx="2">
                    <c:v>TalentNow
Casual Hire (est.)</c:v>
                  </c:pt>
                  <c:pt idx="3">
                    <c:v>Entree Early
Years (SA)</c:v>
                  </c:pt>
                  <c:pt idx="4">
                    <c:v>RT with WRP
Toggle Active</c:v>
                  </c:pt>
                </c:lvl>
              </c:multiLvlStrCache>
            </c:multiLvlStrRef>
          </c:cat>
          <c:val>
            <c:numRef>
              <c:f>Sheet1!$B$2:$B$6</c:f>
              <c:numCache>
                <c:formatCode>General</c:formatCode>
                <c:ptCount val="5"/>
                <c:pt idx="0">
                  <c:v>26.5</c:v>
                </c:pt>
                <c:pt idx="1">
                  <c:v>42</c:v>
                </c:pt>
                <c:pt idx="2">
                  <c:v>44</c:v>
                </c:pt>
                <c:pt idx="3">
                  <c:v>46.8</c:v>
                </c:pt>
                <c:pt idx="4">
                  <c:v>46.2</c:v>
                </c:pt>
              </c:numCache>
            </c:numRef>
          </c:val>
        </c:ser>
        <c:dLbls>
          <c:numFmt formatCode="#,##0" sourceLinked="0"/>
          <c:txPr>
            <a:bodyPr/>
            <a:lstStyle/>
            <a:p>
              <a:pPr>
                <a:defRPr b="0" i="0" strike="noStrike" sz="1100" u="none">
                  <a:solidFill>
                    <a:srgbClr val="1E2A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Raw Talent</c:v>
                </c:pt>
              </c:strCache>
            </c:strRef>
          </c:tx>
          <c:spPr>
            <a:solidFill>
              <a:srgbClr val="3A6FF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Tech Platform</c:v>
                  </c:pt>
                  <c:pt idx="1">
                    <c:v>Pay Rate Comp.</c:v>
                  </c:pt>
                  <c:pt idx="2">
                    <c:v>Compliance Auto.</c:v>
                  </c:pt>
                  <c:pt idx="3">
                    <c:v>Onboarding Speed</c:v>
                  </c:pt>
                  <c:pt idx="4">
                    <c:v>SA Relationships</c:v>
                  </c:pt>
                  <c:pt idx="5">
                    <c:v>WRP Optimisation</c:v>
                  </c:pt>
                  <c:pt idx="6">
                    <c:v>Educator Loyalty</c:v>
                  </c:pt>
                  <c:pt idx="7">
                    <c:v>Reg. Comms</c:v>
                  </c:pt>
                </c:lvl>
              </c:multiLvlStrCache>
            </c:multiLvlStrRef>
          </c:cat>
          <c:val>
            <c:numRef>
              <c:f>Sheet1!$B$2:$B$9</c:f>
              <c:numCache>
                <c:formatCode>General</c:formatCode>
                <c:ptCount val="8"/>
                <c:pt idx="0">
                  <c:v>4</c:v>
                </c:pt>
                <c:pt idx="1">
                  <c:v>5</c:v>
                </c:pt>
                <c:pt idx="2">
                  <c:v>3</c:v>
                </c:pt>
                <c:pt idx="3">
                  <c:v>4</c:v>
                </c:pt>
                <c:pt idx="4">
                  <c:v>9</c:v>
                </c:pt>
                <c:pt idx="5">
                  <c:v>5</c:v>
                </c:pt>
                <c:pt idx="6">
                  <c:v>6</c:v>
                </c:pt>
                <c:pt idx="7">
                  <c:v>3</c:v>
                </c:pt>
              </c:numCache>
            </c:numRef>
          </c:val>
        </c:ser>
        <c:ser>
          <c:idx val="1"/>
          <c:order val="1"/>
          <c:tx>
            <c:strRef>
              <c:f>Sheet1!$C$1</c:f>
              <c:strCache>
                <c:ptCount val="1"/>
                <c:pt idx="0">
                  <c:v>TalentNow</c:v>
                </c:pt>
              </c:strCache>
            </c:strRef>
          </c:tx>
          <c:spPr>
            <a:solidFill>
              <a:srgbClr val="E14B4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Tech Platform</c:v>
                  </c:pt>
                  <c:pt idx="1">
                    <c:v>Pay Rate Comp.</c:v>
                  </c:pt>
                  <c:pt idx="2">
                    <c:v>Compliance Auto.</c:v>
                  </c:pt>
                  <c:pt idx="3">
                    <c:v>Onboarding Speed</c:v>
                  </c:pt>
                  <c:pt idx="4">
                    <c:v>SA Relationships</c:v>
                  </c:pt>
                  <c:pt idx="5">
                    <c:v>WRP Optimisation</c:v>
                  </c:pt>
                  <c:pt idx="6">
                    <c:v>Educator Loyalty</c:v>
                  </c:pt>
                  <c:pt idx="7">
                    <c:v>Reg. Comms</c:v>
                  </c:pt>
                </c:lvl>
              </c:multiLvlStrCache>
            </c:multiLvlStrRef>
          </c:cat>
          <c:val>
            <c:numRef>
              <c:f>Sheet1!$C$2:$C$9</c:f>
              <c:numCache>
                <c:formatCode>General</c:formatCode>
                <c:ptCount val="8"/>
                <c:pt idx="0">
                  <c:v>8</c:v>
                </c:pt>
                <c:pt idx="1">
                  <c:v>7</c:v>
                </c:pt>
                <c:pt idx="2">
                  <c:v>9</c:v>
                </c:pt>
                <c:pt idx="3">
                  <c:v>8</c:v>
                </c:pt>
                <c:pt idx="4">
                  <c:v>3</c:v>
                </c:pt>
                <c:pt idx="5">
                  <c:v>9</c:v>
                </c:pt>
                <c:pt idx="6">
                  <c:v>7</c:v>
                </c:pt>
                <c:pt idx="7">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slide. Presenter: introduce the purpose — this is an analysis of how TalentNow competes with Raw Talent and what SA growth actions we should take.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key findings. Emphasise finding 02 — Edge SA is the most urgent commercial opportunity but requires immediate supply action.</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TalentNow profile. Key point: 8 years old, national, independent. They have significant head start on us in technology and market presence outside SA.</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most important slide. TalentNow Connect is fundamentally different — centres become employers, pay $30/shift, and keep WRP. We don't have this model.</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$4-5/hr gap is the primary reason SA educators choose Entrée over RT. The WRP toggle, once activated for enrolled SA centres, closes this gap entirely. Action: get profitability model done and activate toggle.</a:t>
            </a:r>
            <a:endParaRPr/>
          </a:p>
        </p:txBody>
      </p:sp>
      <p:sp>
        <p:nvSpPr>
          <p:cNvPr id="152" name="Google Shape;15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WRP is the structural advantage of TalentNow Connect. Key action: confirm Raw Talent WRP enrolment status immediately. WRP ends 30 November 2026 — larger gender uplift increases follow from December 2026 under Fair Work Commission decision.</a:t>
            </a:r>
            <a:endParaRPr/>
          </a:p>
        </p:txBody>
      </p:sp>
      <p:sp>
        <p:nvSpPr>
          <p:cNvPr id="178" name="Google Shape;1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TalentNow published a detailed NCS Training guide in February 2026 — they are ahead of RT on regulatory communications. RT must immediately audit all SA educators for NCS Training completion and DCSI Screening currency.</a:t>
            </a:r>
            <a:endParaRPr/>
          </a:p>
        </p:txBody>
      </p:sp>
      <p:sp>
        <p:nvSpPr>
          <p:cNvPr id="210" name="Google Shape;2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table. RT wins on SA relationships and Edge partnership — but TalentNow wins on almost every technology and model dimension. The Edge win is our time-sensitive opportunity to build the SA advantage before TalentNow expands there.</a:t>
            </a:r>
            <a:endParaRPr/>
          </a:p>
        </p:txBody>
      </p:sp>
      <p:sp>
        <p:nvSpPr>
          <p:cNvPr id="255" name="Google Shape;2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c350409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ec350409d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table. RT wins on SA relationships and Edge partnership — but TalentNow wins on almost every technology and model dimension. The Edge win is our time-sensitive opportunity to build the SA advantage before TalentNow expands there.</a:t>
            </a:r>
            <a:endParaRPr/>
          </a:p>
        </p:txBody>
      </p:sp>
      <p:sp>
        <p:nvSpPr>
          <p:cNvPr id="265" name="Google Shape;265;g3ec350409d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direct with Liam — TalentNow is genuinely ahead in 6 major dimensions. But none of these kill RT's SA opportunity because our edge is local relationships and the Edge partnership, which TalentNow cannot replicate quickly.</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6 advantages are real but fragile. The Edge partnership must be protected. Liam's relationships must be systematised through the team. The appreciation program must be formalised. None of these advantages are self-sustaining without operational support.</a:t>
            </a:r>
            <a:endParaRPr/>
          </a:p>
        </p:txBody>
      </p:sp>
      <p:sp>
        <p:nvSpPr>
          <p:cNvPr id="310" name="Google Shape;3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gap chart shows clearly where RT and TalentNow are in opposite positions. RT's SA Relationships score is our highest — TalentNow's lowest. This is the asymmetric advantage we must build from. Everything else is a gap to close.</a:t>
            </a:r>
            <a:endParaRPr/>
          </a:p>
        </p:txBody>
      </p:sp>
      <p:sp>
        <p:nvSpPr>
          <p:cNvPr id="343" name="Google Shape;3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 this as the 10-item sprint plan to Liam. Items 1-4 are non-negotiable Week 1 actions — everything else depends on them being done first. The WRP toggle is the fastest way to close the pay gap without changing the business model.</a:t>
            </a:r>
            <a:endParaRPr/>
          </a:p>
        </p:txBody>
      </p:sp>
      <p:sp>
        <p:nvSpPr>
          <p:cNvPr id="362" name="Google Shape;3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message: We don't need to become TalentNow. We need to dominate SA with what we already have — and fix the operational gaps that are holding us back. The Edge SA confirmation changes everything. The next 90 days determine whether RT becomes the #1 SA childcare agency.</a:t>
            </a:r>
            <a:endParaRPr/>
          </a:p>
        </p:txBody>
      </p:sp>
      <p:sp>
        <p:nvSpPr>
          <p:cNvPr id="441" name="Google Shape;4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3A"/>
        </a:solidFill>
      </p:bgPr>
    </p:bg>
    <p:spTree>
      <p:nvGrpSpPr>
        <p:cNvPr id="15" name="Shape 15"/>
        <p:cNvGrpSpPr/>
        <p:nvPr/>
      </p:nvGrpSpPr>
      <p:grpSpPr>
        <a:xfrm>
          <a:off x="0" y="0"/>
          <a:ext cx="0" cy="0"/>
          <a:chOff x="0" y="0"/>
          <a:chExt cx="0" cy="0"/>
        </a:xfrm>
      </p:grpSpPr>
      <p:sp>
        <p:nvSpPr>
          <p:cNvPr id="16" name="Google Shape;16;p1"/>
          <p:cNvSpPr/>
          <p:nvPr/>
        </p:nvSpPr>
        <p:spPr>
          <a:xfrm>
            <a:off x="0" y="0"/>
            <a:ext cx="6688836" cy="6858000"/>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40080" y="1097280"/>
            <a:ext cx="60350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Raw Talent vs TalentNow</a:t>
            </a:r>
            <a:endParaRPr b="0" i="0" sz="4200" u="none" cap="none" strike="noStrike">
              <a:solidFill>
                <a:schemeClr val="dk1"/>
              </a:solidFill>
              <a:latin typeface="Calibri"/>
              <a:ea typeface="Calibri"/>
              <a:cs typeface="Calibri"/>
              <a:sym typeface="Calibri"/>
            </a:endParaRPr>
          </a:p>
        </p:txBody>
      </p:sp>
      <p:sp>
        <p:nvSpPr>
          <p:cNvPr id="18" name="Google Shape;18;p1"/>
          <p:cNvSpPr/>
          <p:nvPr/>
        </p:nvSpPr>
        <p:spPr>
          <a:xfrm>
            <a:off x="640080" y="2286000"/>
            <a:ext cx="6035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2200"/>
              <a:buFont typeface="Calibri"/>
              <a:buNone/>
            </a:pPr>
            <a:r>
              <a:rPr b="0" i="0" lang="en-US" sz="2200" u="none" cap="none" strike="noStrike">
                <a:solidFill>
                  <a:srgbClr val="F2A93B"/>
                </a:solidFill>
                <a:latin typeface="Calibri"/>
                <a:ea typeface="Calibri"/>
                <a:cs typeface="Calibri"/>
                <a:sym typeface="Calibri"/>
              </a:rPr>
              <a:t>Competitive Intelligence Report</a:t>
            </a:r>
            <a:endParaRPr b="0" i="0" sz="2200" u="none" cap="none" strike="noStrike">
              <a:solidFill>
                <a:schemeClr val="dk1"/>
              </a:solidFill>
              <a:latin typeface="Calibri"/>
              <a:ea typeface="Calibri"/>
              <a:cs typeface="Calibri"/>
              <a:sym typeface="Calibri"/>
            </a:endParaRPr>
          </a:p>
        </p:txBody>
      </p:sp>
      <p:sp>
        <p:nvSpPr>
          <p:cNvPr id="19" name="Google Shape;19;p1"/>
          <p:cNvSpPr/>
          <p:nvPr/>
        </p:nvSpPr>
        <p:spPr>
          <a:xfrm>
            <a:off x="640080" y="2834640"/>
            <a:ext cx="6035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Strategic Analysis &amp; South Australia Growth Plan</a:t>
            </a:r>
            <a:endParaRPr b="0" i="0" sz="14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640080" y="3429000"/>
            <a:ext cx="3657600" cy="0"/>
          </a:xfrm>
          <a:prstGeom prst="straightConnector1">
            <a:avLst/>
          </a:prstGeom>
          <a:noFill/>
          <a:ln cap="flat" cmpd="sng" w="25400">
            <a:solidFill>
              <a:srgbClr val="3A6FF8"/>
            </a:solidFill>
            <a:prstDash val="solid"/>
            <a:round/>
            <a:headEnd len="sm" w="sm" type="none"/>
            <a:tailEnd len="sm" w="sm" type="none"/>
          </a:ln>
        </p:spPr>
      </p:cxnSp>
      <p:sp>
        <p:nvSpPr>
          <p:cNvPr id="21" name="Google Shape;21;p1"/>
          <p:cNvSpPr/>
          <p:nvPr/>
        </p:nvSpPr>
        <p:spPr>
          <a:xfrm>
            <a:off x="640080" y="3657600"/>
            <a:ext cx="6035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1" i="0" lang="en-US" sz="1200" u="none" cap="none" strike="noStrike">
                <a:solidFill>
                  <a:srgbClr val="94A3B8"/>
                </a:solidFill>
                <a:latin typeface="Calibri"/>
                <a:ea typeface="Calibri"/>
                <a:cs typeface="Calibri"/>
                <a:sym typeface="Calibri"/>
              </a:rPr>
              <a:t>Prepared by: </a:t>
            </a:r>
            <a:r>
              <a:rPr b="0" i="0" lang="en-US" sz="1200" u="none" cap="none" strike="noStrike">
                <a:solidFill>
                  <a:srgbClr val="FFFFFF"/>
                </a:solidFill>
                <a:latin typeface="Calibri"/>
                <a:ea typeface="Calibri"/>
                <a:cs typeface="Calibri"/>
                <a:sym typeface="Calibri"/>
              </a:rPr>
              <a:t>Joy Victoria, </a:t>
            </a:r>
            <a:r>
              <a:rPr lang="en-US" sz="1200">
                <a:solidFill>
                  <a:srgbClr val="FFFFFF"/>
                </a:solidFill>
                <a:latin typeface="Calibri"/>
                <a:ea typeface="Calibri"/>
                <a:cs typeface="Calibri"/>
                <a:sym typeface="Calibri"/>
              </a:rPr>
              <a:t>Business</a:t>
            </a:r>
            <a:r>
              <a:rPr b="0" i="0" lang="en-US" sz="1200" u="none" cap="none" strike="noStrike">
                <a:solidFill>
                  <a:srgbClr val="FFFFFF"/>
                </a:solidFill>
                <a:latin typeface="Calibri"/>
                <a:ea typeface="Calibri"/>
                <a:cs typeface="Calibri"/>
                <a:sym typeface="Calibri"/>
              </a:rPr>
              <a:t> </a:t>
            </a:r>
            <a:r>
              <a:rPr lang="en-US" sz="1200">
                <a:solidFill>
                  <a:srgbClr val="FFFFFF"/>
                </a:solidFill>
                <a:latin typeface="Calibri"/>
                <a:ea typeface="Calibri"/>
                <a:cs typeface="Calibri"/>
                <a:sym typeface="Calibri"/>
              </a:rPr>
              <a:t>Consultant</a:t>
            </a:r>
            <a:endParaRPr b="0" i="0" sz="1200" u="none" cap="none" strike="noStrike">
              <a:solidFill>
                <a:schemeClr val="dk1"/>
              </a:solidFill>
              <a:latin typeface="Calibri"/>
              <a:ea typeface="Calibri"/>
              <a:cs typeface="Calibri"/>
              <a:sym typeface="Calibri"/>
            </a:endParaRPr>
          </a:p>
        </p:txBody>
      </p:sp>
      <p:sp>
        <p:nvSpPr>
          <p:cNvPr id="22" name="Google Shape;22;p1"/>
          <p:cNvSpPr/>
          <p:nvPr/>
        </p:nvSpPr>
        <p:spPr>
          <a:xfrm>
            <a:off x="640080" y="3977640"/>
            <a:ext cx="6035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1" i="0" lang="en-US" sz="1200" u="none" cap="none" strike="noStrike">
                <a:solidFill>
                  <a:srgbClr val="94A3B8"/>
                </a:solidFill>
                <a:latin typeface="Calibri"/>
                <a:ea typeface="Calibri"/>
                <a:cs typeface="Calibri"/>
                <a:sym typeface="Calibri"/>
              </a:rPr>
              <a:t>Date: </a:t>
            </a:r>
            <a:r>
              <a:rPr b="0" i="0" lang="en-US" sz="1200" u="none" cap="none" strike="noStrike">
                <a:solidFill>
                  <a:srgbClr val="FFFFFF"/>
                </a:solidFill>
                <a:latin typeface="Calibri"/>
                <a:ea typeface="Calibri"/>
                <a:cs typeface="Calibri"/>
                <a:sym typeface="Calibri"/>
              </a:rPr>
              <a:t>June 2026  ·  Version 1.0  ·  CONFIDENTIAL</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457200" y="256032"/>
            <a:ext cx="2194560" cy="292608"/>
          </a:xfrm>
          <a:prstGeom prst="roundRect">
            <a:avLst>
              <a:gd fmla="val 18750" name="adj"/>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EXECUTIVE SUMMARY</a:t>
            </a:r>
            <a:endParaRPr b="0" i="0" sz="850" u="none" cap="none" strike="noStrike">
              <a:solidFill>
                <a:schemeClr val="dk1"/>
              </a:solidFill>
              <a:latin typeface="Calibri"/>
              <a:ea typeface="Calibri"/>
              <a:cs typeface="Calibri"/>
              <a:sym typeface="Calibri"/>
            </a:endParaRPr>
          </a:p>
        </p:txBody>
      </p:sp>
      <p:sp>
        <p:nvSpPr>
          <p:cNvPr id="30" name="Google Shape;30;p2"/>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Three Things </a:t>
            </a:r>
            <a:r>
              <a:rPr b="1" lang="en-US" sz="3000">
                <a:solidFill>
                  <a:srgbClr val="1E2A3A"/>
                </a:solidFill>
                <a:latin typeface="Cambria"/>
                <a:ea typeface="Cambria"/>
                <a:cs typeface="Cambria"/>
                <a:sym typeface="Cambria"/>
              </a:rPr>
              <a:t>We</a:t>
            </a:r>
            <a:r>
              <a:rPr b="1" i="0" lang="en-US" sz="3000" u="none" cap="none" strike="noStrike">
                <a:solidFill>
                  <a:srgbClr val="1E2A3A"/>
                </a:solidFill>
                <a:latin typeface="Cambria"/>
                <a:ea typeface="Cambria"/>
                <a:cs typeface="Cambria"/>
                <a:sym typeface="Cambria"/>
              </a:rPr>
              <a:t> Need to Know</a:t>
            </a:r>
            <a:endParaRPr b="0" i="0" sz="3000" u="none" cap="none" strike="noStrike">
              <a:solidFill>
                <a:schemeClr val="dk1"/>
              </a:solidFill>
              <a:latin typeface="Calibri"/>
              <a:ea typeface="Calibri"/>
              <a:cs typeface="Calibri"/>
              <a:sym typeface="Calibri"/>
            </a:endParaRPr>
          </a:p>
        </p:txBody>
      </p:sp>
      <p:sp>
        <p:nvSpPr>
          <p:cNvPr id="31" name="Google Shape;31;p2"/>
          <p:cNvSpPr/>
          <p:nvPr/>
        </p:nvSpPr>
        <p:spPr>
          <a:xfrm>
            <a:off x="457200" y="1554480"/>
            <a:ext cx="3566160" cy="4114800"/>
          </a:xfrm>
          <a:prstGeom prst="roundRect">
            <a:avLst>
              <a:gd fmla="val 3077" name="adj"/>
            </a:avLst>
          </a:prstGeom>
          <a:solidFill>
            <a:srgbClr val="F7F8FD"/>
          </a:solidFill>
          <a:ln>
            <a:noFill/>
          </a:ln>
          <a:effectLst>
            <a:outerShdw blurRad="1016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57200" y="1554480"/>
            <a:ext cx="3566160" cy="640080"/>
          </a:xfrm>
          <a:prstGeom prst="roundRect">
            <a:avLst>
              <a:gd fmla="val 17143"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57200" y="1554480"/>
            <a:ext cx="3566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01</a:t>
            </a:r>
            <a:endParaRPr b="0" i="0" sz="2800" u="none" cap="none" strike="noStrike">
              <a:solidFill>
                <a:schemeClr val="dk1"/>
              </a:solidFill>
              <a:latin typeface="Calibri"/>
              <a:ea typeface="Calibri"/>
              <a:cs typeface="Calibri"/>
              <a:sym typeface="Calibri"/>
            </a:endParaRPr>
          </a:p>
        </p:txBody>
      </p:sp>
      <p:sp>
        <p:nvSpPr>
          <p:cNvPr id="34" name="Google Shape;34;p2"/>
          <p:cNvSpPr/>
          <p:nvPr/>
        </p:nvSpPr>
        <p:spPr>
          <a:xfrm>
            <a:off x="621792" y="2267712"/>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200"/>
              <a:buFont typeface="Calibri"/>
              <a:buNone/>
            </a:pPr>
            <a:r>
              <a:rPr b="1" lang="en-US" sz="1800">
                <a:solidFill>
                  <a:srgbClr val="1E2A3A"/>
                </a:solidFill>
                <a:latin typeface="Calibri"/>
                <a:ea typeface="Calibri"/>
                <a:cs typeface="Calibri"/>
                <a:sym typeface="Calibri"/>
              </a:rPr>
              <a:t>The </a:t>
            </a:r>
            <a:r>
              <a:rPr b="1" lang="en-US" sz="1800">
                <a:solidFill>
                  <a:srgbClr val="1E2A3A"/>
                </a:solidFill>
                <a:latin typeface="Calibri"/>
                <a:ea typeface="Calibri"/>
                <a:cs typeface="Calibri"/>
                <a:sym typeface="Calibri"/>
              </a:rPr>
              <a:t>TalentNow</a:t>
            </a:r>
            <a:r>
              <a:rPr b="1" i="0" lang="en-US" sz="1800" u="none" cap="none" strike="noStrike">
                <a:solidFill>
                  <a:srgbClr val="1E2A3A"/>
                </a:solidFill>
                <a:latin typeface="Calibri"/>
                <a:ea typeface="Calibri"/>
                <a:cs typeface="Calibri"/>
                <a:sym typeface="Calibri"/>
              </a:rPr>
              <a:t> Connect model is architecturally better for WRP</a:t>
            </a:r>
            <a:endParaRPr b="0" i="0" sz="1800" u="none" cap="none" strike="noStrike">
              <a:solidFill>
                <a:schemeClr val="dk1"/>
              </a:solidFill>
              <a:latin typeface="Calibri"/>
              <a:ea typeface="Calibri"/>
              <a:cs typeface="Calibri"/>
              <a:sym typeface="Calibri"/>
            </a:endParaRPr>
          </a:p>
        </p:txBody>
      </p:sp>
      <p:sp>
        <p:nvSpPr>
          <p:cNvPr id="35" name="Google Shape;35;p2"/>
          <p:cNvSpPr/>
          <p:nvPr/>
        </p:nvSpPr>
        <p:spPr>
          <a:xfrm>
            <a:off x="621792" y="3063240"/>
            <a:ext cx="324612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Their $30/shift marketplace model lets centres employ educators directly — making them WRP-eligible. This is structurally cheaper than any traditional agency and Raw Talent currently has no equivalent offer.</a:t>
            </a:r>
            <a:endParaRPr b="0" i="0" sz="1800" u="none" cap="none" strike="noStrike">
              <a:solidFill>
                <a:schemeClr val="dk1"/>
              </a:solidFill>
              <a:latin typeface="Calibri"/>
              <a:ea typeface="Calibri"/>
              <a:cs typeface="Calibri"/>
              <a:sym typeface="Calibri"/>
            </a:endParaRPr>
          </a:p>
        </p:txBody>
      </p:sp>
      <p:sp>
        <p:nvSpPr>
          <p:cNvPr id="36" name="Google Shape;36;p2"/>
          <p:cNvSpPr/>
          <p:nvPr/>
        </p:nvSpPr>
        <p:spPr>
          <a:xfrm>
            <a:off x="4206240" y="1554480"/>
            <a:ext cx="3566160" cy="4114800"/>
          </a:xfrm>
          <a:prstGeom prst="roundRect">
            <a:avLst>
              <a:gd fmla="val 3077" name="adj"/>
            </a:avLst>
          </a:prstGeom>
          <a:solidFill>
            <a:srgbClr val="F7F8FD"/>
          </a:solidFill>
          <a:ln>
            <a:noFill/>
          </a:ln>
          <a:effectLst>
            <a:outerShdw blurRad="1016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206240" y="1554480"/>
            <a:ext cx="3566160" cy="640080"/>
          </a:xfrm>
          <a:prstGeom prst="roundRect">
            <a:avLst>
              <a:gd fmla="val 17143"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206240" y="1554480"/>
            <a:ext cx="3566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02</a:t>
            </a:r>
            <a:endParaRPr b="0" i="0" sz="2800" u="none" cap="none" strike="noStrike">
              <a:solidFill>
                <a:schemeClr val="dk1"/>
              </a:solidFill>
              <a:latin typeface="Calibri"/>
              <a:ea typeface="Calibri"/>
              <a:cs typeface="Calibri"/>
              <a:sym typeface="Calibri"/>
            </a:endParaRPr>
          </a:p>
        </p:txBody>
      </p:sp>
      <p:sp>
        <p:nvSpPr>
          <p:cNvPr id="39" name="Google Shape;39;p2"/>
          <p:cNvSpPr/>
          <p:nvPr/>
        </p:nvSpPr>
        <p:spPr>
          <a:xfrm>
            <a:off x="4370832" y="2267712"/>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200"/>
              <a:buFont typeface="Calibri"/>
              <a:buNone/>
            </a:pPr>
            <a:r>
              <a:rPr b="1" i="0" lang="en-US" sz="1800" u="none" cap="none" strike="noStrike">
                <a:solidFill>
                  <a:srgbClr val="1E2A3A"/>
                </a:solidFill>
                <a:latin typeface="Calibri"/>
                <a:ea typeface="Calibri"/>
                <a:cs typeface="Calibri"/>
                <a:sym typeface="Calibri"/>
              </a:rPr>
              <a:t>Raw Talent's Edge SA win is a time-sensitive supply problem</a:t>
            </a:r>
            <a:endParaRPr b="0" i="0" sz="1800" u="none" cap="none" strike="noStrike">
              <a:solidFill>
                <a:schemeClr val="dk1"/>
              </a:solidFill>
              <a:latin typeface="Calibri"/>
              <a:ea typeface="Calibri"/>
              <a:cs typeface="Calibri"/>
              <a:sym typeface="Calibri"/>
            </a:endParaRPr>
          </a:p>
        </p:txBody>
      </p:sp>
      <p:sp>
        <p:nvSpPr>
          <p:cNvPr id="40" name="Google Shape;40;p2"/>
          <p:cNvSpPr/>
          <p:nvPr/>
        </p:nvSpPr>
        <p:spPr>
          <a:xfrm>
            <a:off x="4370832" y="3063240"/>
            <a:ext cx="324612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Edge confirmed us as priority agency. The risk is not competition — it's supply. We don't have enough active, compliant SA educators to fill the volume Edge will generate. This must be fixed now.</a:t>
            </a:r>
            <a:endParaRPr b="0" i="0" sz="1800" u="none" cap="none" strike="noStrike">
              <a:solidFill>
                <a:schemeClr val="dk1"/>
              </a:solidFill>
              <a:latin typeface="Calibri"/>
              <a:ea typeface="Calibri"/>
              <a:cs typeface="Calibri"/>
              <a:sym typeface="Calibri"/>
            </a:endParaRPr>
          </a:p>
        </p:txBody>
      </p:sp>
      <p:sp>
        <p:nvSpPr>
          <p:cNvPr id="41" name="Google Shape;41;p2"/>
          <p:cNvSpPr/>
          <p:nvPr/>
        </p:nvSpPr>
        <p:spPr>
          <a:xfrm>
            <a:off x="7955280" y="1554480"/>
            <a:ext cx="3566160" cy="4114800"/>
          </a:xfrm>
          <a:prstGeom prst="roundRect">
            <a:avLst>
              <a:gd fmla="val 3077" name="adj"/>
            </a:avLst>
          </a:prstGeom>
          <a:solidFill>
            <a:srgbClr val="F7F8FD"/>
          </a:solidFill>
          <a:ln>
            <a:noFill/>
          </a:ln>
          <a:effectLst>
            <a:outerShdw blurRad="1016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955280" y="1554480"/>
            <a:ext cx="3566160" cy="640080"/>
          </a:xfrm>
          <a:prstGeom prst="roundRect">
            <a:avLst>
              <a:gd fmla="val 17143" name="adj"/>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955280" y="1554480"/>
            <a:ext cx="35661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03</a:t>
            </a:r>
            <a:endParaRPr b="0" i="0" sz="2800" u="none" cap="none" strike="noStrike">
              <a:solidFill>
                <a:schemeClr val="dk1"/>
              </a:solidFill>
              <a:latin typeface="Calibri"/>
              <a:ea typeface="Calibri"/>
              <a:cs typeface="Calibri"/>
              <a:sym typeface="Calibri"/>
            </a:endParaRPr>
          </a:p>
        </p:txBody>
      </p:sp>
      <p:sp>
        <p:nvSpPr>
          <p:cNvPr id="44" name="Google Shape;44;p2"/>
          <p:cNvSpPr/>
          <p:nvPr/>
        </p:nvSpPr>
        <p:spPr>
          <a:xfrm>
            <a:off x="8119872" y="2267712"/>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200"/>
              <a:buFont typeface="Calibri"/>
              <a:buNone/>
            </a:pPr>
            <a:r>
              <a:rPr b="1" i="0" lang="en-US" sz="1800" u="none" cap="none" strike="noStrike">
                <a:solidFill>
                  <a:srgbClr val="1E2A3A"/>
                </a:solidFill>
                <a:latin typeface="Calibri"/>
                <a:ea typeface="Calibri"/>
                <a:cs typeface="Calibri"/>
                <a:sym typeface="Calibri"/>
              </a:rPr>
              <a:t>Raw Talent's human advantage is defensible — but only if we act</a:t>
            </a:r>
            <a:endParaRPr b="0" i="0" sz="1800" u="none" cap="none" strike="noStrike">
              <a:solidFill>
                <a:schemeClr val="dk1"/>
              </a:solidFill>
              <a:latin typeface="Calibri"/>
              <a:ea typeface="Calibri"/>
              <a:cs typeface="Calibri"/>
              <a:sym typeface="Calibri"/>
            </a:endParaRPr>
          </a:p>
        </p:txBody>
      </p:sp>
      <p:sp>
        <p:nvSpPr>
          <p:cNvPr id="45" name="Google Shape;45;p2"/>
          <p:cNvSpPr/>
          <p:nvPr/>
        </p:nvSpPr>
        <p:spPr>
          <a:xfrm>
            <a:off x="8119872" y="3063240"/>
            <a:ext cx="324612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lang="en-US" sz="1800">
                <a:solidFill>
                  <a:srgbClr val="334155"/>
                </a:solidFill>
                <a:latin typeface="Calibri"/>
                <a:ea typeface="Calibri"/>
                <a:cs typeface="Calibri"/>
                <a:sym typeface="Calibri"/>
              </a:rPr>
              <a:t>C</a:t>
            </a:r>
            <a:r>
              <a:rPr b="0" i="0" lang="en-US" sz="1800" u="none" cap="none" strike="noStrike">
                <a:solidFill>
                  <a:srgbClr val="334155"/>
                </a:solidFill>
                <a:latin typeface="Calibri"/>
                <a:ea typeface="Calibri"/>
                <a:cs typeface="Calibri"/>
                <a:sym typeface="Calibri"/>
              </a:rPr>
              <a:t>entre visits, personal relationships, and SA-specific compliance knowledge are things TalentNow cannot replicate from NSW. But TalentNow is 8 years ahead in technology. We must close the operational gaps urgently.</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TalentNow.com.au | ACECQA | ACA Worker Retention Payment | Raw Talent internal data | Joy Victoria analysis, June 2026</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3"/>
          <p:cNvSpPr/>
          <p:nvPr/>
        </p:nvSpPr>
        <p:spPr>
          <a:xfrm>
            <a:off x="457200" y="256032"/>
            <a:ext cx="2194560" cy="292608"/>
          </a:xfrm>
          <a:prstGeom prst="roundRect">
            <a:avLst>
              <a:gd fmla="val 18750" name="adj"/>
            </a:avLst>
          </a:prstGeom>
          <a:solidFill>
            <a:srgbClr val="E14B4B"/>
          </a:solidFill>
          <a:ln cap="flat" cmpd="sng" w="12700">
            <a:solidFill>
              <a:srgbClr val="E14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COMPETITOR PROFILE</a:t>
            </a:r>
            <a:endParaRPr b="0" i="0" sz="850" u="none" cap="none" strike="noStrike">
              <a:solidFill>
                <a:schemeClr val="dk1"/>
              </a:solidFill>
              <a:latin typeface="Calibri"/>
              <a:ea typeface="Calibri"/>
              <a:cs typeface="Calibri"/>
              <a:sym typeface="Calibri"/>
            </a:endParaRPr>
          </a:p>
        </p:txBody>
      </p:sp>
      <p:sp>
        <p:nvSpPr>
          <p:cNvPr id="54" name="Google Shape;54;p3"/>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Who Is TalentNow?</a:t>
            </a:r>
            <a:endParaRPr b="0" i="0" sz="3000" u="none" cap="none" strike="noStrike">
              <a:solidFill>
                <a:schemeClr val="dk1"/>
              </a:solidFill>
              <a:latin typeface="Calibri"/>
              <a:ea typeface="Calibri"/>
              <a:cs typeface="Calibri"/>
              <a:sym typeface="Calibri"/>
            </a:endParaRPr>
          </a:p>
        </p:txBody>
      </p:sp>
      <p:sp>
        <p:nvSpPr>
          <p:cNvPr id="55" name="Google Shape;55;p3"/>
          <p:cNvSpPr/>
          <p:nvPr/>
        </p:nvSpPr>
        <p:spPr>
          <a:xfrm>
            <a:off x="457200" y="15087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6" name="Google Shape;56;p3"/>
          <p:cNvSpPr/>
          <p:nvPr/>
        </p:nvSpPr>
        <p:spPr>
          <a:xfrm>
            <a:off x="457200" y="15087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Founded</a:t>
            </a:r>
            <a:endParaRPr b="0" i="0" sz="1800" u="none" cap="none" strike="noStrike">
              <a:solidFill>
                <a:schemeClr val="dk1"/>
              </a:solidFill>
              <a:latin typeface="Calibri"/>
              <a:ea typeface="Calibri"/>
              <a:cs typeface="Calibri"/>
              <a:sym typeface="Calibri"/>
            </a:endParaRPr>
          </a:p>
        </p:txBody>
      </p:sp>
      <p:sp>
        <p:nvSpPr>
          <p:cNvPr id="57" name="Google Shape;57;p3"/>
          <p:cNvSpPr/>
          <p:nvPr/>
        </p:nvSpPr>
        <p:spPr>
          <a:xfrm>
            <a:off x="2121408" y="15087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 name="Google Shape;58;p3"/>
          <p:cNvSpPr/>
          <p:nvPr/>
        </p:nvSpPr>
        <p:spPr>
          <a:xfrm>
            <a:off x="2194560" y="15087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2018 by Liddy Korner, Mosman NSW</a:t>
            </a:r>
            <a:endParaRPr b="0" i="0" sz="1800" u="none" cap="none" strike="noStrike">
              <a:solidFill>
                <a:schemeClr val="dk1"/>
              </a:solidFill>
              <a:latin typeface="Calibri"/>
              <a:ea typeface="Calibri"/>
              <a:cs typeface="Calibri"/>
              <a:sym typeface="Calibri"/>
            </a:endParaRPr>
          </a:p>
        </p:txBody>
      </p:sp>
      <p:sp>
        <p:nvSpPr>
          <p:cNvPr id="59" name="Google Shape;59;p3"/>
          <p:cNvSpPr/>
          <p:nvPr/>
        </p:nvSpPr>
        <p:spPr>
          <a:xfrm>
            <a:off x="457200" y="21945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 name="Google Shape;60;p3"/>
          <p:cNvSpPr/>
          <p:nvPr/>
        </p:nvSpPr>
        <p:spPr>
          <a:xfrm>
            <a:off x="457200" y="21945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Reach</a:t>
            </a:r>
            <a:endParaRPr b="0" i="0" sz="1800" u="none" cap="none" strike="noStrike">
              <a:solidFill>
                <a:schemeClr val="dk1"/>
              </a:solidFill>
              <a:latin typeface="Calibri"/>
              <a:ea typeface="Calibri"/>
              <a:cs typeface="Calibri"/>
              <a:sym typeface="Calibri"/>
            </a:endParaRPr>
          </a:p>
        </p:txBody>
      </p:sp>
      <p:sp>
        <p:nvSpPr>
          <p:cNvPr id="61" name="Google Shape;61;p3"/>
          <p:cNvSpPr/>
          <p:nvPr/>
        </p:nvSpPr>
        <p:spPr>
          <a:xfrm>
            <a:off x="2121408" y="21945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 name="Google Shape;62;p3"/>
          <p:cNvSpPr/>
          <p:nvPr/>
        </p:nvSpPr>
        <p:spPr>
          <a:xfrm>
            <a:off x="2194560" y="21945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National — all states and territories</a:t>
            </a:r>
            <a:endParaRPr b="0" i="0" sz="1800" u="none" cap="none" strike="noStrike">
              <a:solidFill>
                <a:schemeClr val="dk1"/>
              </a:solidFill>
              <a:latin typeface="Calibri"/>
              <a:ea typeface="Calibri"/>
              <a:cs typeface="Calibri"/>
              <a:sym typeface="Calibri"/>
            </a:endParaRPr>
          </a:p>
        </p:txBody>
      </p:sp>
      <p:sp>
        <p:nvSpPr>
          <p:cNvPr id="63" name="Google Shape;63;p3"/>
          <p:cNvSpPr/>
          <p:nvPr/>
        </p:nvSpPr>
        <p:spPr>
          <a:xfrm>
            <a:off x="457200" y="28803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4" name="Google Shape;64;p3"/>
          <p:cNvSpPr/>
          <p:nvPr/>
        </p:nvSpPr>
        <p:spPr>
          <a:xfrm>
            <a:off x="457200" y="28803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Self-described</a:t>
            </a:r>
            <a:endParaRPr b="0" i="0" sz="1800" u="none" cap="none" strike="noStrike">
              <a:solidFill>
                <a:schemeClr val="dk1"/>
              </a:solidFill>
              <a:latin typeface="Calibri"/>
              <a:ea typeface="Calibri"/>
              <a:cs typeface="Calibri"/>
              <a:sym typeface="Calibri"/>
            </a:endParaRPr>
          </a:p>
        </p:txBody>
      </p:sp>
      <p:sp>
        <p:nvSpPr>
          <p:cNvPr id="65" name="Google Shape;65;p3"/>
          <p:cNvSpPr/>
          <p:nvPr/>
        </p:nvSpPr>
        <p:spPr>
          <a:xfrm>
            <a:off x="2121408" y="28803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6" name="Google Shape;66;p3"/>
          <p:cNvSpPr/>
          <p:nvPr/>
        </p:nvSpPr>
        <p:spPr>
          <a:xfrm>
            <a:off x="2194560" y="28803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"Uber of childcare" — first app-based ECEC staffing in Australia</a:t>
            </a:r>
            <a:endParaRPr b="0" i="0" sz="1800" u="none" cap="none" strike="noStrike">
              <a:solidFill>
                <a:schemeClr val="dk1"/>
              </a:solidFill>
              <a:latin typeface="Calibri"/>
              <a:ea typeface="Calibri"/>
              <a:cs typeface="Calibri"/>
              <a:sym typeface="Calibri"/>
            </a:endParaRPr>
          </a:p>
        </p:txBody>
      </p:sp>
      <p:sp>
        <p:nvSpPr>
          <p:cNvPr id="67" name="Google Shape;67;p3"/>
          <p:cNvSpPr/>
          <p:nvPr/>
        </p:nvSpPr>
        <p:spPr>
          <a:xfrm>
            <a:off x="457200" y="35661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8" name="Google Shape;68;p3"/>
          <p:cNvSpPr/>
          <p:nvPr/>
        </p:nvSpPr>
        <p:spPr>
          <a:xfrm>
            <a:off x="457200" y="35661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Ownership</a:t>
            </a:r>
            <a:endParaRPr b="0" i="0" sz="1800" u="none" cap="none" strike="noStrike">
              <a:solidFill>
                <a:schemeClr val="dk1"/>
              </a:solidFill>
              <a:latin typeface="Calibri"/>
              <a:ea typeface="Calibri"/>
              <a:cs typeface="Calibri"/>
              <a:sym typeface="Calibri"/>
            </a:endParaRPr>
          </a:p>
        </p:txBody>
      </p:sp>
      <p:sp>
        <p:nvSpPr>
          <p:cNvPr id="69" name="Google Shape;69;p3"/>
          <p:cNvSpPr/>
          <p:nvPr/>
        </p:nvSpPr>
        <p:spPr>
          <a:xfrm>
            <a:off x="2121408" y="35661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0" name="Google Shape;70;p3"/>
          <p:cNvSpPr/>
          <p:nvPr/>
        </p:nvSpPr>
        <p:spPr>
          <a:xfrm>
            <a:off x="2194560" y="35661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Independent — not owned by any childcare provider</a:t>
            </a:r>
            <a:endParaRPr b="0" i="0" sz="1800" u="none" cap="none" strike="noStrike">
              <a:solidFill>
                <a:schemeClr val="dk1"/>
              </a:solidFill>
              <a:latin typeface="Calibri"/>
              <a:ea typeface="Calibri"/>
              <a:cs typeface="Calibri"/>
              <a:sym typeface="Calibri"/>
            </a:endParaRPr>
          </a:p>
        </p:txBody>
      </p:sp>
      <p:sp>
        <p:nvSpPr>
          <p:cNvPr id="71" name="Google Shape;71;p3"/>
          <p:cNvSpPr/>
          <p:nvPr/>
        </p:nvSpPr>
        <p:spPr>
          <a:xfrm>
            <a:off x="457200" y="42519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2" name="Google Shape;72;p3"/>
          <p:cNvSpPr/>
          <p:nvPr/>
        </p:nvSpPr>
        <p:spPr>
          <a:xfrm>
            <a:off x="457200" y="42519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App</a:t>
            </a:r>
            <a:endParaRPr b="0" i="0" sz="1800" u="none" cap="none" strike="noStrike">
              <a:solidFill>
                <a:schemeClr val="dk1"/>
              </a:solidFill>
              <a:latin typeface="Calibri"/>
              <a:ea typeface="Calibri"/>
              <a:cs typeface="Calibri"/>
              <a:sym typeface="Calibri"/>
            </a:endParaRPr>
          </a:p>
        </p:txBody>
      </p:sp>
      <p:sp>
        <p:nvSpPr>
          <p:cNvPr id="73" name="Google Shape;73;p3"/>
          <p:cNvSpPr/>
          <p:nvPr/>
        </p:nvSpPr>
        <p:spPr>
          <a:xfrm>
            <a:off x="2121408" y="42519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4" name="Google Shape;74;p3"/>
          <p:cNvSpPr/>
          <p:nvPr/>
        </p:nvSpPr>
        <p:spPr>
          <a:xfrm>
            <a:off x="2194560" y="42519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Free iOS + Android — educators sign up in minutes</a:t>
            </a:r>
            <a:endParaRPr b="0" i="0" sz="1800" u="none" cap="none" strike="noStrike">
              <a:solidFill>
                <a:schemeClr val="dk1"/>
              </a:solidFill>
              <a:latin typeface="Calibri"/>
              <a:ea typeface="Calibri"/>
              <a:cs typeface="Calibri"/>
              <a:sym typeface="Calibri"/>
            </a:endParaRPr>
          </a:p>
        </p:txBody>
      </p:sp>
      <p:sp>
        <p:nvSpPr>
          <p:cNvPr id="75" name="Google Shape;75;p3"/>
          <p:cNvSpPr/>
          <p:nvPr/>
        </p:nvSpPr>
        <p:spPr>
          <a:xfrm>
            <a:off x="457200" y="4937760"/>
            <a:ext cx="1645920" cy="566928"/>
          </a:xfrm>
          <a:prstGeom prst="rect">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 name="Google Shape;76;p3"/>
          <p:cNvSpPr/>
          <p:nvPr/>
        </p:nvSpPr>
        <p:spPr>
          <a:xfrm>
            <a:off x="457200" y="4937760"/>
            <a:ext cx="16459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Contact</a:t>
            </a:r>
            <a:endParaRPr b="0" i="0" sz="1800" u="none" cap="none" strike="noStrike">
              <a:solidFill>
                <a:schemeClr val="dk1"/>
              </a:solidFill>
              <a:latin typeface="Calibri"/>
              <a:ea typeface="Calibri"/>
              <a:cs typeface="Calibri"/>
              <a:sym typeface="Calibri"/>
            </a:endParaRPr>
          </a:p>
        </p:txBody>
      </p:sp>
      <p:sp>
        <p:nvSpPr>
          <p:cNvPr id="77" name="Google Shape;77;p3"/>
          <p:cNvSpPr/>
          <p:nvPr/>
        </p:nvSpPr>
        <p:spPr>
          <a:xfrm>
            <a:off x="2121408" y="4937760"/>
            <a:ext cx="4846320" cy="566928"/>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8" name="Google Shape;78;p3"/>
          <p:cNvSpPr/>
          <p:nvPr/>
        </p:nvSpPr>
        <p:spPr>
          <a:xfrm>
            <a:off x="2194560" y="4937760"/>
            <a:ext cx="4709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800" u="none" cap="none" strike="noStrike">
                <a:solidFill>
                  <a:srgbClr val="334155"/>
                </a:solidFill>
                <a:latin typeface="Calibri"/>
                <a:ea typeface="Calibri"/>
                <a:cs typeface="Calibri"/>
                <a:sym typeface="Calibri"/>
              </a:rPr>
              <a:t>1800 840 889  ·  info@talentnow.com.au</a:t>
            </a:r>
            <a:endParaRPr b="0" i="0" sz="1800" u="none" cap="none" strike="noStrike">
              <a:solidFill>
                <a:schemeClr val="dk1"/>
              </a:solidFill>
              <a:latin typeface="Calibri"/>
              <a:ea typeface="Calibri"/>
              <a:cs typeface="Calibri"/>
              <a:sym typeface="Calibri"/>
            </a:endParaRPr>
          </a:p>
        </p:txBody>
      </p:sp>
      <p:sp>
        <p:nvSpPr>
          <p:cNvPr id="79" name="Google Shape;79;p3"/>
          <p:cNvSpPr/>
          <p:nvPr/>
        </p:nvSpPr>
        <p:spPr>
          <a:xfrm>
            <a:off x="7589520" y="1463040"/>
            <a:ext cx="4114800" cy="1097280"/>
          </a:xfrm>
          <a:prstGeom prst="roundRect">
            <a:avLst>
              <a:gd fmla="val 8333" name="adj"/>
            </a:avLst>
          </a:prstGeom>
          <a:solidFill>
            <a:srgbClr val="1E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0" name="Google Shape;80;p3"/>
          <p:cNvSpPr/>
          <p:nvPr/>
        </p:nvSpPr>
        <p:spPr>
          <a:xfrm>
            <a:off x="7589520" y="1508760"/>
            <a:ext cx="4114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8</a:t>
            </a:r>
            <a:endParaRPr b="0" i="0" sz="3200" u="none" cap="none" strike="noStrike">
              <a:solidFill>
                <a:schemeClr val="dk1"/>
              </a:solidFill>
              <a:latin typeface="Calibri"/>
              <a:ea typeface="Calibri"/>
              <a:cs typeface="Calibri"/>
              <a:sym typeface="Calibri"/>
            </a:endParaRPr>
          </a:p>
        </p:txBody>
      </p:sp>
      <p:sp>
        <p:nvSpPr>
          <p:cNvPr id="81" name="Google Shape;81;p3"/>
          <p:cNvSpPr/>
          <p:nvPr/>
        </p:nvSpPr>
        <p:spPr>
          <a:xfrm>
            <a:off x="7589520" y="2029968"/>
            <a:ext cx="41148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BCFF"/>
              </a:buClr>
              <a:buSzPts val="1000"/>
              <a:buFont typeface="Calibri"/>
              <a:buNone/>
            </a:pPr>
            <a:r>
              <a:rPr b="0" i="0" lang="en-US" sz="1800" u="none" cap="none" strike="noStrike">
                <a:solidFill>
                  <a:srgbClr val="AABCFF"/>
                </a:solidFill>
                <a:latin typeface="Calibri"/>
                <a:ea typeface="Calibri"/>
                <a:cs typeface="Calibri"/>
                <a:sym typeface="Calibri"/>
              </a:rPr>
              <a:t>Years operating (2018–2026)</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7589520" y="2697480"/>
            <a:ext cx="4114800" cy="1097280"/>
          </a:xfrm>
          <a:prstGeom prst="roundRect">
            <a:avLst>
              <a:gd fmla="val 8333"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3" name="Google Shape;83;p3"/>
          <p:cNvSpPr/>
          <p:nvPr/>
        </p:nvSpPr>
        <p:spPr>
          <a:xfrm>
            <a:off x="7589520" y="2743200"/>
            <a:ext cx="4114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2</a:t>
            </a:r>
            <a:endParaRPr b="0" i="0" sz="3200" u="none" cap="none" strike="noStrike">
              <a:solidFill>
                <a:schemeClr val="dk1"/>
              </a:solidFill>
              <a:latin typeface="Calibri"/>
              <a:ea typeface="Calibri"/>
              <a:cs typeface="Calibri"/>
              <a:sym typeface="Calibri"/>
            </a:endParaRPr>
          </a:p>
        </p:txBody>
      </p:sp>
      <p:sp>
        <p:nvSpPr>
          <p:cNvPr id="84" name="Google Shape;84;p3"/>
          <p:cNvSpPr/>
          <p:nvPr/>
        </p:nvSpPr>
        <p:spPr>
          <a:xfrm>
            <a:off x="7589520" y="3264408"/>
            <a:ext cx="41148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BCFF"/>
              </a:buClr>
              <a:buSzPts val="1000"/>
              <a:buFont typeface="Calibri"/>
              <a:buNone/>
            </a:pPr>
            <a:r>
              <a:rPr b="0" i="0" lang="en-US" sz="1800" u="none" cap="none" strike="noStrike">
                <a:solidFill>
                  <a:srgbClr val="AABCFF"/>
                </a:solidFill>
                <a:latin typeface="Calibri"/>
                <a:ea typeface="Calibri"/>
                <a:cs typeface="Calibri"/>
                <a:sym typeface="Calibri"/>
              </a:rPr>
              <a:t>Distinct products (Connect + Casual Hire)</a:t>
            </a:r>
            <a:endParaRPr b="0" i="0" sz="1800" u="none" cap="none" strike="noStrike">
              <a:solidFill>
                <a:schemeClr val="dk1"/>
              </a:solidFill>
              <a:latin typeface="Calibri"/>
              <a:ea typeface="Calibri"/>
              <a:cs typeface="Calibri"/>
              <a:sym typeface="Calibri"/>
            </a:endParaRPr>
          </a:p>
        </p:txBody>
      </p:sp>
      <p:sp>
        <p:nvSpPr>
          <p:cNvPr id="85" name="Google Shape;85;p3"/>
          <p:cNvSpPr/>
          <p:nvPr/>
        </p:nvSpPr>
        <p:spPr>
          <a:xfrm>
            <a:off x="7589520" y="3931920"/>
            <a:ext cx="4114800" cy="1097280"/>
          </a:xfrm>
          <a:prstGeom prst="roundRect">
            <a:avLst>
              <a:gd fmla="val 8333" name="adj"/>
            </a:avLst>
          </a:prstGeom>
          <a:solidFill>
            <a:srgbClr val="1E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6" name="Google Shape;86;p3"/>
          <p:cNvSpPr/>
          <p:nvPr/>
        </p:nvSpPr>
        <p:spPr>
          <a:xfrm>
            <a:off x="7589520" y="3977640"/>
            <a:ext cx="4114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$30</a:t>
            </a:r>
            <a:endParaRPr b="0" i="0" sz="3200" u="none" cap="none" strike="noStrike">
              <a:solidFill>
                <a:schemeClr val="dk1"/>
              </a:solidFill>
              <a:latin typeface="Calibri"/>
              <a:ea typeface="Calibri"/>
              <a:cs typeface="Calibri"/>
              <a:sym typeface="Calibri"/>
            </a:endParaRPr>
          </a:p>
        </p:txBody>
      </p:sp>
      <p:sp>
        <p:nvSpPr>
          <p:cNvPr id="87" name="Google Shape;87;p3"/>
          <p:cNvSpPr/>
          <p:nvPr/>
        </p:nvSpPr>
        <p:spPr>
          <a:xfrm>
            <a:off x="7589520" y="4498848"/>
            <a:ext cx="41148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BCFF"/>
              </a:buClr>
              <a:buSzPts val="1000"/>
              <a:buFont typeface="Calibri"/>
              <a:buNone/>
            </a:pPr>
            <a:r>
              <a:rPr b="0" i="0" lang="en-US" sz="1800" u="none" cap="none" strike="noStrike">
                <a:solidFill>
                  <a:srgbClr val="AABCFF"/>
                </a:solidFill>
                <a:latin typeface="Calibri"/>
                <a:ea typeface="Calibri"/>
                <a:cs typeface="Calibri"/>
                <a:sym typeface="Calibri"/>
              </a:rPr>
              <a:t>Flat booking fee per shift (Connect model)</a:t>
            </a:r>
            <a:endParaRPr b="0" i="0" sz="1800" u="none" cap="none" strike="noStrike">
              <a:solidFill>
                <a:schemeClr val="dk1"/>
              </a:solidFill>
              <a:latin typeface="Calibri"/>
              <a:ea typeface="Calibri"/>
              <a:cs typeface="Calibri"/>
              <a:sym typeface="Calibri"/>
            </a:endParaRPr>
          </a:p>
        </p:txBody>
      </p:sp>
      <p:sp>
        <p:nvSpPr>
          <p:cNvPr id="88" name="Google Shape;88;p3"/>
          <p:cNvSpPr/>
          <p:nvPr/>
        </p:nvSpPr>
        <p:spPr>
          <a:xfrm>
            <a:off x="7589520" y="5166360"/>
            <a:ext cx="4114800" cy="1097280"/>
          </a:xfrm>
          <a:prstGeom prst="roundRect">
            <a:avLst>
              <a:gd fmla="val 8333"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89" name="Google Shape;89;p3"/>
          <p:cNvSpPr/>
          <p:nvPr/>
        </p:nvSpPr>
        <p:spPr>
          <a:xfrm>
            <a:off x="7589520" y="5212080"/>
            <a:ext cx="4114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National</a:t>
            </a:r>
            <a:endParaRPr b="0" i="0" sz="3200" u="none" cap="none" strike="noStrike">
              <a:solidFill>
                <a:schemeClr val="dk1"/>
              </a:solidFill>
              <a:latin typeface="Calibri"/>
              <a:ea typeface="Calibri"/>
              <a:cs typeface="Calibri"/>
              <a:sym typeface="Calibri"/>
            </a:endParaRPr>
          </a:p>
        </p:txBody>
      </p:sp>
      <p:sp>
        <p:nvSpPr>
          <p:cNvPr id="90" name="Google Shape;90;p3"/>
          <p:cNvSpPr/>
          <p:nvPr/>
        </p:nvSpPr>
        <p:spPr>
          <a:xfrm>
            <a:off x="7589520" y="5733288"/>
            <a:ext cx="41148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BCFF"/>
              </a:buClr>
              <a:buSzPts val="1000"/>
              <a:buFont typeface="Calibri"/>
              <a:buNone/>
            </a:pPr>
            <a:r>
              <a:rPr b="0" i="0" lang="en-US" sz="1800" u="none" cap="none" strike="noStrike">
                <a:solidFill>
                  <a:srgbClr val="AABCFF"/>
                </a:solidFill>
                <a:latin typeface="Calibri"/>
                <a:ea typeface="Calibri"/>
                <a:cs typeface="Calibri"/>
                <a:sym typeface="Calibri"/>
              </a:rPr>
              <a:t>Educator pool across all AU states</a:t>
            </a:r>
            <a:endParaRPr b="0" i="0" sz="1800" u="none" cap="none" strike="noStrike">
              <a:solidFill>
                <a:schemeClr val="dk1"/>
              </a:solidFill>
              <a:latin typeface="Calibri"/>
              <a:ea typeface="Calibri"/>
              <a:cs typeface="Calibri"/>
              <a:sym typeface="Calibri"/>
            </a:endParaRPr>
          </a:p>
        </p:txBody>
      </p:sp>
      <p:sp>
        <p:nvSpPr>
          <p:cNvPr id="91" name="Google Shape;91;p3"/>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 TalentNow.com.au | TheSector.com.au (Feb 2025) — 'Talent Now utilises Employment Hero integration to better serve ECEC services'</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4"/>
          <p:cNvSpPr/>
          <p:nvPr/>
        </p:nvSpPr>
        <p:spPr>
          <a:xfrm>
            <a:off x="457200" y="256032"/>
            <a:ext cx="2194560" cy="292608"/>
          </a:xfrm>
          <a:prstGeom prst="roundRect">
            <a:avLst>
              <a:gd fmla="val 18750" name="adj"/>
            </a:avLst>
          </a:prstGeom>
          <a:solidFill>
            <a:srgbClr val="3A6FF8"/>
          </a:solidFill>
          <a:ln cap="flat" cmpd="sng" w="12700">
            <a:solidFill>
              <a:srgbClr val="3A6F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BUSINESS MODEL</a:t>
            </a:r>
            <a:endParaRPr b="0" i="0" sz="850" u="none" cap="none" strike="noStrike">
              <a:solidFill>
                <a:schemeClr val="dk1"/>
              </a:solidFill>
              <a:latin typeface="Calibri"/>
              <a:ea typeface="Calibri"/>
              <a:cs typeface="Calibri"/>
              <a:sym typeface="Calibri"/>
            </a:endParaRPr>
          </a:p>
        </p:txBody>
      </p:sp>
      <p:sp>
        <p:nvSpPr>
          <p:cNvPr id="99" name="Google Shape;99;p4"/>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TalentNow Has Two Models — We Only Have One</a:t>
            </a:r>
            <a:endParaRPr b="0" i="0" sz="3000" u="none" cap="none" strike="noStrike">
              <a:solidFill>
                <a:schemeClr val="dk1"/>
              </a:solidFill>
              <a:latin typeface="Calibri"/>
              <a:ea typeface="Calibri"/>
              <a:cs typeface="Calibri"/>
              <a:sym typeface="Calibri"/>
            </a:endParaRPr>
          </a:p>
        </p:txBody>
      </p:sp>
      <p:sp>
        <p:nvSpPr>
          <p:cNvPr id="100" name="Google Shape;100;p4"/>
          <p:cNvSpPr/>
          <p:nvPr/>
        </p:nvSpPr>
        <p:spPr>
          <a:xfrm>
            <a:off x="4114846" y="1371600"/>
            <a:ext cx="2606100" cy="457200"/>
          </a:xfrm>
          <a:prstGeom prst="roundRect">
            <a:avLst>
              <a:gd fmla="val 16000"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01" name="Google Shape;101;p4"/>
          <p:cNvSpPr/>
          <p:nvPr/>
        </p:nvSpPr>
        <p:spPr>
          <a:xfrm>
            <a:off x="4114846" y="137160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800" u="none" cap="none" strike="noStrike">
                <a:solidFill>
                  <a:srgbClr val="FFFFFF"/>
                </a:solidFill>
                <a:latin typeface="Calibri"/>
                <a:ea typeface="Calibri"/>
                <a:cs typeface="Calibri"/>
                <a:sym typeface="Calibri"/>
              </a:rPr>
              <a:t>TalentNow CONNECT</a:t>
            </a:r>
            <a:endParaRPr b="0" i="0" sz="1800" u="none" cap="none" strike="noStrike">
              <a:solidFill>
                <a:schemeClr val="dk1"/>
              </a:solidFill>
              <a:latin typeface="Calibri"/>
              <a:ea typeface="Calibri"/>
              <a:cs typeface="Calibri"/>
              <a:sym typeface="Calibri"/>
            </a:endParaRPr>
          </a:p>
        </p:txBody>
      </p:sp>
      <p:sp>
        <p:nvSpPr>
          <p:cNvPr id="102" name="Google Shape;102;p4"/>
          <p:cNvSpPr/>
          <p:nvPr/>
        </p:nvSpPr>
        <p:spPr>
          <a:xfrm>
            <a:off x="6766527" y="1371600"/>
            <a:ext cx="2606100" cy="457200"/>
          </a:xfrm>
          <a:prstGeom prst="roundRect">
            <a:avLst>
              <a:gd fmla="val 16000"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03" name="Google Shape;103;p4"/>
          <p:cNvSpPr/>
          <p:nvPr/>
        </p:nvSpPr>
        <p:spPr>
          <a:xfrm>
            <a:off x="6766527" y="137160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800" u="none" cap="none" strike="noStrike">
                <a:solidFill>
                  <a:srgbClr val="FFFFFF"/>
                </a:solidFill>
                <a:latin typeface="Calibri"/>
                <a:ea typeface="Calibri"/>
                <a:cs typeface="Calibri"/>
                <a:sym typeface="Calibri"/>
              </a:rPr>
              <a:t>TalentNow CASUAL HIRE</a:t>
            </a:r>
            <a:endParaRPr b="0" i="0" sz="1800" u="none" cap="none" strike="noStrike">
              <a:solidFill>
                <a:schemeClr val="dk1"/>
              </a:solidFill>
              <a:latin typeface="Calibri"/>
              <a:ea typeface="Calibri"/>
              <a:cs typeface="Calibri"/>
              <a:sym typeface="Calibri"/>
            </a:endParaRPr>
          </a:p>
        </p:txBody>
      </p:sp>
      <p:sp>
        <p:nvSpPr>
          <p:cNvPr id="104" name="Google Shape;104;p4"/>
          <p:cNvSpPr/>
          <p:nvPr/>
        </p:nvSpPr>
        <p:spPr>
          <a:xfrm>
            <a:off x="9418325" y="1371600"/>
            <a:ext cx="2606100" cy="457200"/>
          </a:xfrm>
          <a:prstGeom prst="roundRect">
            <a:avLst>
              <a:gd fmla="val 16000" name="adj"/>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05" name="Google Shape;105;p4"/>
          <p:cNvSpPr/>
          <p:nvPr/>
        </p:nvSpPr>
        <p:spPr>
          <a:xfrm>
            <a:off x="9418325" y="1371600"/>
            <a:ext cx="2606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800" u="none" cap="none" strike="noStrike">
                <a:solidFill>
                  <a:srgbClr val="FFFFFF"/>
                </a:solidFill>
                <a:latin typeface="Calibri"/>
                <a:ea typeface="Calibri"/>
                <a:cs typeface="Calibri"/>
                <a:sym typeface="Calibri"/>
              </a:rPr>
              <a:t>Raw Talent (Current)</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365760" y="1920240"/>
            <a:ext cx="3566160" cy="786384"/>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07" name="Google Shape;107;p4"/>
          <p:cNvSpPr/>
          <p:nvPr/>
        </p:nvSpPr>
        <p:spPr>
          <a:xfrm>
            <a:off x="457200" y="1920240"/>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000"/>
              <a:buFont typeface="Calibri"/>
              <a:buNone/>
            </a:pPr>
            <a:r>
              <a:rPr b="1" i="0" lang="en-US" sz="1800" u="none" cap="none" strike="noStrike">
                <a:solidFill>
                  <a:srgbClr val="1E2A3A"/>
                </a:solidFill>
                <a:latin typeface="Calibri"/>
                <a:ea typeface="Calibri"/>
                <a:cs typeface="Calibri"/>
                <a:sym typeface="Calibri"/>
              </a:rPr>
              <a:t>Who employs educator</a:t>
            </a:r>
            <a:endParaRPr b="0" i="0" sz="1800" u="none" cap="none" strike="noStrike">
              <a:solidFill>
                <a:schemeClr val="dk1"/>
              </a:solidFill>
              <a:latin typeface="Calibri"/>
              <a:ea typeface="Calibri"/>
              <a:cs typeface="Calibri"/>
              <a:sym typeface="Calibri"/>
            </a:endParaRPr>
          </a:p>
        </p:txBody>
      </p:sp>
      <p:sp>
        <p:nvSpPr>
          <p:cNvPr id="108" name="Google Shape;108;p4"/>
          <p:cNvSpPr/>
          <p:nvPr/>
        </p:nvSpPr>
        <p:spPr>
          <a:xfrm>
            <a:off x="4114800" y="1920240"/>
            <a:ext cx="2606040" cy="786384"/>
          </a:xfrm>
          <a:prstGeom prst="rect">
            <a:avLst/>
          </a:prstGeom>
          <a:solidFill>
            <a:srgbClr val="FFF8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09" name="Google Shape;109;p4"/>
          <p:cNvSpPr/>
          <p:nvPr/>
        </p:nvSpPr>
        <p:spPr>
          <a:xfrm>
            <a:off x="4206240" y="1920240"/>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Childcare </a:t>
            </a:r>
            <a:r>
              <a:rPr lang="en-US" sz="1800">
                <a:solidFill>
                  <a:srgbClr val="334155"/>
                </a:solidFill>
                <a:latin typeface="Calibri"/>
                <a:ea typeface="Calibri"/>
                <a:cs typeface="Calibri"/>
                <a:sym typeface="Calibri"/>
              </a:rPr>
              <a:t>Centre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300" u="none" cap="none" strike="noStrike">
                <a:solidFill>
                  <a:srgbClr val="334155"/>
                </a:solidFill>
                <a:latin typeface="Calibri"/>
                <a:ea typeface="Calibri"/>
                <a:cs typeface="Calibri"/>
                <a:sym typeface="Calibri"/>
              </a:rPr>
              <a:t>(educator is their casual employee)</a:t>
            </a:r>
            <a:endParaRPr b="0" i="0" sz="1300" u="none" cap="none" strike="noStrike">
              <a:solidFill>
                <a:schemeClr val="dk1"/>
              </a:solidFill>
              <a:latin typeface="Calibri"/>
              <a:ea typeface="Calibri"/>
              <a:cs typeface="Calibri"/>
              <a:sym typeface="Calibri"/>
            </a:endParaRPr>
          </a:p>
        </p:txBody>
      </p:sp>
      <p:sp>
        <p:nvSpPr>
          <p:cNvPr id="110" name="Google Shape;110;p4"/>
          <p:cNvSpPr/>
          <p:nvPr/>
        </p:nvSpPr>
        <p:spPr>
          <a:xfrm>
            <a:off x="6766560" y="1920240"/>
            <a:ext cx="2606040" cy="786384"/>
          </a:xfrm>
          <a:prstGeom prst="rect">
            <a:avLst/>
          </a:prstGeom>
          <a:solidFill>
            <a:srgbClr val="F5F9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1" name="Google Shape;111;p4"/>
          <p:cNvSpPr/>
          <p:nvPr/>
        </p:nvSpPr>
        <p:spPr>
          <a:xfrm>
            <a:off x="6858000" y="1920240"/>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TalentNow</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(agency model)</a:t>
            </a:r>
            <a:endParaRPr b="0" i="0" sz="1800" u="none" cap="none" strike="noStrike">
              <a:solidFill>
                <a:schemeClr val="dk1"/>
              </a:solidFill>
              <a:latin typeface="Calibri"/>
              <a:ea typeface="Calibri"/>
              <a:cs typeface="Calibri"/>
              <a:sym typeface="Calibri"/>
            </a:endParaRPr>
          </a:p>
        </p:txBody>
      </p:sp>
      <p:sp>
        <p:nvSpPr>
          <p:cNvPr id="112" name="Google Shape;112;p4"/>
          <p:cNvSpPr/>
          <p:nvPr/>
        </p:nvSpPr>
        <p:spPr>
          <a:xfrm>
            <a:off x="9418320" y="1920240"/>
            <a:ext cx="2606040" cy="786384"/>
          </a:xfrm>
          <a:prstGeom prst="rect">
            <a:avLst/>
          </a:prstGeom>
          <a:solidFill>
            <a:srgbClr val="F5FF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3" name="Google Shape;113;p4"/>
          <p:cNvSpPr/>
          <p:nvPr/>
        </p:nvSpPr>
        <p:spPr>
          <a:xfrm>
            <a:off x="9509760" y="1920240"/>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Raw Talent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(agency model)</a:t>
            </a:r>
            <a:endParaRPr b="0" i="0" sz="1800" u="none" cap="none" strike="noStrike">
              <a:solidFill>
                <a:schemeClr val="dk1"/>
              </a:solidFill>
              <a:latin typeface="Calibri"/>
              <a:ea typeface="Calibri"/>
              <a:cs typeface="Calibri"/>
              <a:sym typeface="Calibri"/>
            </a:endParaRPr>
          </a:p>
        </p:txBody>
      </p:sp>
      <p:sp>
        <p:nvSpPr>
          <p:cNvPr id="114" name="Google Shape;114;p4"/>
          <p:cNvSpPr/>
          <p:nvPr/>
        </p:nvSpPr>
        <p:spPr>
          <a:xfrm>
            <a:off x="365760" y="2761488"/>
            <a:ext cx="3566160" cy="786384"/>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5" name="Google Shape;115;p4"/>
          <p:cNvSpPr/>
          <p:nvPr/>
        </p:nvSpPr>
        <p:spPr>
          <a:xfrm>
            <a:off x="457200" y="2761488"/>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000"/>
              <a:buFont typeface="Calibri"/>
              <a:buNone/>
            </a:pPr>
            <a:r>
              <a:rPr b="1" i="0" lang="en-US" sz="1800" u="none" cap="none" strike="noStrike">
                <a:solidFill>
                  <a:srgbClr val="1E2A3A"/>
                </a:solidFill>
                <a:latin typeface="Calibri"/>
                <a:ea typeface="Calibri"/>
                <a:cs typeface="Calibri"/>
                <a:sym typeface="Calibri"/>
              </a:rPr>
              <a:t>Cost to centre</a:t>
            </a:r>
            <a:endParaRPr b="0" i="0" sz="1800" u="none" cap="none" strike="noStrike">
              <a:solidFill>
                <a:schemeClr val="dk1"/>
              </a:solidFill>
              <a:latin typeface="Calibri"/>
              <a:ea typeface="Calibri"/>
              <a:cs typeface="Calibri"/>
              <a:sym typeface="Calibri"/>
            </a:endParaRPr>
          </a:p>
        </p:txBody>
      </p:sp>
      <p:sp>
        <p:nvSpPr>
          <p:cNvPr id="116" name="Google Shape;116;p4"/>
          <p:cNvSpPr/>
          <p:nvPr/>
        </p:nvSpPr>
        <p:spPr>
          <a:xfrm>
            <a:off x="4114800" y="2761488"/>
            <a:ext cx="2606040" cy="786384"/>
          </a:xfrm>
          <a:prstGeom prst="rect">
            <a:avLst/>
          </a:prstGeom>
          <a:solidFill>
            <a:srgbClr val="FFF5F5"/>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7" name="Google Shape;117;p4"/>
          <p:cNvSpPr/>
          <p:nvPr/>
        </p:nvSpPr>
        <p:spPr>
          <a:xfrm>
            <a:off x="4206240" y="2761488"/>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$30 flat fee per shift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300" u="none" cap="none" strike="noStrike">
                <a:solidFill>
                  <a:srgbClr val="334155"/>
                </a:solidFill>
                <a:latin typeface="Calibri"/>
                <a:ea typeface="Calibri"/>
                <a:cs typeface="Calibri"/>
                <a:sym typeface="Calibri"/>
              </a:rPr>
              <a:t>(any qualification, any duration)</a:t>
            </a:r>
            <a:endParaRPr b="0" i="0" sz="1300" u="none" cap="none" strike="noStrike">
              <a:solidFill>
                <a:schemeClr val="dk1"/>
              </a:solidFill>
              <a:latin typeface="Calibri"/>
              <a:ea typeface="Calibri"/>
              <a:cs typeface="Calibri"/>
              <a:sym typeface="Calibri"/>
            </a:endParaRPr>
          </a:p>
        </p:txBody>
      </p:sp>
      <p:sp>
        <p:nvSpPr>
          <p:cNvPr id="118" name="Google Shape;118;p4"/>
          <p:cNvSpPr/>
          <p:nvPr/>
        </p:nvSpPr>
        <p:spPr>
          <a:xfrm>
            <a:off x="6766560" y="2761488"/>
            <a:ext cx="2606040" cy="786384"/>
          </a:xfrm>
          <a:prstGeom prst="rect">
            <a:avLst/>
          </a:prstGeom>
          <a:solidFill>
            <a:srgbClr val="F0F7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19" name="Google Shape;119;p4"/>
          <p:cNvSpPr/>
          <p:nvPr/>
        </p:nvSpPr>
        <p:spPr>
          <a:xfrm>
            <a:off x="6858000" y="2761488"/>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Agency charge rate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(educator pay + margin)</a:t>
            </a:r>
            <a:endParaRPr b="0" i="0" sz="1800" u="none" cap="none" strike="noStrike">
              <a:solidFill>
                <a:schemeClr val="dk1"/>
              </a:solidFill>
              <a:latin typeface="Calibri"/>
              <a:ea typeface="Calibri"/>
              <a:cs typeface="Calibri"/>
              <a:sym typeface="Calibri"/>
            </a:endParaRPr>
          </a:p>
        </p:txBody>
      </p:sp>
      <p:sp>
        <p:nvSpPr>
          <p:cNvPr id="120" name="Google Shape;120;p4"/>
          <p:cNvSpPr/>
          <p:nvPr/>
        </p:nvSpPr>
        <p:spPr>
          <a:xfrm>
            <a:off x="9418320" y="2761488"/>
            <a:ext cx="2606040" cy="786384"/>
          </a:xfrm>
          <a:prstGeom prst="rect">
            <a:avLst/>
          </a:prstGeom>
          <a:solidFill>
            <a:srgbClr val="F0FFF4"/>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1" name="Google Shape;121;p4"/>
          <p:cNvSpPr/>
          <p:nvPr/>
        </p:nvSpPr>
        <p:spPr>
          <a:xfrm>
            <a:off x="9509760" y="2761488"/>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Agency charge rate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(educator pay + margin)</a:t>
            </a:r>
            <a:endParaRPr b="0" i="0" sz="1800" u="none" cap="none" strike="noStrike">
              <a:solidFill>
                <a:schemeClr val="dk1"/>
              </a:solidFill>
              <a:latin typeface="Calibri"/>
              <a:ea typeface="Calibri"/>
              <a:cs typeface="Calibri"/>
              <a:sym typeface="Calibri"/>
            </a:endParaRPr>
          </a:p>
        </p:txBody>
      </p:sp>
      <p:sp>
        <p:nvSpPr>
          <p:cNvPr id="122" name="Google Shape;122;p4"/>
          <p:cNvSpPr/>
          <p:nvPr/>
        </p:nvSpPr>
        <p:spPr>
          <a:xfrm>
            <a:off x="365760" y="3602736"/>
            <a:ext cx="3566160" cy="786384"/>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3" name="Google Shape;123;p4"/>
          <p:cNvSpPr/>
          <p:nvPr/>
        </p:nvSpPr>
        <p:spPr>
          <a:xfrm>
            <a:off x="457200" y="3602736"/>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000"/>
              <a:buFont typeface="Calibri"/>
              <a:buNone/>
            </a:pPr>
            <a:r>
              <a:rPr b="1" i="0" lang="en-US" sz="1800" u="none" cap="none" strike="noStrike">
                <a:solidFill>
                  <a:srgbClr val="1E2A3A"/>
                </a:solidFill>
                <a:latin typeface="Calibri"/>
                <a:ea typeface="Calibri"/>
                <a:cs typeface="Calibri"/>
                <a:sym typeface="Calibri"/>
              </a:rPr>
              <a:t>WRP eligible?</a:t>
            </a:r>
            <a:endParaRPr b="0" i="0" sz="1800" u="none" cap="none" strike="noStrike">
              <a:solidFill>
                <a:schemeClr val="dk1"/>
              </a:solidFill>
              <a:latin typeface="Calibri"/>
              <a:ea typeface="Calibri"/>
              <a:cs typeface="Calibri"/>
              <a:sym typeface="Calibri"/>
            </a:endParaRPr>
          </a:p>
        </p:txBody>
      </p:sp>
      <p:sp>
        <p:nvSpPr>
          <p:cNvPr id="124" name="Google Shape;124;p4"/>
          <p:cNvSpPr/>
          <p:nvPr/>
        </p:nvSpPr>
        <p:spPr>
          <a:xfrm>
            <a:off x="4114800" y="3602736"/>
            <a:ext cx="2606040" cy="786384"/>
          </a:xfrm>
          <a:prstGeom prst="rect">
            <a:avLst/>
          </a:prstGeom>
          <a:solidFill>
            <a:srgbClr val="FFF8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5" name="Google Shape;125;p4"/>
          <p:cNvSpPr/>
          <p:nvPr/>
        </p:nvSpPr>
        <p:spPr>
          <a:xfrm>
            <a:off x="4206240" y="3602736"/>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YES — centre accesses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government WRP grant directly</a:t>
            </a:r>
            <a:endParaRPr b="0" i="0" sz="1800" u="none" cap="none" strike="noStrike">
              <a:solidFill>
                <a:schemeClr val="dk1"/>
              </a:solidFill>
              <a:latin typeface="Calibri"/>
              <a:ea typeface="Calibri"/>
              <a:cs typeface="Calibri"/>
              <a:sym typeface="Calibri"/>
            </a:endParaRPr>
          </a:p>
        </p:txBody>
      </p:sp>
      <p:sp>
        <p:nvSpPr>
          <p:cNvPr id="126" name="Google Shape;126;p4"/>
          <p:cNvSpPr/>
          <p:nvPr/>
        </p:nvSpPr>
        <p:spPr>
          <a:xfrm>
            <a:off x="6766560" y="3602736"/>
            <a:ext cx="2606040" cy="786384"/>
          </a:xfrm>
          <a:prstGeom prst="rect">
            <a:avLst/>
          </a:prstGeom>
          <a:solidFill>
            <a:srgbClr val="F5F9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7" name="Google Shape;127;p4"/>
          <p:cNvSpPr/>
          <p:nvPr/>
        </p:nvSpPr>
        <p:spPr>
          <a:xfrm>
            <a:off x="6858000" y="3602736"/>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Complex — agency</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must enroll separately</a:t>
            </a:r>
            <a:endParaRPr b="0" i="0" sz="1800" u="none" cap="none" strike="noStrike">
              <a:solidFill>
                <a:schemeClr val="dk1"/>
              </a:solidFill>
              <a:latin typeface="Calibri"/>
              <a:ea typeface="Calibri"/>
              <a:cs typeface="Calibri"/>
              <a:sym typeface="Calibri"/>
            </a:endParaRPr>
          </a:p>
        </p:txBody>
      </p:sp>
      <p:sp>
        <p:nvSpPr>
          <p:cNvPr id="128" name="Google Shape;128;p4"/>
          <p:cNvSpPr/>
          <p:nvPr/>
        </p:nvSpPr>
        <p:spPr>
          <a:xfrm>
            <a:off x="9418320" y="3602736"/>
            <a:ext cx="2606040" cy="786384"/>
          </a:xfrm>
          <a:prstGeom prst="rect">
            <a:avLst/>
          </a:prstGeom>
          <a:solidFill>
            <a:srgbClr val="F5FF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9" name="Google Shape;129;p4"/>
          <p:cNvSpPr/>
          <p:nvPr/>
        </p:nvSpPr>
        <p:spPr>
          <a:xfrm>
            <a:off x="9509760" y="3602736"/>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Via WRP toggle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for enrolled centres</a:t>
            </a:r>
            <a:endParaRPr b="0" i="0" sz="1800" u="none" cap="none" strike="noStrike">
              <a:solidFill>
                <a:schemeClr val="dk1"/>
              </a:solidFill>
              <a:latin typeface="Calibri"/>
              <a:ea typeface="Calibri"/>
              <a:cs typeface="Calibri"/>
              <a:sym typeface="Calibri"/>
            </a:endParaRPr>
          </a:p>
        </p:txBody>
      </p:sp>
      <p:sp>
        <p:nvSpPr>
          <p:cNvPr id="130" name="Google Shape;130;p4"/>
          <p:cNvSpPr/>
          <p:nvPr/>
        </p:nvSpPr>
        <p:spPr>
          <a:xfrm>
            <a:off x="365760" y="4443984"/>
            <a:ext cx="3566160" cy="786384"/>
          </a:xfrm>
          <a:prstGeom prst="rect">
            <a:avLst/>
          </a:prstGeom>
          <a:solidFill>
            <a:srgbClr val="F7F8FD"/>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1" name="Google Shape;131;p4"/>
          <p:cNvSpPr/>
          <p:nvPr/>
        </p:nvSpPr>
        <p:spPr>
          <a:xfrm>
            <a:off x="457200" y="4443984"/>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000"/>
              <a:buFont typeface="Calibri"/>
              <a:buNone/>
            </a:pPr>
            <a:r>
              <a:rPr b="1" i="0" lang="en-US" sz="1800" u="none" cap="none" strike="noStrike">
                <a:solidFill>
                  <a:srgbClr val="1E2A3A"/>
                </a:solidFill>
                <a:latin typeface="Calibri"/>
                <a:ea typeface="Calibri"/>
                <a:cs typeface="Calibri"/>
                <a:sym typeface="Calibri"/>
              </a:rPr>
              <a:t>Payroll managed by</a:t>
            </a:r>
            <a:endParaRPr b="0" i="0" sz="1800" u="none" cap="none" strike="noStrike">
              <a:solidFill>
                <a:schemeClr val="dk1"/>
              </a:solidFill>
              <a:latin typeface="Calibri"/>
              <a:ea typeface="Calibri"/>
              <a:cs typeface="Calibri"/>
              <a:sym typeface="Calibri"/>
            </a:endParaRPr>
          </a:p>
        </p:txBody>
      </p:sp>
      <p:sp>
        <p:nvSpPr>
          <p:cNvPr id="132" name="Google Shape;132;p4"/>
          <p:cNvSpPr/>
          <p:nvPr/>
        </p:nvSpPr>
        <p:spPr>
          <a:xfrm>
            <a:off x="4114800" y="4443984"/>
            <a:ext cx="2606040" cy="786384"/>
          </a:xfrm>
          <a:prstGeom prst="rect">
            <a:avLst/>
          </a:prstGeom>
          <a:solidFill>
            <a:srgbClr val="FFF8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3" name="Google Shape;133;p4"/>
          <p:cNvSpPr/>
          <p:nvPr/>
        </p:nvSpPr>
        <p:spPr>
          <a:xfrm>
            <a:off x="4206240" y="4443984"/>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Centre </a:t>
            </a:r>
            <a:br>
              <a:rPr b="0" i="0" lang="en-US" sz="1800" u="none" cap="none" strike="noStrike">
                <a:solidFill>
                  <a:srgbClr val="334155"/>
                </a:solidFill>
                <a:latin typeface="Calibri"/>
                <a:ea typeface="Calibri"/>
                <a:cs typeface="Calibri"/>
                <a:sym typeface="Calibri"/>
              </a:rPr>
            </a:br>
            <a:r>
              <a:rPr b="0" i="0" lang="en-US" sz="1300" u="none" cap="none" strike="noStrike">
                <a:solidFill>
                  <a:srgbClr val="334155"/>
                </a:solidFill>
                <a:latin typeface="Calibri"/>
                <a:ea typeface="Calibri"/>
                <a:cs typeface="Calibri"/>
                <a:sym typeface="Calibri"/>
              </a:rPr>
              <a:t>(Employment Hero</a:t>
            </a:r>
            <a:r>
              <a:rPr lang="en-US" sz="1300">
                <a:solidFill>
                  <a:schemeClr val="dk1"/>
                </a:solidFill>
                <a:latin typeface="Calibri"/>
                <a:ea typeface="Calibri"/>
                <a:cs typeface="Calibri"/>
                <a:sym typeface="Calibri"/>
              </a:rPr>
              <a:t> </a:t>
            </a:r>
            <a:r>
              <a:rPr b="0" i="0" lang="en-US" sz="1300" u="none" cap="none" strike="noStrike">
                <a:solidFill>
                  <a:srgbClr val="334155"/>
                </a:solidFill>
                <a:latin typeface="Calibri"/>
                <a:ea typeface="Calibri"/>
                <a:cs typeface="Calibri"/>
                <a:sym typeface="Calibri"/>
              </a:rPr>
              <a:t>automates setup)</a:t>
            </a:r>
            <a:endParaRPr b="0" i="0" sz="1300" u="none" cap="none" strike="noStrike">
              <a:solidFill>
                <a:schemeClr val="dk1"/>
              </a:solidFill>
              <a:latin typeface="Calibri"/>
              <a:ea typeface="Calibri"/>
              <a:cs typeface="Calibri"/>
              <a:sym typeface="Calibri"/>
            </a:endParaRPr>
          </a:p>
        </p:txBody>
      </p:sp>
      <p:sp>
        <p:nvSpPr>
          <p:cNvPr id="134" name="Google Shape;134;p4"/>
          <p:cNvSpPr/>
          <p:nvPr/>
        </p:nvSpPr>
        <p:spPr>
          <a:xfrm>
            <a:off x="6766560" y="4443984"/>
            <a:ext cx="2606040" cy="786384"/>
          </a:xfrm>
          <a:prstGeom prst="rect">
            <a:avLst/>
          </a:prstGeom>
          <a:solidFill>
            <a:srgbClr val="F5F9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5" name="Google Shape;135;p4"/>
          <p:cNvSpPr/>
          <p:nvPr/>
        </p:nvSpPr>
        <p:spPr>
          <a:xfrm>
            <a:off x="6858000" y="4443984"/>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TalentNow</a:t>
            </a:r>
            <a:endParaRPr b="0" i="0" sz="1800" u="none" cap="none" strike="noStrike">
              <a:solidFill>
                <a:schemeClr val="dk1"/>
              </a:solidFill>
              <a:latin typeface="Calibri"/>
              <a:ea typeface="Calibri"/>
              <a:cs typeface="Calibri"/>
              <a:sym typeface="Calibri"/>
            </a:endParaRPr>
          </a:p>
        </p:txBody>
      </p:sp>
      <p:sp>
        <p:nvSpPr>
          <p:cNvPr id="136" name="Google Shape;136;p4"/>
          <p:cNvSpPr/>
          <p:nvPr/>
        </p:nvSpPr>
        <p:spPr>
          <a:xfrm>
            <a:off x="9418320" y="4443984"/>
            <a:ext cx="2606040" cy="786384"/>
          </a:xfrm>
          <a:prstGeom prst="rect">
            <a:avLst/>
          </a:prstGeom>
          <a:solidFill>
            <a:srgbClr val="F5FF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7" name="Google Shape;137;p4"/>
          <p:cNvSpPr/>
          <p:nvPr/>
        </p:nvSpPr>
        <p:spPr>
          <a:xfrm>
            <a:off x="9509760" y="4443984"/>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Raw Talent</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365760" y="5285232"/>
            <a:ext cx="3566160" cy="786384"/>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39" name="Google Shape;139;p4"/>
          <p:cNvSpPr/>
          <p:nvPr/>
        </p:nvSpPr>
        <p:spPr>
          <a:xfrm>
            <a:off x="457200" y="5285232"/>
            <a:ext cx="338328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000"/>
              <a:buFont typeface="Calibri"/>
              <a:buNone/>
            </a:pPr>
            <a:r>
              <a:rPr b="1" i="0" lang="en-US" sz="1800" u="none" cap="none" strike="noStrike">
                <a:solidFill>
                  <a:srgbClr val="1E2A3A"/>
                </a:solidFill>
                <a:latin typeface="Calibri"/>
                <a:ea typeface="Calibri"/>
                <a:cs typeface="Calibri"/>
                <a:sym typeface="Calibri"/>
              </a:rPr>
              <a:t>Admin for centre</a:t>
            </a:r>
            <a:endParaRPr b="0" i="0" sz="1800" u="none" cap="none" strike="noStrike">
              <a:solidFill>
                <a:schemeClr val="dk1"/>
              </a:solidFill>
              <a:latin typeface="Calibri"/>
              <a:ea typeface="Calibri"/>
              <a:cs typeface="Calibri"/>
              <a:sym typeface="Calibri"/>
            </a:endParaRPr>
          </a:p>
        </p:txBody>
      </p:sp>
      <p:sp>
        <p:nvSpPr>
          <p:cNvPr id="140" name="Google Shape;140;p4"/>
          <p:cNvSpPr/>
          <p:nvPr/>
        </p:nvSpPr>
        <p:spPr>
          <a:xfrm>
            <a:off x="4114800" y="5285232"/>
            <a:ext cx="2606040" cy="786384"/>
          </a:xfrm>
          <a:prstGeom prst="rect">
            <a:avLst/>
          </a:prstGeom>
          <a:solidFill>
            <a:srgbClr val="FFF8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1" name="Google Shape;141;p4"/>
          <p:cNvSpPr/>
          <p:nvPr/>
        </p:nvSpPr>
        <p:spPr>
          <a:xfrm>
            <a:off x="4206240" y="5285232"/>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Low — Employment Hero</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integration handles setup</a:t>
            </a:r>
            <a:endParaRPr b="0" i="0" sz="1800" u="none" cap="none" strike="noStrike">
              <a:solidFill>
                <a:schemeClr val="dk1"/>
              </a:solidFill>
              <a:latin typeface="Calibri"/>
              <a:ea typeface="Calibri"/>
              <a:cs typeface="Calibri"/>
              <a:sym typeface="Calibri"/>
            </a:endParaRPr>
          </a:p>
        </p:txBody>
      </p:sp>
      <p:sp>
        <p:nvSpPr>
          <p:cNvPr id="142" name="Google Shape;142;p4"/>
          <p:cNvSpPr/>
          <p:nvPr/>
        </p:nvSpPr>
        <p:spPr>
          <a:xfrm>
            <a:off x="6766560" y="5285232"/>
            <a:ext cx="2606040" cy="786384"/>
          </a:xfrm>
          <a:prstGeom prst="rect">
            <a:avLst/>
          </a:prstGeom>
          <a:solidFill>
            <a:srgbClr val="F5F9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3" name="Google Shape;143;p4"/>
          <p:cNvSpPr/>
          <p:nvPr/>
        </p:nvSpPr>
        <p:spPr>
          <a:xfrm>
            <a:off x="6858000" y="5285232"/>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Very Low — TN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handles everything</a:t>
            </a:r>
            <a:endParaRPr b="0" i="0" sz="1800" u="none" cap="none" strike="noStrike">
              <a:solidFill>
                <a:schemeClr val="dk1"/>
              </a:solidFill>
              <a:latin typeface="Calibri"/>
              <a:ea typeface="Calibri"/>
              <a:cs typeface="Calibri"/>
              <a:sym typeface="Calibri"/>
            </a:endParaRPr>
          </a:p>
        </p:txBody>
      </p:sp>
      <p:sp>
        <p:nvSpPr>
          <p:cNvPr id="144" name="Google Shape;144;p4"/>
          <p:cNvSpPr/>
          <p:nvPr/>
        </p:nvSpPr>
        <p:spPr>
          <a:xfrm>
            <a:off x="9418320" y="5285232"/>
            <a:ext cx="2606040" cy="786384"/>
          </a:xfrm>
          <a:prstGeom prst="rect">
            <a:avLst/>
          </a:prstGeom>
          <a:solidFill>
            <a:srgbClr val="F5FF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45" name="Google Shape;145;p4"/>
          <p:cNvSpPr/>
          <p:nvPr/>
        </p:nvSpPr>
        <p:spPr>
          <a:xfrm>
            <a:off x="9509760" y="5285232"/>
            <a:ext cx="242316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Very Low — RT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Calibri"/>
              <a:buNone/>
            </a:pPr>
            <a:r>
              <a:rPr b="0" i="0" lang="en-US" sz="1800" u="none" cap="none" strike="noStrike">
                <a:solidFill>
                  <a:srgbClr val="334155"/>
                </a:solidFill>
                <a:latin typeface="Calibri"/>
                <a:ea typeface="Calibri"/>
                <a:cs typeface="Calibri"/>
                <a:sym typeface="Calibri"/>
              </a:rPr>
              <a:t>handles everything</a:t>
            </a:r>
            <a:endParaRPr b="0" i="0" sz="1800" u="none" cap="none" strike="noStrike">
              <a:solidFill>
                <a:schemeClr val="dk1"/>
              </a:solidFill>
              <a:latin typeface="Calibri"/>
              <a:ea typeface="Calibri"/>
              <a:cs typeface="Calibri"/>
              <a:sym typeface="Calibri"/>
            </a:endParaRPr>
          </a:p>
        </p:txBody>
      </p:sp>
      <p:sp>
        <p:nvSpPr>
          <p:cNvPr id="146" name="Google Shape;146;p4"/>
          <p:cNvSpPr/>
          <p:nvPr/>
        </p:nvSpPr>
        <p:spPr>
          <a:xfrm>
            <a:off x="4114800" y="6080760"/>
            <a:ext cx="2606040" cy="347472"/>
          </a:xfrm>
          <a:prstGeom prst="roundRect">
            <a:avLst>
              <a:gd fmla="val 15789"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4114800" y="6080760"/>
            <a:ext cx="2606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 Biggest competitive threat</a:t>
            </a:r>
            <a:endParaRPr b="0" i="0" sz="900" u="none" cap="none" strike="noStrike">
              <a:solidFill>
                <a:schemeClr val="dk1"/>
              </a:solidFill>
              <a:latin typeface="Calibri"/>
              <a:ea typeface="Calibri"/>
              <a:cs typeface="Calibri"/>
              <a:sym typeface="Calibri"/>
            </a:endParaRPr>
          </a:p>
        </p:txBody>
      </p:sp>
      <p:sp>
        <p:nvSpPr>
          <p:cNvPr id="148" name="Google Shape;148;p4"/>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 TalentNow.com.au/early-childhood-centres | TheSector.com.au (Feb 2025) | ACA Worker Retention Payment FAQ | Joy Victoria analysis, June 2026</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53" name="Shape 153"/>
        <p:cNvGrpSpPr/>
        <p:nvPr/>
      </p:nvGrpSpPr>
      <p:grpSpPr>
        <a:xfrm>
          <a:off x="0" y="0"/>
          <a:ext cx="0" cy="0"/>
          <a:chOff x="0" y="0"/>
          <a:chExt cx="0" cy="0"/>
        </a:xfrm>
      </p:grpSpPr>
      <p:sp>
        <p:nvSpPr>
          <p:cNvPr id="154" name="Google Shape;154;p5"/>
          <p:cNvSpPr/>
          <p:nvPr/>
        </p:nvSpPr>
        <p:spPr>
          <a:xfrm>
            <a:off x="457200" y="256032"/>
            <a:ext cx="2194560" cy="292608"/>
          </a:xfrm>
          <a:prstGeom prst="roundRect">
            <a:avLst>
              <a:gd fmla="val 18750" name="adj"/>
            </a:avLst>
          </a:prstGeom>
          <a:solidFill>
            <a:srgbClr val="F2A93B"/>
          </a:solid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PAY RATE ANALYSIS</a:t>
            </a:r>
            <a:endParaRPr b="0" i="0" sz="850" u="none" cap="none" strike="noStrike">
              <a:solidFill>
                <a:schemeClr val="dk1"/>
              </a:solidFill>
              <a:latin typeface="Calibri"/>
              <a:ea typeface="Calibri"/>
              <a:cs typeface="Calibri"/>
              <a:sym typeface="Calibri"/>
            </a:endParaRPr>
          </a:p>
        </p:txBody>
      </p:sp>
      <p:sp>
        <p:nvSpPr>
          <p:cNvPr id="156" name="Google Shape;156;p5"/>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The SA Pay Gap — Why Educators Are Choosing Competitors</a:t>
            </a:r>
            <a:endParaRPr b="0" i="0" sz="3000" u="none" cap="none" strike="noStrike">
              <a:solidFill>
                <a:schemeClr val="dk1"/>
              </a:solidFill>
              <a:latin typeface="Calibri"/>
              <a:ea typeface="Calibri"/>
              <a:cs typeface="Calibri"/>
              <a:sym typeface="Calibri"/>
            </a:endParaRPr>
          </a:p>
        </p:txBody>
      </p:sp>
      <p:graphicFrame>
        <p:nvGraphicFramePr>
          <p:cNvPr id="157" name="Google Shape;157;p5"/>
          <p:cNvGraphicFramePr/>
          <p:nvPr/>
        </p:nvGraphicFramePr>
        <p:xfrm>
          <a:off x="457200" y="1371600"/>
          <a:ext cx="6858000" cy="4206240"/>
        </p:xfrm>
        <a:graphic>
          <a:graphicData uri="http://schemas.openxmlformats.org/drawingml/2006/chart">
            <c:chart r:id="rId3"/>
          </a:graphicData>
        </a:graphic>
      </p:graphicFrame>
      <p:sp>
        <p:nvSpPr>
          <p:cNvPr id="158" name="Google Shape;158;p5"/>
          <p:cNvSpPr/>
          <p:nvPr/>
        </p:nvSpPr>
        <p:spPr>
          <a:xfrm>
            <a:off x="7589520" y="1371600"/>
            <a:ext cx="4206240" cy="960120"/>
          </a:xfrm>
          <a:prstGeom prst="roundRect">
            <a:avLst>
              <a:gd fmla="val 7619" name="adj"/>
            </a:avLst>
          </a:prstGeom>
          <a:solidFill>
            <a:srgbClr val="F7F8FD"/>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7772400" y="141732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1" i="0" lang="en-US" sz="900" u="none" cap="none" strike="noStrike">
                <a:solidFill>
                  <a:srgbClr val="64748B"/>
                </a:solidFill>
                <a:latin typeface="Calibri"/>
                <a:ea typeface="Calibri"/>
                <a:cs typeface="Calibri"/>
                <a:sym typeface="Calibri"/>
              </a:rPr>
              <a:t>Current Pay Gap</a:t>
            </a:r>
            <a:endParaRPr b="0" i="0" sz="900" u="none" cap="none" strike="noStrike">
              <a:solidFill>
                <a:schemeClr val="dk1"/>
              </a:solidFill>
              <a:latin typeface="Calibri"/>
              <a:ea typeface="Calibri"/>
              <a:cs typeface="Calibri"/>
              <a:sym typeface="Calibri"/>
            </a:endParaRPr>
          </a:p>
        </p:txBody>
      </p:sp>
      <p:sp>
        <p:nvSpPr>
          <p:cNvPr id="160" name="Google Shape;160;p5"/>
          <p:cNvSpPr/>
          <p:nvPr/>
        </p:nvSpPr>
        <p:spPr>
          <a:xfrm>
            <a:off x="7772400" y="162763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600"/>
              <a:buFont typeface="Cambria"/>
              <a:buNone/>
            </a:pPr>
            <a:r>
              <a:rPr b="1" i="0" lang="en-US" sz="2600" u="none" cap="none" strike="noStrike">
                <a:solidFill>
                  <a:srgbClr val="E14B4B"/>
                </a:solidFill>
                <a:latin typeface="Cambria"/>
                <a:ea typeface="Cambria"/>
                <a:cs typeface="Cambria"/>
                <a:sym typeface="Cambria"/>
              </a:rPr>
              <a:t>$4–5/hr</a:t>
            </a:r>
            <a:endParaRPr b="0" i="0" sz="2600" u="none" cap="none" strike="noStrike">
              <a:solidFill>
                <a:schemeClr val="dk1"/>
              </a:solidFill>
              <a:latin typeface="Calibri"/>
              <a:ea typeface="Calibri"/>
              <a:cs typeface="Calibri"/>
              <a:sym typeface="Calibri"/>
            </a:endParaRPr>
          </a:p>
        </p:txBody>
      </p:sp>
      <p:sp>
        <p:nvSpPr>
          <p:cNvPr id="161" name="Google Shape;161;p5"/>
          <p:cNvSpPr/>
          <p:nvPr/>
        </p:nvSpPr>
        <p:spPr>
          <a:xfrm>
            <a:off x="7772400" y="199339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RT vs Entrée in SA</a:t>
            </a:r>
            <a:endParaRPr b="0" i="0" sz="900" u="none" cap="none" strike="noStrike">
              <a:solidFill>
                <a:schemeClr val="dk1"/>
              </a:solidFill>
              <a:latin typeface="Calibri"/>
              <a:ea typeface="Calibri"/>
              <a:cs typeface="Calibri"/>
              <a:sym typeface="Calibri"/>
            </a:endParaRPr>
          </a:p>
        </p:txBody>
      </p:sp>
      <p:sp>
        <p:nvSpPr>
          <p:cNvPr id="162" name="Google Shape;162;p5"/>
          <p:cNvSpPr/>
          <p:nvPr/>
        </p:nvSpPr>
        <p:spPr>
          <a:xfrm>
            <a:off x="7589520" y="2423160"/>
            <a:ext cx="4206240" cy="960120"/>
          </a:xfrm>
          <a:prstGeom prst="roundRect">
            <a:avLst>
              <a:gd fmla="val 7619" name="adj"/>
            </a:avLst>
          </a:prstGeom>
          <a:solidFill>
            <a:srgbClr val="F7F8FD"/>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7772400" y="246888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1" i="0" lang="en-US" sz="900" u="none" cap="none" strike="noStrike">
                <a:solidFill>
                  <a:srgbClr val="64748B"/>
                </a:solidFill>
                <a:latin typeface="Calibri"/>
                <a:ea typeface="Calibri"/>
                <a:cs typeface="Calibri"/>
                <a:sym typeface="Calibri"/>
              </a:rPr>
              <a:t>WRP Uplift</a:t>
            </a:r>
            <a:endParaRPr b="0" i="0" sz="900" u="none" cap="none" strike="noStrike">
              <a:solidFill>
                <a:schemeClr val="dk1"/>
              </a:solidFill>
              <a:latin typeface="Calibri"/>
              <a:ea typeface="Calibri"/>
              <a:cs typeface="Calibri"/>
              <a:sym typeface="Calibri"/>
            </a:endParaRPr>
          </a:p>
        </p:txBody>
      </p:sp>
      <p:sp>
        <p:nvSpPr>
          <p:cNvPr id="164" name="Google Shape;164;p5"/>
          <p:cNvSpPr/>
          <p:nvPr/>
        </p:nvSpPr>
        <p:spPr>
          <a:xfrm>
            <a:off x="7772400" y="267919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2600"/>
              <a:buFont typeface="Cambria"/>
              <a:buNone/>
            </a:pPr>
            <a:r>
              <a:rPr b="1" i="0" lang="en-US" sz="2600" u="none" cap="none" strike="noStrike">
                <a:solidFill>
                  <a:srgbClr val="F2A93B"/>
                </a:solidFill>
                <a:latin typeface="Cambria"/>
                <a:ea typeface="Cambria"/>
                <a:cs typeface="Cambria"/>
                <a:sym typeface="Cambria"/>
              </a:rPr>
              <a:t>+10%</a:t>
            </a:r>
            <a:endParaRPr b="0" i="0" sz="2600" u="none" cap="none" strike="noStrike">
              <a:solidFill>
                <a:schemeClr val="dk1"/>
              </a:solidFill>
              <a:latin typeface="Calibri"/>
              <a:ea typeface="Calibri"/>
              <a:cs typeface="Calibri"/>
              <a:sym typeface="Calibri"/>
            </a:endParaRPr>
          </a:p>
        </p:txBody>
      </p:sp>
      <p:sp>
        <p:nvSpPr>
          <p:cNvPr id="165" name="Google Shape;165;p5"/>
          <p:cNvSpPr/>
          <p:nvPr/>
        </p:nvSpPr>
        <p:spPr>
          <a:xfrm>
            <a:off x="7772400" y="304495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from Dec 2024 (Yr 1)</a:t>
            </a:r>
            <a:endParaRPr b="0" i="0" sz="900" u="none" cap="none" strike="noStrike">
              <a:solidFill>
                <a:schemeClr val="dk1"/>
              </a:solidFill>
              <a:latin typeface="Calibri"/>
              <a:ea typeface="Calibri"/>
              <a:cs typeface="Calibri"/>
              <a:sym typeface="Calibri"/>
            </a:endParaRPr>
          </a:p>
        </p:txBody>
      </p:sp>
      <p:sp>
        <p:nvSpPr>
          <p:cNvPr id="166" name="Google Shape;166;p5"/>
          <p:cNvSpPr/>
          <p:nvPr/>
        </p:nvSpPr>
        <p:spPr>
          <a:xfrm>
            <a:off x="7589520" y="3474720"/>
            <a:ext cx="4206240" cy="960120"/>
          </a:xfrm>
          <a:prstGeom prst="roundRect">
            <a:avLst>
              <a:gd fmla="val 7619" name="adj"/>
            </a:avLst>
          </a:prstGeom>
          <a:solidFill>
            <a:srgbClr val="F7F8FD"/>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7772400" y="352044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1" i="0" lang="en-US" sz="900" u="none" cap="none" strike="noStrike">
                <a:solidFill>
                  <a:srgbClr val="64748B"/>
                </a:solidFill>
                <a:latin typeface="Calibri"/>
                <a:ea typeface="Calibri"/>
                <a:cs typeface="Calibri"/>
                <a:sym typeface="Calibri"/>
              </a:rPr>
              <a:t>Gender Uplift (FWC)</a:t>
            </a:r>
            <a:endParaRPr b="0" i="0" sz="900" u="none" cap="none" strike="noStrike">
              <a:solidFill>
                <a:schemeClr val="dk1"/>
              </a:solidFill>
              <a:latin typeface="Calibri"/>
              <a:ea typeface="Calibri"/>
              <a:cs typeface="Calibri"/>
              <a:sym typeface="Calibri"/>
            </a:endParaRPr>
          </a:p>
        </p:txBody>
      </p:sp>
      <p:sp>
        <p:nvSpPr>
          <p:cNvPr id="168" name="Google Shape;168;p5"/>
          <p:cNvSpPr/>
          <p:nvPr/>
        </p:nvSpPr>
        <p:spPr>
          <a:xfrm>
            <a:off x="7772400" y="373075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F8"/>
              </a:buClr>
              <a:buSzPts val="2600"/>
              <a:buFont typeface="Cambria"/>
              <a:buNone/>
            </a:pPr>
            <a:r>
              <a:rPr b="1" i="0" lang="en-US" sz="2600" u="none" cap="none" strike="noStrike">
                <a:solidFill>
                  <a:srgbClr val="3A6FF8"/>
                </a:solidFill>
                <a:latin typeface="Cambria"/>
                <a:ea typeface="Cambria"/>
                <a:cs typeface="Cambria"/>
                <a:sym typeface="Cambria"/>
              </a:rPr>
              <a:t>9–28%</a:t>
            </a:r>
            <a:endParaRPr b="0" i="0" sz="2600" u="none" cap="none" strike="noStrike">
              <a:solidFill>
                <a:schemeClr val="dk1"/>
              </a:solidFill>
              <a:latin typeface="Calibri"/>
              <a:ea typeface="Calibri"/>
              <a:cs typeface="Calibri"/>
              <a:sym typeface="Calibri"/>
            </a:endParaRPr>
          </a:p>
        </p:txBody>
      </p:sp>
      <p:sp>
        <p:nvSpPr>
          <p:cNvPr id="169" name="Google Shape;169;p5"/>
          <p:cNvSpPr/>
          <p:nvPr/>
        </p:nvSpPr>
        <p:spPr>
          <a:xfrm>
            <a:off x="7772400" y="409651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proposed from Jan 2026</a:t>
            </a:r>
            <a:endParaRPr b="0" i="0" sz="900" u="none" cap="none" strike="noStrike">
              <a:solidFill>
                <a:schemeClr val="dk1"/>
              </a:solidFill>
              <a:latin typeface="Calibri"/>
              <a:ea typeface="Calibri"/>
              <a:cs typeface="Calibri"/>
              <a:sym typeface="Calibri"/>
            </a:endParaRPr>
          </a:p>
        </p:txBody>
      </p:sp>
      <p:sp>
        <p:nvSpPr>
          <p:cNvPr id="170" name="Google Shape;170;p5"/>
          <p:cNvSpPr/>
          <p:nvPr/>
        </p:nvSpPr>
        <p:spPr>
          <a:xfrm>
            <a:off x="7589520" y="4526280"/>
            <a:ext cx="4206240" cy="960120"/>
          </a:xfrm>
          <a:prstGeom prst="roundRect">
            <a:avLst>
              <a:gd fmla="val 7619" name="adj"/>
            </a:avLst>
          </a:prstGeom>
          <a:solidFill>
            <a:srgbClr val="F7F8FD"/>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7772400" y="457200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1" i="0" lang="en-US" sz="900" u="none" cap="none" strike="noStrike">
                <a:solidFill>
                  <a:srgbClr val="64748B"/>
                </a:solidFill>
                <a:latin typeface="Calibri"/>
                <a:ea typeface="Calibri"/>
                <a:cs typeface="Calibri"/>
                <a:sym typeface="Calibri"/>
              </a:rPr>
              <a:t>RT with WRP Toggle</a:t>
            </a:r>
            <a:endParaRPr b="0" i="0" sz="900" u="none" cap="none" strike="noStrike">
              <a:solidFill>
                <a:schemeClr val="dk1"/>
              </a:solidFill>
              <a:latin typeface="Calibri"/>
              <a:ea typeface="Calibri"/>
              <a:cs typeface="Calibri"/>
              <a:sym typeface="Calibri"/>
            </a:endParaRPr>
          </a:p>
        </p:txBody>
      </p:sp>
      <p:sp>
        <p:nvSpPr>
          <p:cNvPr id="172" name="Google Shape;172;p5"/>
          <p:cNvSpPr/>
          <p:nvPr/>
        </p:nvSpPr>
        <p:spPr>
          <a:xfrm>
            <a:off x="7772400" y="4782312"/>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600"/>
              <a:buFont typeface="Cambria"/>
              <a:buNone/>
            </a:pPr>
            <a:r>
              <a:rPr b="1" i="0" lang="en-US" sz="2600" u="none" cap="none" strike="noStrike">
                <a:solidFill>
                  <a:srgbClr val="27AE60"/>
                </a:solidFill>
                <a:latin typeface="Cambria"/>
                <a:ea typeface="Cambria"/>
                <a:cs typeface="Cambria"/>
                <a:sym typeface="Cambria"/>
              </a:rPr>
              <a:t>~$46.20</a:t>
            </a:r>
            <a:endParaRPr b="0" i="0" sz="2600" u="none" cap="none" strike="noStrike">
              <a:solidFill>
                <a:schemeClr val="dk1"/>
              </a:solidFill>
              <a:latin typeface="Calibri"/>
              <a:ea typeface="Calibri"/>
              <a:cs typeface="Calibri"/>
              <a:sym typeface="Calibri"/>
            </a:endParaRPr>
          </a:p>
        </p:txBody>
      </p:sp>
      <p:sp>
        <p:nvSpPr>
          <p:cNvPr id="173" name="Google Shape;173;p5"/>
          <p:cNvSpPr/>
          <p:nvPr/>
        </p:nvSpPr>
        <p:spPr>
          <a:xfrm>
            <a:off x="7772400" y="514807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per hour (competitive)</a:t>
            </a:r>
            <a:endParaRPr b="0" i="0" sz="900" u="none" cap="none" strike="noStrike">
              <a:solidFill>
                <a:schemeClr val="dk1"/>
              </a:solidFill>
              <a:latin typeface="Calibri"/>
              <a:ea typeface="Calibri"/>
              <a:cs typeface="Calibri"/>
              <a:sym typeface="Calibri"/>
            </a:endParaRPr>
          </a:p>
        </p:txBody>
      </p:sp>
      <p:sp>
        <p:nvSpPr>
          <p:cNvPr id="174" name="Google Shape;174;p5"/>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Children's Services Award 2010 [MA000120] | ACA WRP Wage Calculator (aca-worker-retention-payment.org.au) | VECTEA Salary Guide 2026 | Raw Talent internal data | Competitor intel from educator re-engagement calls SA, June 2026. Note: TalentNow Casual Hire rate is estimated; exact rate not publicly disclosed.</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6"/>
          <p:cNvSpPr/>
          <p:nvPr/>
        </p:nvSpPr>
        <p:spPr>
          <a:xfrm>
            <a:off x="457200" y="256032"/>
            <a:ext cx="2194560" cy="292608"/>
          </a:xfrm>
          <a:prstGeom prst="roundRect">
            <a:avLst>
              <a:gd fmla="val 18750" name="adj"/>
            </a:avLst>
          </a:prstGeom>
          <a:solidFill>
            <a:srgbClr val="3A6FF8"/>
          </a:solidFill>
          <a:ln cap="flat" cmpd="sng" w="12700">
            <a:solidFill>
              <a:srgbClr val="3A6F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REGULATORY</a:t>
            </a:r>
            <a:endParaRPr b="0" i="0" sz="850" u="none" cap="none" strike="noStrike">
              <a:solidFill>
                <a:schemeClr val="dk1"/>
              </a:solidFill>
              <a:latin typeface="Calibri"/>
              <a:ea typeface="Calibri"/>
              <a:cs typeface="Calibri"/>
              <a:sym typeface="Calibri"/>
            </a:endParaRPr>
          </a:p>
        </p:txBody>
      </p:sp>
      <p:sp>
        <p:nvSpPr>
          <p:cNvPr id="182" name="Google Shape;182;p6"/>
          <p:cNvSpPr/>
          <p:nvPr/>
        </p:nvSpPr>
        <p:spPr>
          <a:xfrm>
            <a:off x="426725" y="1080855"/>
            <a:ext cx="11247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Worker Retention Payment (WRP) — What It Is &amp; Why It Matters</a:t>
            </a:r>
            <a:endParaRPr b="1" i="0" sz="3000" u="none" cap="none" strike="noStrike">
              <a:solidFill>
                <a:srgbClr val="1E2A3A"/>
              </a:solidFill>
              <a:latin typeface="Cambria"/>
              <a:ea typeface="Cambria"/>
              <a:cs typeface="Cambria"/>
              <a:sym typeface="Cambria"/>
            </a:endParaRPr>
          </a:p>
          <a:p>
            <a:pPr indent="0" lvl="0" marL="0" marR="0" rtl="0" algn="l">
              <a:spcBef>
                <a:spcPts val="0"/>
              </a:spcBef>
              <a:spcAft>
                <a:spcPts val="0"/>
              </a:spcAft>
              <a:buClr>
                <a:srgbClr val="1E2A3A"/>
              </a:buClr>
              <a:buSzPts val="3000"/>
              <a:buFont typeface="Cambria"/>
              <a:buNone/>
            </a:pPr>
            <a:r>
              <a:t/>
            </a:r>
            <a:endParaRPr b="1" sz="3000">
              <a:solidFill>
                <a:srgbClr val="1E2A3A"/>
              </a:solidFill>
              <a:latin typeface="Cambria"/>
              <a:ea typeface="Cambria"/>
              <a:cs typeface="Cambria"/>
              <a:sym typeface="Cambria"/>
            </a:endParaRPr>
          </a:p>
        </p:txBody>
      </p:sp>
      <p:sp>
        <p:nvSpPr>
          <p:cNvPr id="183" name="Google Shape;183;p6"/>
          <p:cNvSpPr/>
          <p:nvPr/>
        </p:nvSpPr>
        <p:spPr>
          <a:xfrm>
            <a:off x="426725" y="1858095"/>
            <a:ext cx="5303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400"/>
              <a:buFont typeface="Calibri"/>
              <a:buNone/>
            </a:pPr>
            <a:r>
              <a:rPr b="1" i="0" lang="en-US" sz="1400" u="none" cap="none" strike="noStrike">
                <a:solidFill>
                  <a:srgbClr val="1E2A3A"/>
                </a:solidFill>
                <a:latin typeface="Calibri"/>
                <a:ea typeface="Calibri"/>
                <a:cs typeface="Calibri"/>
                <a:sym typeface="Calibri"/>
              </a:rPr>
              <a:t>What is the WRP?</a:t>
            </a:r>
            <a:endParaRPr b="0" i="0" sz="1400" u="none" cap="none" strike="noStrike">
              <a:solidFill>
                <a:schemeClr val="dk1"/>
              </a:solidFill>
              <a:latin typeface="Calibri"/>
              <a:ea typeface="Calibri"/>
              <a:cs typeface="Calibri"/>
              <a:sym typeface="Calibri"/>
            </a:endParaRPr>
          </a:p>
        </p:txBody>
      </p:sp>
      <p:sp>
        <p:nvSpPr>
          <p:cNvPr id="184" name="Google Shape;184;p6"/>
          <p:cNvSpPr/>
          <p:nvPr/>
        </p:nvSpPr>
        <p:spPr>
          <a:xfrm>
            <a:off x="426725" y="2223850"/>
            <a:ext cx="61266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Calibri"/>
              <a:buNone/>
            </a:pPr>
            <a:r>
              <a:rPr b="0" i="0" lang="en-US" sz="1600" u="none" cap="none" strike="noStrike">
                <a:solidFill>
                  <a:srgbClr val="334155"/>
                </a:solidFill>
                <a:latin typeface="Calibri"/>
                <a:ea typeface="Calibri"/>
                <a:cs typeface="Calibri"/>
                <a:sym typeface="Calibri"/>
              </a:rPr>
              <a:t>The WRP is a Federal Government grant running </a:t>
            </a:r>
            <a:r>
              <a:rPr b="1" i="0" lang="en-US" sz="1600" u="none" cap="none" strike="noStrike">
                <a:solidFill>
                  <a:srgbClr val="334155"/>
                </a:solidFill>
                <a:latin typeface="Calibri"/>
                <a:ea typeface="Calibri"/>
                <a:cs typeface="Calibri"/>
                <a:sym typeface="Calibri"/>
              </a:rPr>
              <a:t>2 December 2024 — 30 November 2026. </a:t>
            </a:r>
            <a:r>
              <a:rPr b="0" i="0" lang="en-US" sz="1600" u="none" cap="none" strike="noStrike">
                <a:solidFill>
                  <a:srgbClr val="334155"/>
                </a:solidFill>
                <a:latin typeface="Calibri"/>
                <a:ea typeface="Calibri"/>
                <a:cs typeface="Calibri"/>
                <a:sym typeface="Calibri"/>
              </a:rPr>
              <a:t>It funds a </a:t>
            </a:r>
            <a:r>
              <a:rPr b="1" i="0" lang="en-US" sz="1600" u="none" cap="none" strike="noStrike">
                <a:solidFill>
                  <a:srgbClr val="27AE60"/>
                </a:solidFill>
                <a:latin typeface="Calibri"/>
                <a:ea typeface="Calibri"/>
                <a:cs typeface="Calibri"/>
                <a:sym typeface="Calibri"/>
              </a:rPr>
              <a:t>10% wage increase in Year 1 </a:t>
            </a:r>
            <a:r>
              <a:rPr b="0" i="0" lang="en-US" sz="1600" u="none" cap="none" strike="noStrike">
                <a:solidFill>
                  <a:srgbClr val="334155"/>
                </a:solidFill>
                <a:latin typeface="Calibri"/>
                <a:ea typeface="Calibri"/>
                <a:cs typeface="Calibri"/>
                <a:sym typeface="Calibri"/>
              </a:rPr>
              <a:t>for eligible ECEC workers. The grant goes to approved centres, who must pass it on to their eligible employees. Further increases are legislated for Dec 2026 (+10%), Jul 2028 (+5%), and Jul 2029 (TBD).</a:t>
            </a:r>
            <a:endParaRPr b="0" i="0" sz="1600" u="none" cap="none" strike="noStrike">
              <a:solidFill>
                <a:schemeClr val="dk1"/>
              </a:solidFill>
              <a:latin typeface="Calibri"/>
              <a:ea typeface="Calibri"/>
              <a:cs typeface="Calibri"/>
              <a:sym typeface="Calibri"/>
            </a:endParaRPr>
          </a:p>
        </p:txBody>
      </p:sp>
      <p:sp>
        <p:nvSpPr>
          <p:cNvPr id="185" name="Google Shape;185;p6"/>
          <p:cNvSpPr/>
          <p:nvPr/>
        </p:nvSpPr>
        <p:spPr>
          <a:xfrm>
            <a:off x="426725" y="3915495"/>
            <a:ext cx="1920300" cy="822900"/>
          </a:xfrm>
          <a:prstGeom prst="roundRect">
            <a:avLst>
              <a:gd fmla="val 8889" name="adj"/>
            </a:avLst>
          </a:prstGeom>
          <a:solidFill>
            <a:srgbClr val="1E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426725" y="3915495"/>
            <a:ext cx="1920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Australian</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Government</a:t>
            </a:r>
            <a:endParaRPr b="0" i="0" sz="1800" u="none" cap="none" strike="noStrike">
              <a:solidFill>
                <a:schemeClr val="dk1"/>
              </a:solidFill>
              <a:latin typeface="Calibri"/>
              <a:ea typeface="Calibri"/>
              <a:cs typeface="Calibri"/>
              <a:sym typeface="Calibri"/>
            </a:endParaRPr>
          </a:p>
        </p:txBody>
      </p:sp>
      <p:cxnSp>
        <p:nvCxnSpPr>
          <p:cNvPr id="187" name="Google Shape;187;p6"/>
          <p:cNvCxnSpPr/>
          <p:nvPr/>
        </p:nvCxnSpPr>
        <p:spPr>
          <a:xfrm>
            <a:off x="2365253" y="4326975"/>
            <a:ext cx="512100" cy="0"/>
          </a:xfrm>
          <a:prstGeom prst="straightConnector1">
            <a:avLst/>
          </a:prstGeom>
          <a:noFill/>
          <a:ln cap="flat" cmpd="sng" w="19050">
            <a:solidFill>
              <a:srgbClr val="64748B"/>
            </a:solidFill>
            <a:prstDash val="solid"/>
            <a:round/>
            <a:headEnd len="sm" w="sm" type="none"/>
            <a:tailEnd len="sm" w="sm" type="none"/>
          </a:ln>
        </p:spPr>
      </p:cxnSp>
      <p:sp>
        <p:nvSpPr>
          <p:cNvPr id="188" name="Google Shape;188;p6"/>
          <p:cNvSpPr/>
          <p:nvPr/>
        </p:nvSpPr>
        <p:spPr>
          <a:xfrm>
            <a:off x="2392685" y="4189815"/>
            <a:ext cx="457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9" name="Google Shape;189;p6"/>
          <p:cNvSpPr/>
          <p:nvPr/>
        </p:nvSpPr>
        <p:spPr>
          <a:xfrm>
            <a:off x="2529845" y="3915495"/>
            <a:ext cx="1920300" cy="822900"/>
          </a:xfrm>
          <a:prstGeom prst="roundRect">
            <a:avLst>
              <a:gd fmla="val 8889"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2529845" y="3915495"/>
            <a:ext cx="1920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WRP Grant</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Funding</a:t>
            </a:r>
            <a:endParaRPr b="0" i="0" sz="1800" u="none" cap="none" strike="noStrike">
              <a:solidFill>
                <a:schemeClr val="dk1"/>
              </a:solidFill>
              <a:latin typeface="Calibri"/>
              <a:ea typeface="Calibri"/>
              <a:cs typeface="Calibri"/>
              <a:sym typeface="Calibri"/>
            </a:endParaRPr>
          </a:p>
        </p:txBody>
      </p:sp>
      <p:cxnSp>
        <p:nvCxnSpPr>
          <p:cNvPr id="191" name="Google Shape;191;p6"/>
          <p:cNvCxnSpPr/>
          <p:nvPr/>
        </p:nvCxnSpPr>
        <p:spPr>
          <a:xfrm>
            <a:off x="4468373" y="4326975"/>
            <a:ext cx="512100" cy="0"/>
          </a:xfrm>
          <a:prstGeom prst="straightConnector1">
            <a:avLst/>
          </a:prstGeom>
          <a:noFill/>
          <a:ln cap="flat" cmpd="sng" w="19050">
            <a:solidFill>
              <a:srgbClr val="64748B"/>
            </a:solidFill>
            <a:prstDash val="solid"/>
            <a:round/>
            <a:headEnd len="sm" w="sm" type="none"/>
            <a:tailEnd len="sm" w="sm" type="none"/>
          </a:ln>
        </p:spPr>
      </p:cxnSp>
      <p:sp>
        <p:nvSpPr>
          <p:cNvPr id="192" name="Google Shape;192;p6"/>
          <p:cNvSpPr/>
          <p:nvPr/>
        </p:nvSpPr>
        <p:spPr>
          <a:xfrm>
            <a:off x="4495805" y="4189815"/>
            <a:ext cx="457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3" name="Google Shape;193;p6"/>
          <p:cNvSpPr/>
          <p:nvPr/>
        </p:nvSpPr>
        <p:spPr>
          <a:xfrm>
            <a:off x="4632965" y="3915495"/>
            <a:ext cx="1920300" cy="822900"/>
          </a:xfrm>
          <a:prstGeom prst="roundRect">
            <a:avLst>
              <a:gd fmla="val 8889"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4632965" y="3915495"/>
            <a:ext cx="1920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Approved</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ECEC Centre</a:t>
            </a:r>
            <a:endParaRPr b="0" i="0" sz="1800" u="none" cap="none" strike="noStrike">
              <a:solidFill>
                <a:schemeClr val="dk1"/>
              </a:solidFill>
              <a:latin typeface="Calibri"/>
              <a:ea typeface="Calibri"/>
              <a:cs typeface="Calibri"/>
              <a:sym typeface="Calibri"/>
            </a:endParaRPr>
          </a:p>
        </p:txBody>
      </p:sp>
      <p:cxnSp>
        <p:nvCxnSpPr>
          <p:cNvPr id="195" name="Google Shape;195;p6"/>
          <p:cNvCxnSpPr/>
          <p:nvPr/>
        </p:nvCxnSpPr>
        <p:spPr>
          <a:xfrm>
            <a:off x="6571493" y="4326975"/>
            <a:ext cx="512100" cy="0"/>
          </a:xfrm>
          <a:prstGeom prst="straightConnector1">
            <a:avLst/>
          </a:prstGeom>
          <a:noFill/>
          <a:ln cap="flat" cmpd="sng" w="19050">
            <a:solidFill>
              <a:srgbClr val="64748B"/>
            </a:solidFill>
            <a:prstDash val="solid"/>
            <a:round/>
            <a:headEnd len="sm" w="sm" type="none"/>
            <a:tailEnd len="sm" w="sm" type="none"/>
          </a:ln>
        </p:spPr>
      </p:cxnSp>
      <p:sp>
        <p:nvSpPr>
          <p:cNvPr id="196" name="Google Shape;196;p6"/>
          <p:cNvSpPr/>
          <p:nvPr/>
        </p:nvSpPr>
        <p:spPr>
          <a:xfrm>
            <a:off x="6598925" y="4189815"/>
            <a:ext cx="457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7" name="Google Shape;197;p6"/>
          <p:cNvSpPr/>
          <p:nvPr/>
        </p:nvSpPr>
        <p:spPr>
          <a:xfrm>
            <a:off x="6736085" y="3915495"/>
            <a:ext cx="1920300" cy="822900"/>
          </a:xfrm>
          <a:prstGeom prst="roundRect">
            <a:avLst>
              <a:gd fmla="val 8889" name="adj"/>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6736085" y="3915495"/>
            <a:ext cx="1920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Eligible</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i="0" lang="en-US" sz="1800" u="none" cap="none" strike="noStrike">
                <a:solidFill>
                  <a:srgbClr val="FFFFFF"/>
                </a:solidFill>
                <a:latin typeface="Calibri"/>
                <a:ea typeface="Calibri"/>
                <a:cs typeface="Calibri"/>
                <a:sym typeface="Calibri"/>
              </a:rPr>
              <a:t>Educator</a:t>
            </a:r>
            <a:endParaRPr b="0" i="0" sz="1800" u="none" cap="none" strike="noStrike">
              <a:solidFill>
                <a:schemeClr val="dk1"/>
              </a:solidFill>
              <a:latin typeface="Calibri"/>
              <a:ea typeface="Calibri"/>
              <a:cs typeface="Calibri"/>
              <a:sym typeface="Calibri"/>
            </a:endParaRPr>
          </a:p>
        </p:txBody>
      </p:sp>
      <p:sp>
        <p:nvSpPr>
          <p:cNvPr id="199" name="Google Shape;199;p6"/>
          <p:cNvSpPr/>
          <p:nvPr/>
        </p:nvSpPr>
        <p:spPr>
          <a:xfrm>
            <a:off x="426725" y="4875615"/>
            <a:ext cx="822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Grant flows to centres → centres pass increase to educators</a:t>
            </a:r>
            <a:endParaRPr b="0" i="0" sz="900" u="none" cap="none" strike="noStrike">
              <a:solidFill>
                <a:schemeClr val="dk1"/>
              </a:solidFill>
              <a:latin typeface="Calibri"/>
              <a:ea typeface="Calibri"/>
              <a:cs typeface="Calibri"/>
              <a:sym typeface="Calibri"/>
            </a:endParaRPr>
          </a:p>
        </p:txBody>
      </p:sp>
      <p:sp>
        <p:nvSpPr>
          <p:cNvPr id="200" name="Google Shape;200;p6"/>
          <p:cNvSpPr/>
          <p:nvPr/>
        </p:nvSpPr>
        <p:spPr>
          <a:xfrm>
            <a:off x="8747765" y="1812375"/>
            <a:ext cx="3017400" cy="1828800"/>
          </a:xfrm>
          <a:prstGeom prst="roundRect">
            <a:avLst>
              <a:gd fmla="val 5000" name="adj"/>
            </a:avLst>
          </a:prstGeom>
          <a:solidFill>
            <a:srgbClr val="FFF5F5"/>
          </a:solidFill>
          <a:ln>
            <a:noFill/>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01" name="Google Shape;201;p6"/>
          <p:cNvSpPr/>
          <p:nvPr/>
        </p:nvSpPr>
        <p:spPr>
          <a:xfrm>
            <a:off x="8839205" y="1903815"/>
            <a:ext cx="28347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1000"/>
              <a:buFont typeface="Calibri"/>
              <a:buNone/>
            </a:pPr>
            <a:r>
              <a:rPr b="1" i="0" lang="en-US" sz="1800" u="none" cap="none" strike="noStrike">
                <a:solidFill>
                  <a:srgbClr val="E14B4B"/>
                </a:solidFill>
                <a:latin typeface="Calibri"/>
                <a:ea typeface="Calibri"/>
                <a:cs typeface="Calibri"/>
                <a:sym typeface="Calibri"/>
              </a:rPr>
              <a:t>TalentNow CONNECT</a:t>
            </a:r>
            <a:endParaRPr b="0" i="0" sz="1800" u="none" cap="none" strike="noStrike">
              <a:solidFill>
                <a:schemeClr val="dk1"/>
              </a:solidFill>
              <a:latin typeface="Calibri"/>
              <a:ea typeface="Calibri"/>
              <a:cs typeface="Calibri"/>
              <a:sym typeface="Calibri"/>
            </a:endParaRPr>
          </a:p>
        </p:txBody>
      </p:sp>
      <p:sp>
        <p:nvSpPr>
          <p:cNvPr id="202" name="Google Shape;202;p6"/>
          <p:cNvSpPr/>
          <p:nvPr/>
        </p:nvSpPr>
        <p:spPr>
          <a:xfrm>
            <a:off x="8839205" y="2223855"/>
            <a:ext cx="28347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600" u="none" cap="none" strike="noStrike">
                <a:solidFill>
                  <a:srgbClr val="334155"/>
                </a:solidFill>
                <a:latin typeface="Calibri"/>
                <a:ea typeface="Calibri"/>
                <a:cs typeface="Calibri"/>
                <a:sym typeface="Calibri"/>
              </a:rPr>
              <a:t>Educators employed BY the centre → WRP flows directly from centre's own grant → educators get full WRP automatically</a:t>
            </a:r>
            <a:endParaRPr b="0" i="0" sz="1600" u="none" cap="none" strike="noStrike">
              <a:solidFill>
                <a:schemeClr val="dk1"/>
              </a:solidFill>
              <a:latin typeface="Calibri"/>
              <a:ea typeface="Calibri"/>
              <a:cs typeface="Calibri"/>
              <a:sym typeface="Calibri"/>
            </a:endParaRPr>
          </a:p>
        </p:txBody>
      </p:sp>
      <p:sp>
        <p:nvSpPr>
          <p:cNvPr id="203" name="Google Shape;203;p6"/>
          <p:cNvSpPr/>
          <p:nvPr/>
        </p:nvSpPr>
        <p:spPr>
          <a:xfrm>
            <a:off x="8747765" y="3778335"/>
            <a:ext cx="3017400" cy="1828800"/>
          </a:xfrm>
          <a:prstGeom prst="roundRect">
            <a:avLst>
              <a:gd fmla="val 5000" name="adj"/>
            </a:avLst>
          </a:prstGeom>
          <a:solidFill>
            <a:srgbClr val="F0FFF4"/>
          </a:solidFill>
          <a:ln>
            <a:noFill/>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04" name="Google Shape;204;p6"/>
          <p:cNvSpPr/>
          <p:nvPr/>
        </p:nvSpPr>
        <p:spPr>
          <a:xfrm>
            <a:off x="8839205" y="3869775"/>
            <a:ext cx="28347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000"/>
              <a:buFont typeface="Calibri"/>
              <a:buNone/>
            </a:pPr>
            <a:r>
              <a:rPr b="1" i="0" lang="en-US" sz="1800" u="none" cap="none" strike="noStrike">
                <a:solidFill>
                  <a:srgbClr val="27AE60"/>
                </a:solidFill>
                <a:latin typeface="Calibri"/>
                <a:ea typeface="Calibri"/>
                <a:cs typeface="Calibri"/>
                <a:sym typeface="Calibri"/>
              </a:rPr>
              <a:t>Raw Talent (Agency Model)</a:t>
            </a:r>
            <a:endParaRPr b="0" i="0" sz="1800" u="none" cap="none" strike="noStrike">
              <a:solidFill>
                <a:schemeClr val="dk1"/>
              </a:solidFill>
              <a:latin typeface="Calibri"/>
              <a:ea typeface="Calibri"/>
              <a:cs typeface="Calibri"/>
              <a:sym typeface="Calibri"/>
            </a:endParaRPr>
          </a:p>
        </p:txBody>
      </p:sp>
      <p:sp>
        <p:nvSpPr>
          <p:cNvPr id="205" name="Google Shape;205;p6"/>
          <p:cNvSpPr/>
          <p:nvPr/>
        </p:nvSpPr>
        <p:spPr>
          <a:xfrm>
            <a:off x="8839205" y="4189815"/>
            <a:ext cx="28347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600" u="none" cap="none" strike="noStrike">
                <a:solidFill>
                  <a:srgbClr val="334155"/>
                </a:solidFill>
                <a:latin typeface="Calibri"/>
                <a:ea typeface="Calibri"/>
                <a:cs typeface="Calibri"/>
                <a:sym typeface="Calibri"/>
              </a:rPr>
              <a:t>RT employs educator → WRP toggle available for WRP-enrolled Edge SA centres</a:t>
            </a:r>
            <a:endParaRPr b="0" i="0" sz="1600" u="none" cap="none" strike="noStrike">
              <a:solidFill>
                <a:schemeClr val="dk1"/>
              </a:solidFill>
              <a:latin typeface="Calibri"/>
              <a:ea typeface="Calibri"/>
              <a:cs typeface="Calibri"/>
              <a:sym typeface="Calibri"/>
            </a:endParaRPr>
          </a:p>
        </p:txBody>
      </p:sp>
      <p:sp>
        <p:nvSpPr>
          <p:cNvPr id="206" name="Google Shape;206;p6"/>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ACA Worker Retention Payment Support Service (aca-worker-retention-payment.org.au) | Department of Education WRP program | ACA WRP Wage Calculator | TheSector.com.au (Feb 2025) — TalentNow Employment Hero integration article | WRP applications close 30 September 2026</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11" name="Shape 211"/>
        <p:cNvGrpSpPr/>
        <p:nvPr/>
      </p:nvGrpSpPr>
      <p:grpSpPr>
        <a:xfrm>
          <a:off x="0" y="0"/>
          <a:ext cx="0" cy="0"/>
          <a:chOff x="0" y="0"/>
          <a:chExt cx="0" cy="0"/>
        </a:xfrm>
      </p:grpSpPr>
      <p:sp>
        <p:nvSpPr>
          <p:cNvPr id="212" name="Google Shape;212;p7"/>
          <p:cNvSpPr/>
          <p:nvPr/>
        </p:nvSpPr>
        <p:spPr>
          <a:xfrm>
            <a:off x="457200" y="256032"/>
            <a:ext cx="2194560" cy="292608"/>
          </a:xfrm>
          <a:prstGeom prst="roundRect">
            <a:avLst>
              <a:gd fmla="val 18750" name="adj"/>
            </a:avLst>
          </a:prstGeom>
          <a:solidFill>
            <a:srgbClr val="E14B4B"/>
          </a:solidFill>
          <a:ln cap="flat" cmpd="sng" w="12700">
            <a:solidFill>
              <a:srgbClr val="E14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COMPLIANCE 2026</a:t>
            </a:r>
            <a:endParaRPr b="0" i="0" sz="850" u="none" cap="none" strike="noStrike">
              <a:solidFill>
                <a:schemeClr val="dk1"/>
              </a:solidFill>
              <a:latin typeface="Calibri"/>
              <a:ea typeface="Calibri"/>
              <a:cs typeface="Calibri"/>
              <a:sym typeface="Calibri"/>
            </a:endParaRPr>
          </a:p>
        </p:txBody>
      </p:sp>
      <p:sp>
        <p:nvSpPr>
          <p:cNvPr id="214" name="Google Shape;214;p7"/>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Australian ECEC Regulatory Changes — What Agencies Must Track</a:t>
            </a:r>
            <a:endParaRPr b="0" i="0" sz="3000" u="none" cap="none" strike="noStrike">
              <a:solidFill>
                <a:schemeClr val="dk1"/>
              </a:solidFill>
              <a:latin typeface="Calibri"/>
              <a:ea typeface="Calibri"/>
              <a:cs typeface="Calibri"/>
              <a:sym typeface="Calibri"/>
            </a:endParaRPr>
          </a:p>
        </p:txBody>
      </p:sp>
      <p:sp>
        <p:nvSpPr>
          <p:cNvPr id="215" name="Google Shape;215;p7"/>
          <p:cNvSpPr/>
          <p:nvPr/>
        </p:nvSpPr>
        <p:spPr>
          <a:xfrm>
            <a:off x="457200" y="1463040"/>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566928" y="1572768"/>
            <a:ext cx="1005840" cy="292608"/>
          </a:xfrm>
          <a:prstGeom prst="roundRect">
            <a:avLst>
              <a:gd fmla="val 18750"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566928" y="1572768"/>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URGENT</a:t>
            </a:r>
            <a:endParaRPr b="0" i="0" sz="750" u="none" cap="none" strike="noStrike">
              <a:solidFill>
                <a:schemeClr val="dk1"/>
              </a:solidFill>
              <a:latin typeface="Calibri"/>
              <a:ea typeface="Calibri"/>
              <a:cs typeface="Calibri"/>
              <a:sym typeface="Calibri"/>
            </a:endParaRPr>
          </a:p>
        </p:txBody>
      </p:sp>
      <p:sp>
        <p:nvSpPr>
          <p:cNvPr id="218" name="Google Shape;218;p7"/>
          <p:cNvSpPr/>
          <p:nvPr/>
        </p:nvSpPr>
        <p:spPr>
          <a:xfrm>
            <a:off x="1691640" y="160020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900"/>
              <a:buFont typeface="Calibri"/>
              <a:buNone/>
            </a:pPr>
            <a:r>
              <a:rPr b="1" i="0" lang="en-US" sz="900" u="none" cap="none" strike="noStrike">
                <a:solidFill>
                  <a:srgbClr val="E14B4B"/>
                </a:solidFill>
                <a:latin typeface="Calibri"/>
                <a:ea typeface="Calibri"/>
                <a:cs typeface="Calibri"/>
                <a:sym typeface="Calibri"/>
              </a:rPr>
              <a:t>Late August 2026</a:t>
            </a:r>
            <a:endParaRPr b="0" i="0" sz="900" u="none" cap="none" strike="noStrike">
              <a:solidFill>
                <a:schemeClr val="dk1"/>
              </a:solidFill>
              <a:latin typeface="Calibri"/>
              <a:ea typeface="Calibri"/>
              <a:cs typeface="Calibri"/>
              <a:sym typeface="Calibri"/>
            </a:endParaRPr>
          </a:p>
        </p:txBody>
      </p:sp>
      <p:sp>
        <p:nvSpPr>
          <p:cNvPr id="219" name="Google Shape;219;p7"/>
          <p:cNvSpPr/>
          <p:nvPr/>
        </p:nvSpPr>
        <p:spPr>
          <a:xfrm>
            <a:off x="594360" y="1901952"/>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National Child Safety Training</a:t>
            </a:r>
            <a:endParaRPr b="0" i="0" sz="1100" u="none" cap="none" strike="noStrike">
              <a:solidFill>
                <a:schemeClr val="dk1"/>
              </a:solidFill>
              <a:latin typeface="Calibri"/>
              <a:ea typeface="Calibri"/>
              <a:cs typeface="Calibri"/>
              <a:sym typeface="Calibri"/>
            </a:endParaRPr>
          </a:p>
        </p:txBody>
      </p:sp>
      <p:sp>
        <p:nvSpPr>
          <p:cNvPr id="220" name="Google Shape;220;p7"/>
          <p:cNvSpPr/>
          <p:nvPr/>
        </p:nvSpPr>
        <p:spPr>
          <a:xfrm>
            <a:off x="594360" y="2176272"/>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Mandatory for ALL ECEC workers, volunteers and students from 27 Feb 2026. Does NOT replace SA state Child Protection training or RAN Training. Approved providers face risk if educators are not compliant.</a:t>
            </a:r>
            <a:endParaRPr b="0" i="0" sz="950" u="none" cap="none" strike="noStrike">
              <a:solidFill>
                <a:schemeClr val="dk1"/>
              </a:solidFill>
              <a:latin typeface="Calibri"/>
              <a:ea typeface="Calibri"/>
              <a:cs typeface="Calibri"/>
              <a:sym typeface="Calibri"/>
            </a:endParaRPr>
          </a:p>
        </p:txBody>
      </p:sp>
      <p:sp>
        <p:nvSpPr>
          <p:cNvPr id="221" name="Google Shape;221;p7"/>
          <p:cNvSpPr/>
          <p:nvPr/>
        </p:nvSpPr>
        <p:spPr>
          <a:xfrm>
            <a:off x="6309360" y="1463040"/>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6419088" y="1572768"/>
            <a:ext cx="1005840" cy="292608"/>
          </a:xfrm>
          <a:prstGeom prst="roundRect">
            <a:avLst>
              <a:gd fmla="val 18750"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6419088" y="1572768"/>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URGENT</a:t>
            </a:r>
            <a:endParaRPr b="0" i="0" sz="750" u="none" cap="none" strike="noStrike">
              <a:solidFill>
                <a:schemeClr val="dk1"/>
              </a:solidFill>
              <a:latin typeface="Calibri"/>
              <a:ea typeface="Calibri"/>
              <a:cs typeface="Calibri"/>
              <a:sym typeface="Calibri"/>
            </a:endParaRPr>
          </a:p>
        </p:txBody>
      </p:sp>
      <p:sp>
        <p:nvSpPr>
          <p:cNvPr id="224" name="Google Shape;224;p7"/>
          <p:cNvSpPr/>
          <p:nvPr/>
        </p:nvSpPr>
        <p:spPr>
          <a:xfrm>
            <a:off x="7543800" y="160020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900"/>
              <a:buFont typeface="Calibri"/>
              <a:buNone/>
            </a:pPr>
            <a:r>
              <a:rPr b="1" i="0" lang="en-US" sz="900" u="none" cap="none" strike="noStrike">
                <a:solidFill>
                  <a:srgbClr val="E14B4B"/>
                </a:solidFill>
                <a:latin typeface="Calibri"/>
                <a:ea typeface="Calibri"/>
                <a:cs typeface="Calibri"/>
                <a:sym typeface="Calibri"/>
              </a:rPr>
              <a:t>Late March 2026</a:t>
            </a:r>
            <a:endParaRPr b="0" i="0" sz="900" u="none" cap="none" strike="noStrike">
              <a:solidFill>
                <a:schemeClr val="dk1"/>
              </a:solidFill>
              <a:latin typeface="Calibri"/>
              <a:ea typeface="Calibri"/>
              <a:cs typeface="Calibri"/>
              <a:sym typeface="Calibri"/>
            </a:endParaRPr>
          </a:p>
        </p:txBody>
      </p:sp>
      <p:sp>
        <p:nvSpPr>
          <p:cNvPr id="225" name="Google Shape;225;p7"/>
          <p:cNvSpPr/>
          <p:nvPr/>
        </p:nvSpPr>
        <p:spPr>
          <a:xfrm>
            <a:off x="6446520" y="1901952"/>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National Early Childhood Worker Register</a:t>
            </a:r>
            <a:endParaRPr b="0" i="0" sz="1100" u="none" cap="none" strike="noStrike">
              <a:solidFill>
                <a:schemeClr val="dk1"/>
              </a:solidFill>
              <a:latin typeface="Calibri"/>
              <a:ea typeface="Calibri"/>
              <a:cs typeface="Calibri"/>
              <a:sym typeface="Calibri"/>
            </a:endParaRPr>
          </a:p>
        </p:txBody>
      </p:sp>
      <p:sp>
        <p:nvSpPr>
          <p:cNvPr id="226" name="Google Shape;226;p7"/>
          <p:cNvSpPr/>
          <p:nvPr/>
        </p:nvSpPr>
        <p:spPr>
          <a:xfrm>
            <a:off x="6446520" y="2176272"/>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Approved providers must enter all workforce information into the new national register. RT must confirm this is in place for all SA educators.</a:t>
            </a:r>
            <a:endParaRPr b="0" i="0" sz="950" u="none" cap="none" strike="noStrike">
              <a:solidFill>
                <a:schemeClr val="dk1"/>
              </a:solidFill>
              <a:latin typeface="Calibri"/>
              <a:ea typeface="Calibri"/>
              <a:cs typeface="Calibri"/>
              <a:sym typeface="Calibri"/>
            </a:endParaRPr>
          </a:p>
        </p:txBody>
      </p:sp>
      <p:sp>
        <p:nvSpPr>
          <p:cNvPr id="227" name="Google Shape;227;p7"/>
          <p:cNvSpPr/>
          <p:nvPr/>
        </p:nvSpPr>
        <p:spPr>
          <a:xfrm>
            <a:off x="457200" y="3090672"/>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566928" y="3200400"/>
            <a:ext cx="1005840" cy="292608"/>
          </a:xfrm>
          <a:prstGeom prst="roundRect">
            <a:avLst>
              <a:gd fmla="val 18750"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566928" y="3200400"/>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ACTION</a:t>
            </a:r>
            <a:endParaRPr b="0" i="0" sz="750" u="none" cap="none" strike="noStrike">
              <a:solidFill>
                <a:schemeClr val="dk1"/>
              </a:solidFill>
              <a:latin typeface="Calibri"/>
              <a:ea typeface="Calibri"/>
              <a:cs typeface="Calibri"/>
              <a:sym typeface="Calibri"/>
            </a:endParaRPr>
          </a:p>
        </p:txBody>
      </p:sp>
      <p:sp>
        <p:nvSpPr>
          <p:cNvPr id="230" name="Google Shape;230;p7"/>
          <p:cNvSpPr/>
          <p:nvPr/>
        </p:nvSpPr>
        <p:spPr>
          <a:xfrm>
            <a:off x="1691640" y="322783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900"/>
              <a:buFont typeface="Calibri"/>
              <a:buNone/>
            </a:pPr>
            <a:r>
              <a:rPr b="1" i="0" lang="en-US" sz="900" u="none" cap="none" strike="noStrike">
                <a:solidFill>
                  <a:srgbClr val="F2A93B"/>
                </a:solidFill>
                <a:latin typeface="Calibri"/>
                <a:ea typeface="Calibri"/>
                <a:cs typeface="Calibri"/>
                <a:sym typeface="Calibri"/>
              </a:rPr>
              <a:t>30 September 2026</a:t>
            </a:r>
            <a:endParaRPr b="0" i="0" sz="900" u="none" cap="none" strike="noStrike">
              <a:solidFill>
                <a:schemeClr val="dk1"/>
              </a:solidFill>
              <a:latin typeface="Calibri"/>
              <a:ea typeface="Calibri"/>
              <a:cs typeface="Calibri"/>
              <a:sym typeface="Calibri"/>
            </a:endParaRPr>
          </a:p>
        </p:txBody>
      </p:sp>
      <p:sp>
        <p:nvSpPr>
          <p:cNvPr id="231" name="Google Shape;231;p7"/>
          <p:cNvSpPr/>
          <p:nvPr/>
        </p:nvSpPr>
        <p:spPr>
          <a:xfrm>
            <a:off x="594360" y="3529584"/>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WRP Application Deadline</a:t>
            </a:r>
            <a:endParaRPr b="0" i="0" sz="1100" u="none" cap="none" strike="noStrike">
              <a:solidFill>
                <a:schemeClr val="dk1"/>
              </a:solidFill>
              <a:latin typeface="Calibri"/>
              <a:ea typeface="Calibri"/>
              <a:cs typeface="Calibri"/>
              <a:sym typeface="Calibri"/>
            </a:endParaRPr>
          </a:p>
        </p:txBody>
      </p:sp>
      <p:sp>
        <p:nvSpPr>
          <p:cNvPr id="232" name="Google Shape;232;p7"/>
          <p:cNvSpPr/>
          <p:nvPr/>
        </p:nvSpPr>
        <p:spPr>
          <a:xfrm>
            <a:off x="594360" y="3803904"/>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Final deadline to apply. Backdating to 2 December 2024 required applications by 30 September 2025. WRP payments run until 30 November 2026, with further increases legislated from December 2026.</a:t>
            </a:r>
            <a:endParaRPr b="0" i="0" sz="950" u="none" cap="none" strike="noStrike">
              <a:solidFill>
                <a:schemeClr val="dk1"/>
              </a:solidFill>
              <a:latin typeface="Calibri"/>
              <a:ea typeface="Calibri"/>
              <a:cs typeface="Calibri"/>
              <a:sym typeface="Calibri"/>
            </a:endParaRPr>
          </a:p>
        </p:txBody>
      </p:sp>
      <p:sp>
        <p:nvSpPr>
          <p:cNvPr id="233" name="Google Shape;233;p7"/>
          <p:cNvSpPr/>
          <p:nvPr/>
        </p:nvSpPr>
        <p:spPr>
          <a:xfrm>
            <a:off x="6309360" y="3090672"/>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6419088" y="3200400"/>
            <a:ext cx="1005840" cy="292608"/>
          </a:xfrm>
          <a:prstGeom prst="roundRect">
            <a:avLst>
              <a:gd fmla="val 18750"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6419088" y="3200400"/>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SA SPECIFIC</a:t>
            </a:r>
            <a:endParaRPr b="0" i="0" sz="750" u="none" cap="none" strike="noStrike">
              <a:solidFill>
                <a:schemeClr val="dk1"/>
              </a:solidFill>
              <a:latin typeface="Calibri"/>
              <a:ea typeface="Calibri"/>
              <a:cs typeface="Calibri"/>
              <a:sym typeface="Calibri"/>
            </a:endParaRPr>
          </a:p>
        </p:txBody>
      </p:sp>
      <p:sp>
        <p:nvSpPr>
          <p:cNvPr id="236" name="Google Shape;236;p7"/>
          <p:cNvSpPr/>
          <p:nvPr/>
        </p:nvSpPr>
        <p:spPr>
          <a:xfrm>
            <a:off x="7543800" y="322783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93B"/>
              </a:buClr>
              <a:buSzPts val="900"/>
              <a:buFont typeface="Calibri"/>
              <a:buNone/>
            </a:pPr>
            <a:r>
              <a:rPr b="1" i="0" lang="en-US" sz="900" u="none" cap="none" strike="noStrike">
                <a:solidFill>
                  <a:srgbClr val="F2A93B"/>
                </a:solidFill>
                <a:latin typeface="Calibri"/>
                <a:ea typeface="Calibri"/>
                <a:cs typeface="Calibri"/>
                <a:sym typeface="Calibri"/>
              </a:rPr>
              <a:t>Ongoing — check expiry</a:t>
            </a:r>
            <a:endParaRPr b="0" i="0" sz="900" u="none" cap="none" strike="noStrike">
              <a:solidFill>
                <a:schemeClr val="dk1"/>
              </a:solidFill>
              <a:latin typeface="Calibri"/>
              <a:ea typeface="Calibri"/>
              <a:cs typeface="Calibri"/>
              <a:sym typeface="Calibri"/>
            </a:endParaRPr>
          </a:p>
        </p:txBody>
      </p:sp>
      <p:sp>
        <p:nvSpPr>
          <p:cNvPr id="237" name="Google Shape;237;p7"/>
          <p:cNvSpPr/>
          <p:nvPr/>
        </p:nvSpPr>
        <p:spPr>
          <a:xfrm>
            <a:off x="6446520" y="3529584"/>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SA DCSI Screening (SA Only)</a:t>
            </a:r>
            <a:endParaRPr b="0" i="0" sz="1100" u="none" cap="none" strike="noStrike">
              <a:solidFill>
                <a:schemeClr val="dk1"/>
              </a:solidFill>
              <a:latin typeface="Calibri"/>
              <a:ea typeface="Calibri"/>
              <a:cs typeface="Calibri"/>
              <a:sym typeface="Calibri"/>
            </a:endParaRPr>
          </a:p>
        </p:txBody>
      </p:sp>
      <p:sp>
        <p:nvSpPr>
          <p:cNvPr id="238" name="Google Shape;238;p7"/>
          <p:cNvSpPr/>
          <p:nvPr/>
        </p:nvSpPr>
        <p:spPr>
          <a:xfrm>
            <a:off x="6446520" y="3803904"/>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South Australia's Working with Children equivalent. NOT the same as VIC WWCC. Educators cannot work across both SA and VIC without BOTH checks. Raw Talent must track separately.</a:t>
            </a:r>
            <a:endParaRPr b="0" i="0" sz="950" u="none" cap="none" strike="noStrike">
              <a:solidFill>
                <a:schemeClr val="dk1"/>
              </a:solidFill>
              <a:latin typeface="Calibri"/>
              <a:ea typeface="Calibri"/>
              <a:cs typeface="Calibri"/>
              <a:sym typeface="Calibri"/>
            </a:endParaRPr>
          </a:p>
        </p:txBody>
      </p:sp>
      <p:sp>
        <p:nvSpPr>
          <p:cNvPr id="239" name="Google Shape;239;p7"/>
          <p:cNvSpPr/>
          <p:nvPr/>
        </p:nvSpPr>
        <p:spPr>
          <a:xfrm>
            <a:off x="457200" y="4718304"/>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566928" y="4828032"/>
            <a:ext cx="1005840" cy="292608"/>
          </a:xfrm>
          <a:prstGeom prst="roundRect">
            <a:avLst>
              <a:gd fmla="val 18750"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566928" y="4828032"/>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SA SPECIFIC</a:t>
            </a:r>
            <a:endParaRPr b="0" i="0" sz="750" u="none" cap="none" strike="noStrike">
              <a:solidFill>
                <a:schemeClr val="dk1"/>
              </a:solidFill>
              <a:latin typeface="Calibri"/>
              <a:ea typeface="Calibri"/>
              <a:cs typeface="Calibri"/>
              <a:sym typeface="Calibri"/>
            </a:endParaRPr>
          </a:p>
        </p:txBody>
      </p:sp>
      <p:sp>
        <p:nvSpPr>
          <p:cNvPr id="242" name="Google Shape;242;p7"/>
          <p:cNvSpPr/>
          <p:nvPr/>
        </p:nvSpPr>
        <p:spPr>
          <a:xfrm>
            <a:off x="1691640" y="4855464"/>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F8"/>
              </a:buClr>
              <a:buSzPts val="900"/>
              <a:buFont typeface="Calibri"/>
              <a:buNone/>
            </a:pPr>
            <a:r>
              <a:rPr b="1" i="0" lang="en-US" sz="900" u="none" cap="none" strike="noStrike">
                <a:solidFill>
                  <a:srgbClr val="3A6FF8"/>
                </a:solidFill>
                <a:latin typeface="Calibri"/>
                <a:ea typeface="Calibri"/>
                <a:cs typeface="Calibri"/>
                <a:sym typeface="Calibri"/>
              </a:rPr>
              <a:t>Ongoing — check renewal</a:t>
            </a:r>
            <a:endParaRPr b="0" i="0" sz="900" u="none" cap="none" strike="noStrike">
              <a:solidFill>
                <a:schemeClr val="dk1"/>
              </a:solidFill>
              <a:latin typeface="Calibri"/>
              <a:ea typeface="Calibri"/>
              <a:cs typeface="Calibri"/>
              <a:sym typeface="Calibri"/>
            </a:endParaRPr>
          </a:p>
        </p:txBody>
      </p:sp>
      <p:sp>
        <p:nvSpPr>
          <p:cNvPr id="243" name="Google Shape;243;p7"/>
          <p:cNvSpPr/>
          <p:nvPr/>
        </p:nvSpPr>
        <p:spPr>
          <a:xfrm>
            <a:off x="594360" y="5157216"/>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RAN Training (SA Only)</a:t>
            </a:r>
            <a:endParaRPr b="0" i="0" sz="1100" u="none" cap="none" strike="noStrike">
              <a:solidFill>
                <a:schemeClr val="dk1"/>
              </a:solidFill>
              <a:latin typeface="Calibri"/>
              <a:ea typeface="Calibri"/>
              <a:cs typeface="Calibri"/>
              <a:sym typeface="Calibri"/>
            </a:endParaRPr>
          </a:p>
        </p:txBody>
      </p:sp>
      <p:sp>
        <p:nvSpPr>
          <p:cNvPr id="244" name="Google Shape;244;p7"/>
          <p:cNvSpPr/>
          <p:nvPr/>
        </p:nvSpPr>
        <p:spPr>
          <a:xfrm>
            <a:off x="594360" y="5431536"/>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Responding to Abuse and Neglect — SA legislative requirement separate from national NCS Training. Must be verified for every SA educator before deployment.</a:t>
            </a:r>
            <a:endParaRPr b="0" i="0" sz="950" u="none" cap="none" strike="noStrike">
              <a:solidFill>
                <a:schemeClr val="dk1"/>
              </a:solidFill>
              <a:latin typeface="Calibri"/>
              <a:ea typeface="Calibri"/>
              <a:cs typeface="Calibri"/>
              <a:sym typeface="Calibri"/>
            </a:endParaRPr>
          </a:p>
        </p:txBody>
      </p:sp>
      <p:sp>
        <p:nvSpPr>
          <p:cNvPr id="245" name="Google Shape;245;p7"/>
          <p:cNvSpPr/>
          <p:nvPr/>
        </p:nvSpPr>
        <p:spPr>
          <a:xfrm>
            <a:off x="6309360" y="4718304"/>
            <a:ext cx="5577840" cy="1508760"/>
          </a:xfrm>
          <a:prstGeom prst="roundRect">
            <a:avLst>
              <a:gd fmla="val 6061" name="adj"/>
            </a:avLst>
          </a:prstGeom>
          <a:solidFill>
            <a:srgbClr val="F7F8FD"/>
          </a:solidFill>
          <a:ln>
            <a:noFill/>
          </a:ln>
          <a:effectLst>
            <a:outerShdw blurRad="635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6419088" y="4828032"/>
            <a:ext cx="1005840" cy="292608"/>
          </a:xfrm>
          <a:prstGeom prst="roundRect">
            <a:avLst>
              <a:gd fmla="val 18750" name="adj"/>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6419088" y="4828032"/>
            <a:ext cx="10058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WAGE REFORM</a:t>
            </a:r>
            <a:endParaRPr b="0" i="0" sz="750" u="none" cap="none" strike="noStrike">
              <a:solidFill>
                <a:schemeClr val="dk1"/>
              </a:solidFill>
              <a:latin typeface="Calibri"/>
              <a:ea typeface="Calibri"/>
              <a:cs typeface="Calibri"/>
              <a:sym typeface="Calibri"/>
            </a:endParaRPr>
          </a:p>
        </p:txBody>
      </p:sp>
      <p:sp>
        <p:nvSpPr>
          <p:cNvPr id="248" name="Google Shape;248;p7"/>
          <p:cNvSpPr/>
          <p:nvPr/>
        </p:nvSpPr>
        <p:spPr>
          <a:xfrm>
            <a:off x="7543800" y="4855464"/>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FF8"/>
              </a:buClr>
              <a:buSzPts val="900"/>
              <a:buFont typeface="Calibri"/>
              <a:buNone/>
            </a:pPr>
            <a:r>
              <a:rPr b="1" i="0" lang="en-US" sz="900" u="none" cap="none" strike="noStrike">
                <a:solidFill>
                  <a:srgbClr val="3A6FF8"/>
                </a:solidFill>
                <a:latin typeface="Calibri"/>
                <a:ea typeface="Calibri"/>
                <a:cs typeface="Calibri"/>
                <a:sym typeface="Calibri"/>
              </a:rPr>
              <a:t>From January 2026 (est.)</a:t>
            </a:r>
            <a:endParaRPr b="0" i="0" sz="900" u="none" cap="none" strike="noStrike">
              <a:solidFill>
                <a:schemeClr val="dk1"/>
              </a:solidFill>
              <a:latin typeface="Calibri"/>
              <a:ea typeface="Calibri"/>
              <a:cs typeface="Calibri"/>
              <a:sym typeface="Calibri"/>
            </a:endParaRPr>
          </a:p>
        </p:txBody>
      </p:sp>
      <p:sp>
        <p:nvSpPr>
          <p:cNvPr id="249" name="Google Shape;249;p7"/>
          <p:cNvSpPr/>
          <p:nvPr/>
        </p:nvSpPr>
        <p:spPr>
          <a:xfrm>
            <a:off x="6446520" y="5157216"/>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100" u="none" cap="none" strike="noStrike">
                <a:solidFill>
                  <a:srgbClr val="1E2A3A"/>
                </a:solidFill>
                <a:latin typeface="Calibri"/>
                <a:ea typeface="Calibri"/>
                <a:cs typeface="Calibri"/>
                <a:sym typeface="Calibri"/>
              </a:rPr>
              <a:t>FWC Gender Undervaluation Increase</a:t>
            </a:r>
            <a:endParaRPr b="0" i="0" sz="1100" u="none" cap="none" strike="noStrike">
              <a:solidFill>
                <a:schemeClr val="dk1"/>
              </a:solidFill>
              <a:latin typeface="Calibri"/>
              <a:ea typeface="Calibri"/>
              <a:cs typeface="Calibri"/>
              <a:sym typeface="Calibri"/>
            </a:endParaRPr>
          </a:p>
        </p:txBody>
      </p:sp>
      <p:sp>
        <p:nvSpPr>
          <p:cNvPr id="250" name="Google Shape;250;p7"/>
          <p:cNvSpPr/>
          <p:nvPr/>
        </p:nvSpPr>
        <p:spPr>
          <a:xfrm>
            <a:off x="6446520" y="5431536"/>
            <a:ext cx="53035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Fair Work Commission provisional decision: 9–28% uplift for Children's Services Award classifications. Timeline revised from Aug 2025 to Jan 2026. Affects charge rates and educator pay calculations.</a:t>
            </a:r>
            <a:endParaRPr b="0" i="0" sz="950" u="none" cap="none" strike="noStrike">
              <a:solidFill>
                <a:schemeClr val="dk1"/>
              </a:solidFill>
              <a:latin typeface="Calibri"/>
              <a:ea typeface="Calibri"/>
              <a:cs typeface="Calibri"/>
              <a:sym typeface="Calibri"/>
            </a:endParaRPr>
          </a:p>
        </p:txBody>
      </p:sp>
      <p:sp>
        <p:nvSpPr>
          <p:cNvPr id="251" name="Google Shape;251;p7"/>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ACECQA.gov.au (May 2026) | TalentNow 2026 Reform Update — Child Safety Training | ACA WRP Support Service FAQ | Education and Care Services National Regulations | SA Department for Child Protection (DCSI) | SA Department for Human Services (RAN Training) | FWC Children's Services Award provisional determination, 2025</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8"/>
          <p:cNvSpPr/>
          <p:nvPr/>
        </p:nvSpPr>
        <p:spPr>
          <a:xfrm>
            <a:off x="457200" y="256032"/>
            <a:ext cx="2194560" cy="292608"/>
          </a:xfrm>
          <a:prstGeom prst="roundRect">
            <a:avLst>
              <a:gd fmla="val 18750" name="adj"/>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FEATURE COMPARISON</a:t>
            </a:r>
            <a:endParaRPr b="0" i="0" sz="850" u="none" cap="none" strike="noStrike">
              <a:solidFill>
                <a:schemeClr val="dk1"/>
              </a:solidFill>
              <a:latin typeface="Calibri"/>
              <a:ea typeface="Calibri"/>
              <a:cs typeface="Calibri"/>
              <a:sym typeface="Calibri"/>
            </a:endParaRPr>
          </a:p>
        </p:txBody>
      </p:sp>
      <p:sp>
        <p:nvSpPr>
          <p:cNvPr id="259" name="Google Shape;259;p8"/>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Raw Talent vs TalentNow — Head to Head</a:t>
            </a:r>
            <a:endParaRPr b="0" i="0" sz="3000" u="none" cap="none" strike="noStrike">
              <a:solidFill>
                <a:schemeClr val="dk1"/>
              </a:solidFill>
              <a:latin typeface="Calibri"/>
              <a:ea typeface="Calibri"/>
              <a:cs typeface="Calibri"/>
              <a:sym typeface="Calibri"/>
            </a:endParaRPr>
          </a:p>
        </p:txBody>
      </p:sp>
      <p:graphicFrame>
        <p:nvGraphicFramePr>
          <p:cNvPr id="260" name="Google Shape;260;p8"/>
          <p:cNvGraphicFramePr/>
          <p:nvPr/>
        </p:nvGraphicFramePr>
        <p:xfrm>
          <a:off x="457200" y="1371600"/>
          <a:ext cx="3000000" cy="3000000"/>
        </p:xfrm>
        <a:graphic>
          <a:graphicData uri="http://schemas.openxmlformats.org/drawingml/2006/table">
            <a:tbl>
              <a:tblPr>
                <a:noFill/>
                <a:tableStyleId>{BE657B40-FC4D-442C-877C-31F0D8B13DA2}</a:tableStyleId>
              </a:tblPr>
              <a:tblGrid>
                <a:gridCol w="2560325"/>
                <a:gridCol w="3108950"/>
                <a:gridCol w="3108950"/>
                <a:gridCol w="2468875"/>
              </a:tblGrid>
              <a:tr h="356625">
                <a:tc>
                  <a:txBody>
                    <a:bodyPr/>
                    <a:lstStyle/>
                    <a:p>
                      <a:pPr indent="0" lvl="0" marL="0" marR="0" rtl="0" algn="l">
                        <a:spcBef>
                          <a:spcPts val="0"/>
                        </a:spcBef>
                        <a:spcAft>
                          <a:spcPts val="0"/>
                        </a:spcAft>
                        <a:buClr>
                          <a:srgbClr val="FFFFFF"/>
                        </a:buClr>
                        <a:buSzPts val="1050"/>
                        <a:buFont typeface="Calibri"/>
                        <a:buNone/>
                      </a:pPr>
                      <a:r>
                        <a:rPr b="1" lang="en-US" sz="1550" u="none" cap="none" strike="noStrike">
                          <a:solidFill>
                            <a:srgbClr val="FFFFFF"/>
                          </a:solidFill>
                          <a:latin typeface="Calibri"/>
                          <a:ea typeface="Calibri"/>
                          <a:cs typeface="Calibri"/>
                          <a:sym typeface="Calibri"/>
                        </a:rPr>
                        <a:t>Feature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A3A"/>
                    </a:solidFill>
                  </a:tcPr>
                </a:tc>
                <a:tc>
                  <a:txBody>
                    <a:bodyPr/>
                    <a:lstStyle/>
                    <a:p>
                      <a:pPr indent="0" lvl="0" marL="0" marR="0" rtl="0" algn="l">
                        <a:spcBef>
                          <a:spcPts val="0"/>
                        </a:spcBef>
                        <a:spcAft>
                          <a:spcPts val="0"/>
                        </a:spcAft>
                        <a:buClr>
                          <a:srgbClr val="FFFFFF"/>
                        </a:buClr>
                        <a:buSzPts val="1050"/>
                        <a:buFont typeface="Calibri"/>
                        <a:buNone/>
                      </a:pPr>
                      <a:r>
                        <a:rPr b="1" lang="en-US" sz="1550" u="none" cap="none" strike="noStrike">
                          <a:solidFill>
                            <a:srgbClr val="FFFFFF"/>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A3A"/>
                    </a:solidFill>
                  </a:tcPr>
                </a:tc>
                <a:tc>
                  <a:txBody>
                    <a:bodyPr/>
                    <a:lstStyle/>
                    <a:p>
                      <a:pPr indent="0" lvl="0" marL="0" marR="0" rtl="0" algn="l">
                        <a:spcBef>
                          <a:spcPts val="0"/>
                        </a:spcBef>
                        <a:spcAft>
                          <a:spcPts val="0"/>
                        </a:spcAft>
                        <a:buClr>
                          <a:srgbClr val="FFFFFF"/>
                        </a:buClr>
                        <a:buSzPts val="1050"/>
                        <a:buFont typeface="Calibri"/>
                        <a:buNone/>
                      </a:pPr>
                      <a:r>
                        <a:rPr b="1" lang="en-US" sz="1550" u="none" cap="none" strike="noStrike">
                          <a:solidFill>
                            <a:srgbClr val="FFFFFF"/>
                          </a:solidFill>
                          <a:latin typeface="Calibri"/>
                          <a:ea typeface="Calibri"/>
                          <a:cs typeface="Calibri"/>
                          <a:sym typeface="Calibri"/>
                        </a:rPr>
                        <a:t>Raw Talent</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A3A"/>
                    </a:solidFill>
                  </a:tcPr>
                </a:tc>
                <a:tc>
                  <a:txBody>
                    <a:bodyPr/>
                    <a:lstStyle/>
                    <a:p>
                      <a:pPr indent="0" lvl="0" marL="0" marR="0" rtl="0" algn="l">
                        <a:spcBef>
                          <a:spcPts val="0"/>
                        </a:spcBef>
                        <a:spcAft>
                          <a:spcPts val="0"/>
                        </a:spcAft>
                        <a:buClr>
                          <a:srgbClr val="FFFFFF"/>
                        </a:buClr>
                        <a:buSzPts val="1050"/>
                        <a:buFont typeface="Calibri"/>
                        <a:buNone/>
                      </a:pPr>
                      <a:r>
                        <a:rPr b="1" lang="en-US" sz="1550" u="none" cap="none" strike="noStrike">
                          <a:solidFill>
                            <a:srgbClr val="FFFFFF"/>
                          </a:solidFill>
                          <a:latin typeface="Calibri"/>
                          <a:ea typeface="Calibri"/>
                          <a:cs typeface="Calibri"/>
                          <a:sym typeface="Calibri"/>
                        </a:rPr>
                        <a:t>Advantage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A3A"/>
                    </a:solidFill>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Founded / Experience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2018 — 8 years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20</a:t>
                      </a:r>
                      <a:r>
                        <a:rPr lang="en-US" sz="1550">
                          <a:solidFill>
                            <a:srgbClr val="334155"/>
                          </a:solidFill>
                          <a:latin typeface="Calibri"/>
                          <a:ea typeface="Calibri"/>
                          <a:cs typeface="Calibri"/>
                          <a:sym typeface="Calibri"/>
                        </a:rPr>
                        <a:t>16</a:t>
                      </a:r>
                      <a:r>
                        <a:rPr lang="en-US" sz="1550" u="none" cap="none" strike="noStrike">
                          <a:solidFill>
                            <a:srgbClr val="334155"/>
                          </a:solidFill>
                          <a:latin typeface="Calibri"/>
                          <a:ea typeface="Calibri"/>
                          <a:cs typeface="Calibri"/>
                          <a:sym typeface="Calibri"/>
                        </a:rPr>
                        <a:t> — </a:t>
                      </a:r>
                      <a:r>
                        <a:rPr lang="en-US" sz="1550">
                          <a:solidFill>
                            <a:srgbClr val="334155"/>
                          </a:solidFill>
                          <a:latin typeface="Calibri"/>
                          <a:ea typeface="Calibri"/>
                          <a:cs typeface="Calibri"/>
                          <a:sym typeface="Calibri"/>
                        </a:rPr>
                        <a:t>10</a:t>
                      </a:r>
                      <a:r>
                        <a:rPr lang="en-US" sz="1550" u="none" cap="none" strike="noStrike">
                          <a:solidFill>
                            <a:srgbClr val="334155"/>
                          </a:solidFill>
                          <a:latin typeface="Calibri"/>
                          <a:ea typeface="Calibri"/>
                          <a:cs typeface="Calibri"/>
                          <a:sym typeface="Calibri"/>
                        </a:rPr>
                        <a:t> years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ctr">
                        <a:spcBef>
                          <a:spcPts val="0"/>
                        </a:spcBef>
                        <a:spcAft>
                          <a:spcPts val="0"/>
                        </a:spcAft>
                        <a:buClr>
                          <a:srgbClr val="27AE60"/>
                        </a:buClr>
                        <a:buSzPts val="1050"/>
                        <a:buFont typeface="Calibri"/>
                        <a:buNone/>
                      </a:pPr>
                      <a:r>
                        <a:rPr b="1" lang="en-US" sz="1550">
                          <a:solidFill>
                            <a:srgbClr val="27AE60"/>
                          </a:solidFill>
                          <a:latin typeface="Calibri"/>
                          <a:ea typeface="Calibri"/>
                          <a:cs typeface="Calibri"/>
                          <a:sym typeface="Calibri"/>
                        </a:rPr>
                        <a:t>Raw Talent</a:t>
                      </a:r>
                      <a:endParaRPr b="1" sz="1550">
                        <a:solidFill>
                          <a:srgbClr val="E14B4B"/>
                        </a:solidFill>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Business model</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2 models: Connect + Casual Hire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1 model: Agency only</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National reach</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All states and territories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SA and VIC only</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SA market depth</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Limited — based in NSW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Strong — Edge partnership</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7AE60"/>
                        </a:buClr>
                        <a:buSzPts val="1050"/>
                        <a:buFont typeface="Calibri"/>
                        <a:buNone/>
                      </a:pPr>
                      <a:r>
                        <a:rPr b="1" lang="en-US" sz="1550" u="none" cap="none" strike="noStrike">
                          <a:solidFill>
                            <a:srgbClr val="27AE60"/>
                          </a:solidFill>
                          <a:latin typeface="Calibri"/>
                          <a:ea typeface="Calibri"/>
                          <a:cs typeface="Calibri"/>
                          <a:sym typeface="Calibri"/>
                        </a:rPr>
                        <a:t>Raw Talent</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WRP optimisation</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Connect model built around WRP</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Toggle available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Flat Booking fee option</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$30/shift (Connect model)</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No — agency rate only</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Payroll automation</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Employment Hero integration</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a:solidFill>
                            <a:srgbClr val="334155"/>
                          </a:solidFill>
                          <a:latin typeface="Calibri"/>
                          <a:ea typeface="Calibri"/>
                          <a:cs typeface="Calibri"/>
                          <a:sym typeface="Calibri"/>
                        </a:rPr>
                        <a:t>Employment Hero</a:t>
                      </a:r>
                      <a:r>
                        <a:rPr lang="en-US" sz="1550" u="none" cap="none" strike="noStrike">
                          <a:solidFill>
                            <a:srgbClr val="334155"/>
                          </a:solidFill>
                          <a:latin typeface="Calibri"/>
                          <a:ea typeface="Calibri"/>
                          <a:cs typeface="Calibri"/>
                          <a:sym typeface="Calibri"/>
                        </a:rPr>
                        <a:t> processing</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ctr">
                        <a:spcBef>
                          <a:spcPts val="0"/>
                        </a:spcBef>
                        <a:spcAft>
                          <a:spcPts val="0"/>
                        </a:spcAft>
                        <a:buClr>
                          <a:srgbClr val="27AE60"/>
                        </a:buClr>
                        <a:buSzPts val="1050"/>
                        <a:buFont typeface="Calibri"/>
                        <a:buNone/>
                      </a:pPr>
                      <a:r>
                        <a:rPr b="1" lang="en-US" sz="1550">
                          <a:solidFill>
                            <a:srgbClr val="27AE60"/>
                          </a:solidFill>
                          <a:latin typeface="Calibri"/>
                          <a:ea typeface="Calibri"/>
                          <a:cs typeface="Calibri"/>
                          <a:sym typeface="Calibri"/>
                        </a:rPr>
                        <a:t>Raw Talent</a:t>
                      </a:r>
                      <a:endParaRPr b="1" sz="1550">
                        <a:solidFill>
                          <a:srgbClr val="E14B4B"/>
                        </a:solidFill>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Compliance tracking</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Automated real-time alerts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Manual review process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Personal relationships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Remote, national scale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Liam's centre visits — SA</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7AE60"/>
                        </a:buClr>
                        <a:buSzPts val="1050"/>
                        <a:buFont typeface="Calibri"/>
                        <a:buNone/>
                      </a:pPr>
                      <a:r>
                        <a:rPr b="1" lang="en-US" sz="1550" u="none" cap="none" strike="noStrike">
                          <a:solidFill>
                            <a:srgbClr val="27AE60"/>
                          </a:solidFill>
                          <a:latin typeface="Calibri"/>
                          <a:ea typeface="Calibri"/>
                          <a:cs typeface="Calibri"/>
                          <a:sym typeface="Calibri"/>
                        </a:rPr>
                        <a:t>Raw Talent</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Edge SA partnership</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No known partnership</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CONFIRMED primary agency</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7AE60"/>
                        </a:buClr>
                        <a:buSzPts val="1050"/>
                        <a:buFont typeface="Calibri"/>
                        <a:buNone/>
                      </a:pPr>
                      <a:r>
                        <a:rPr b="1" lang="en-US" sz="1550" u="none" cap="none" strike="noStrike">
                          <a:solidFill>
                            <a:srgbClr val="27AE60"/>
                          </a:solidFill>
                          <a:latin typeface="Calibri"/>
                          <a:ea typeface="Calibri"/>
                          <a:cs typeface="Calibri"/>
                          <a:sym typeface="Calibri"/>
                        </a:rPr>
                        <a:t>Raw Talent</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56625">
                <a:tc>
                  <a:txBody>
                    <a:bodyPr/>
                    <a:lstStyle/>
                    <a:p>
                      <a:pPr indent="0" lvl="0" marL="0" marR="0" rtl="0" algn="l">
                        <a:spcBef>
                          <a:spcPts val="0"/>
                        </a:spcBef>
                        <a:spcAft>
                          <a:spcPts val="0"/>
                        </a:spcAft>
                        <a:buClr>
                          <a:srgbClr val="1E2A3A"/>
                        </a:buClr>
                        <a:buSzPts val="1050"/>
                        <a:buFont typeface="Calibri"/>
                        <a:buNone/>
                      </a:pPr>
                      <a:r>
                        <a:rPr b="1" lang="en-US" sz="1550" u="none" cap="none" strike="noStrike">
                          <a:solidFill>
                            <a:srgbClr val="1E2A3A"/>
                          </a:solidFill>
                          <a:latin typeface="Calibri"/>
                          <a:ea typeface="Calibri"/>
                          <a:cs typeface="Calibri"/>
                          <a:sym typeface="Calibri"/>
                        </a:rPr>
                        <a:t>Pay rate competitiveness</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~$44/hr (est. Casual Hire)</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50"/>
                        <a:buFont typeface="Calibri"/>
                        <a:buNone/>
                      </a:pPr>
                      <a:r>
                        <a:rPr lang="en-US" sz="1550" u="none" cap="none" strike="noStrike">
                          <a:solidFill>
                            <a:srgbClr val="334155"/>
                          </a:solidFill>
                          <a:latin typeface="Calibri"/>
                          <a:ea typeface="Calibri"/>
                          <a:cs typeface="Calibri"/>
                          <a:sym typeface="Calibri"/>
                        </a:rPr>
                        <a:t>~$42/hr (gap = $4–5)</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E14B4B"/>
                        </a:buClr>
                        <a:buSzPts val="1050"/>
                        <a:buFont typeface="Calibri"/>
                        <a:buNone/>
                      </a:pPr>
                      <a:r>
                        <a:rPr b="1" lang="en-US" sz="1550" u="none" cap="none" strike="noStrike">
                          <a:solidFill>
                            <a:srgbClr val="E14B4B"/>
                          </a:solidFill>
                          <a:latin typeface="Calibri"/>
                          <a:ea typeface="Calibri"/>
                          <a:cs typeface="Calibri"/>
                          <a:sym typeface="Calibri"/>
                        </a:rPr>
                        <a:t>TalentNow</a:t>
                      </a:r>
                      <a:endParaRPr sz="155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
        <p:nvSpPr>
          <p:cNvPr id="261" name="Google Shape;261;p8"/>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TalentNow.com.au | LinkedIn company profile (Talent Now) | Raw Talent internal data | Edge SA partnership confirmed June 2026 | Joy Victoria analysis, June 2026. Note: TalentNow Casual Hire rate is estimated as exact pricing is not publicly disclosed.</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g3ec350409d6_0_0"/>
          <p:cNvSpPr/>
          <p:nvPr/>
        </p:nvSpPr>
        <p:spPr>
          <a:xfrm>
            <a:off x="457200" y="256032"/>
            <a:ext cx="2194500" cy="292500"/>
          </a:xfrm>
          <a:prstGeom prst="roundRect">
            <a:avLst>
              <a:gd fmla="val 18750" name="adj"/>
            </a:avLst>
          </a:prstGeom>
          <a:solidFill>
            <a:srgbClr val="1E2A3A"/>
          </a:solidFill>
          <a:ln cap="flat" cmpd="sng" w="12700">
            <a:solidFill>
              <a:srgbClr val="1E2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ec350409d6_0_0"/>
          <p:cNvSpPr/>
          <p:nvPr/>
        </p:nvSpPr>
        <p:spPr>
          <a:xfrm>
            <a:off x="457200" y="256032"/>
            <a:ext cx="2194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FEATURE COMPARISON</a:t>
            </a:r>
            <a:endParaRPr b="0" i="0" sz="850" u="none" cap="none" strike="noStrike">
              <a:solidFill>
                <a:schemeClr val="dk1"/>
              </a:solidFill>
              <a:latin typeface="Calibri"/>
              <a:ea typeface="Calibri"/>
              <a:cs typeface="Calibri"/>
              <a:sym typeface="Calibri"/>
            </a:endParaRPr>
          </a:p>
        </p:txBody>
      </p:sp>
      <p:sp>
        <p:nvSpPr>
          <p:cNvPr id="269" name="Google Shape;269;g3ec350409d6_0_0"/>
          <p:cNvSpPr/>
          <p:nvPr/>
        </p:nvSpPr>
        <p:spPr>
          <a:xfrm>
            <a:off x="457200" y="640080"/>
            <a:ext cx="11247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Raw Talent — </a:t>
            </a:r>
            <a:r>
              <a:rPr b="1" lang="en-US" sz="3000">
                <a:solidFill>
                  <a:srgbClr val="1E2A3A"/>
                </a:solidFill>
                <a:latin typeface="Cambria"/>
                <a:ea typeface="Cambria"/>
                <a:cs typeface="Cambria"/>
                <a:sym typeface="Cambria"/>
              </a:rPr>
              <a:t>Online Calculator</a:t>
            </a:r>
            <a:endParaRPr b="0" i="0" sz="3000" u="none" cap="none" strike="noStrike">
              <a:solidFill>
                <a:schemeClr val="dk1"/>
              </a:solidFill>
              <a:latin typeface="Calibri"/>
              <a:ea typeface="Calibri"/>
              <a:cs typeface="Calibri"/>
              <a:sym typeface="Calibri"/>
            </a:endParaRPr>
          </a:p>
        </p:txBody>
      </p:sp>
      <p:sp>
        <p:nvSpPr>
          <p:cNvPr id="270" name="Google Shape;270;g3ec350409d6_0_0"/>
          <p:cNvSpPr/>
          <p:nvPr/>
        </p:nvSpPr>
        <p:spPr>
          <a:xfrm>
            <a:off x="365760" y="6510528"/>
            <a:ext cx="11430000" cy="2559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Sources: TalentNow.com.au | LinkedIn company profile (Talent Now) | Raw Talent internal data | Edge SA partnership confirmed June 2026 | Joy Victoria analysis, June 2026. Note: TalentNow Casual Hire rate is estimated as exact pricing is not publicly disclosed.</a:t>
            </a:r>
            <a:endParaRPr b="0" i="0" sz="750" u="none" cap="none" strike="noStrike">
              <a:solidFill>
                <a:schemeClr val="dk1"/>
              </a:solidFill>
              <a:latin typeface="Calibri"/>
              <a:ea typeface="Calibri"/>
              <a:cs typeface="Calibri"/>
              <a:sym typeface="Calibri"/>
            </a:endParaRPr>
          </a:p>
        </p:txBody>
      </p:sp>
      <p:pic>
        <p:nvPicPr>
          <p:cNvPr id="271" name="Google Shape;271;g3ec350409d6_0_0"/>
          <p:cNvPicPr preferRelativeResize="0"/>
          <p:nvPr/>
        </p:nvPicPr>
        <p:blipFill>
          <a:blip r:embed="rId3">
            <a:alphaModFix/>
          </a:blip>
          <a:stretch>
            <a:fillRect/>
          </a:stretch>
        </p:blipFill>
        <p:spPr>
          <a:xfrm>
            <a:off x="457200" y="1325930"/>
            <a:ext cx="5448631" cy="4971348"/>
          </a:xfrm>
          <a:prstGeom prst="rect">
            <a:avLst/>
          </a:prstGeom>
          <a:noFill/>
          <a:ln>
            <a:noFill/>
          </a:ln>
        </p:spPr>
      </p:pic>
      <p:pic>
        <p:nvPicPr>
          <p:cNvPr id="272" name="Google Shape;272;g3ec350409d6_0_0"/>
          <p:cNvPicPr preferRelativeResize="0"/>
          <p:nvPr/>
        </p:nvPicPr>
        <p:blipFill>
          <a:blip r:embed="rId4">
            <a:alphaModFix/>
          </a:blip>
          <a:stretch>
            <a:fillRect/>
          </a:stretch>
        </p:blipFill>
        <p:spPr>
          <a:xfrm>
            <a:off x="7229356" y="1325930"/>
            <a:ext cx="4474834" cy="4971348"/>
          </a:xfrm>
          <a:prstGeom prst="rect">
            <a:avLst/>
          </a:prstGeom>
          <a:noFill/>
          <a:ln>
            <a:noFill/>
          </a:ln>
        </p:spPr>
      </p:pic>
      <p:cxnSp>
        <p:nvCxnSpPr>
          <p:cNvPr id="273" name="Google Shape;273;g3ec350409d6_0_0"/>
          <p:cNvCxnSpPr/>
          <p:nvPr/>
        </p:nvCxnSpPr>
        <p:spPr>
          <a:xfrm>
            <a:off x="6753400" y="1157950"/>
            <a:ext cx="0" cy="5162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9"/>
          <p:cNvSpPr/>
          <p:nvPr/>
        </p:nvSpPr>
        <p:spPr>
          <a:xfrm>
            <a:off x="457200" y="256032"/>
            <a:ext cx="2194560" cy="292608"/>
          </a:xfrm>
          <a:prstGeom prst="roundRect">
            <a:avLst>
              <a:gd fmla="val 18750" name="adj"/>
            </a:avLst>
          </a:prstGeom>
          <a:solidFill>
            <a:srgbClr val="E14B4B"/>
          </a:solidFill>
          <a:ln cap="flat" cmpd="sng" w="12700">
            <a:solidFill>
              <a:srgbClr val="E14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COMPETITIVE ANALYSIS</a:t>
            </a:r>
            <a:endParaRPr b="0" i="0" sz="850" u="none" cap="none" strike="noStrike">
              <a:solidFill>
                <a:schemeClr val="dk1"/>
              </a:solidFill>
              <a:latin typeface="Calibri"/>
              <a:ea typeface="Calibri"/>
              <a:cs typeface="Calibri"/>
              <a:sym typeface="Calibri"/>
            </a:endParaRPr>
          </a:p>
        </p:txBody>
      </p:sp>
      <p:sp>
        <p:nvSpPr>
          <p:cNvPr id="281" name="Google Shape;281;p9"/>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Where TalentNow Beats Raw Talent — Right Now</a:t>
            </a:r>
            <a:endParaRPr b="0" i="0" sz="3000" u="none" cap="none" strike="noStrike">
              <a:solidFill>
                <a:schemeClr val="dk1"/>
              </a:solidFill>
              <a:latin typeface="Calibri"/>
              <a:ea typeface="Calibri"/>
              <a:cs typeface="Calibri"/>
              <a:sym typeface="Calibri"/>
            </a:endParaRPr>
          </a:p>
        </p:txBody>
      </p:sp>
      <p:sp>
        <p:nvSpPr>
          <p:cNvPr id="282" name="Google Shape;282;p9"/>
          <p:cNvSpPr/>
          <p:nvPr/>
        </p:nvSpPr>
        <p:spPr>
          <a:xfrm>
            <a:off x="457200" y="141732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83" name="Google Shape;283;p9"/>
          <p:cNvSpPr/>
          <p:nvPr/>
        </p:nvSpPr>
        <p:spPr>
          <a:xfrm>
            <a:off x="62179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01</a:t>
            </a:r>
            <a:endParaRPr b="0" i="0" sz="2800" u="none" cap="none" strike="noStrike">
              <a:solidFill>
                <a:schemeClr val="dk1"/>
              </a:solidFill>
              <a:latin typeface="Calibri"/>
              <a:ea typeface="Calibri"/>
              <a:cs typeface="Calibri"/>
              <a:sym typeface="Calibri"/>
            </a:endParaRPr>
          </a:p>
        </p:txBody>
      </p:sp>
      <p:sp>
        <p:nvSpPr>
          <p:cNvPr id="284" name="Google Shape;284;p9"/>
          <p:cNvSpPr/>
          <p:nvPr/>
        </p:nvSpPr>
        <p:spPr>
          <a:xfrm>
            <a:off x="117043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WRP-Native Connect Model</a:t>
            </a:r>
            <a:endParaRPr b="0" i="0" sz="1800" u="none" cap="none" strike="noStrike">
              <a:solidFill>
                <a:schemeClr val="dk1"/>
              </a:solidFill>
              <a:latin typeface="Calibri"/>
              <a:ea typeface="Calibri"/>
              <a:cs typeface="Calibri"/>
              <a:sym typeface="Calibri"/>
            </a:endParaRPr>
          </a:p>
        </p:txBody>
      </p:sp>
      <p:sp>
        <p:nvSpPr>
          <p:cNvPr id="285" name="Google Shape;285;p9"/>
          <p:cNvSpPr/>
          <p:nvPr/>
        </p:nvSpPr>
        <p:spPr>
          <a:xfrm>
            <a:off x="62179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$30/shift flat fee with centre as employer. Educators get WRP without agency involvement. Unbeatable cost structure for price-sensitive centres.</a:t>
            </a:r>
            <a:endParaRPr b="0" i="0" sz="1500" u="none" cap="none" strike="noStrike">
              <a:solidFill>
                <a:schemeClr val="dk1"/>
              </a:solidFill>
              <a:latin typeface="Calibri"/>
              <a:ea typeface="Calibri"/>
              <a:cs typeface="Calibri"/>
              <a:sym typeface="Calibri"/>
            </a:endParaRPr>
          </a:p>
        </p:txBody>
      </p:sp>
      <p:sp>
        <p:nvSpPr>
          <p:cNvPr id="286" name="Google Shape;286;p9"/>
          <p:cNvSpPr/>
          <p:nvPr/>
        </p:nvSpPr>
        <p:spPr>
          <a:xfrm>
            <a:off x="4297680" y="141732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87" name="Google Shape;287;p9"/>
          <p:cNvSpPr/>
          <p:nvPr/>
        </p:nvSpPr>
        <p:spPr>
          <a:xfrm>
            <a:off x="446227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02</a:t>
            </a:r>
            <a:endParaRPr b="0" i="0" sz="2800" u="none" cap="none" strike="noStrike">
              <a:solidFill>
                <a:schemeClr val="dk1"/>
              </a:solidFill>
              <a:latin typeface="Calibri"/>
              <a:ea typeface="Calibri"/>
              <a:cs typeface="Calibri"/>
              <a:sym typeface="Calibri"/>
            </a:endParaRPr>
          </a:p>
        </p:txBody>
      </p:sp>
      <p:sp>
        <p:nvSpPr>
          <p:cNvPr id="288" name="Google Shape;288;p9"/>
          <p:cNvSpPr/>
          <p:nvPr/>
        </p:nvSpPr>
        <p:spPr>
          <a:xfrm>
            <a:off x="501091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8 Years of Technology</a:t>
            </a:r>
            <a:endParaRPr b="0" i="0" sz="1800" u="none" cap="none" strike="noStrike">
              <a:solidFill>
                <a:schemeClr val="dk1"/>
              </a:solidFill>
              <a:latin typeface="Calibri"/>
              <a:ea typeface="Calibri"/>
              <a:cs typeface="Calibri"/>
              <a:sym typeface="Calibri"/>
            </a:endParaRPr>
          </a:p>
        </p:txBody>
      </p:sp>
      <p:sp>
        <p:nvSpPr>
          <p:cNvPr id="289" name="Google Shape;289;p9"/>
          <p:cNvSpPr/>
          <p:nvPr/>
        </p:nvSpPr>
        <p:spPr>
          <a:xfrm>
            <a:off x="446227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Automated compliance tracking, Employment Hero payroll integration, educator ratings, real-time shift matching. RT is 4–5 years behind on platform maturity.</a:t>
            </a:r>
            <a:endParaRPr b="0" i="0" sz="1500" u="none" cap="none" strike="noStrike">
              <a:solidFill>
                <a:schemeClr val="dk1"/>
              </a:solidFill>
              <a:latin typeface="Calibri"/>
              <a:ea typeface="Calibri"/>
              <a:cs typeface="Calibri"/>
              <a:sym typeface="Calibri"/>
            </a:endParaRPr>
          </a:p>
        </p:txBody>
      </p:sp>
      <p:sp>
        <p:nvSpPr>
          <p:cNvPr id="290" name="Google Shape;290;p9"/>
          <p:cNvSpPr/>
          <p:nvPr/>
        </p:nvSpPr>
        <p:spPr>
          <a:xfrm>
            <a:off x="8138160" y="141732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91" name="Google Shape;291;p9"/>
          <p:cNvSpPr/>
          <p:nvPr/>
        </p:nvSpPr>
        <p:spPr>
          <a:xfrm>
            <a:off x="830275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03</a:t>
            </a:r>
            <a:endParaRPr b="0" i="0" sz="2800" u="none" cap="none" strike="noStrike">
              <a:solidFill>
                <a:schemeClr val="dk1"/>
              </a:solidFill>
              <a:latin typeface="Calibri"/>
              <a:ea typeface="Calibri"/>
              <a:cs typeface="Calibri"/>
              <a:sym typeface="Calibri"/>
            </a:endParaRPr>
          </a:p>
        </p:txBody>
      </p:sp>
      <p:sp>
        <p:nvSpPr>
          <p:cNvPr id="292" name="Google Shape;292;p9"/>
          <p:cNvSpPr/>
          <p:nvPr/>
        </p:nvSpPr>
        <p:spPr>
          <a:xfrm>
            <a:off x="885139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National Educator Pool</a:t>
            </a:r>
            <a:endParaRPr b="0" i="0" sz="1800" u="none" cap="none" strike="noStrike">
              <a:solidFill>
                <a:schemeClr val="dk1"/>
              </a:solidFill>
              <a:latin typeface="Calibri"/>
              <a:ea typeface="Calibri"/>
              <a:cs typeface="Calibri"/>
              <a:sym typeface="Calibri"/>
            </a:endParaRPr>
          </a:p>
        </p:txBody>
      </p:sp>
      <p:sp>
        <p:nvSpPr>
          <p:cNvPr id="293" name="Google Shape;293;p9"/>
          <p:cNvSpPr/>
          <p:nvPr/>
        </p:nvSpPr>
        <p:spPr>
          <a:xfrm>
            <a:off x="830275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Thousands of screened educators across all states. RT's pool is limited to SA and VIC — a vulnerability if Edge expands interstate.</a:t>
            </a:r>
            <a:endParaRPr b="0" i="0" sz="1500" u="none" cap="none" strike="noStrike">
              <a:solidFill>
                <a:schemeClr val="dk1"/>
              </a:solidFill>
              <a:latin typeface="Calibri"/>
              <a:ea typeface="Calibri"/>
              <a:cs typeface="Calibri"/>
              <a:sym typeface="Calibri"/>
            </a:endParaRPr>
          </a:p>
        </p:txBody>
      </p:sp>
      <p:sp>
        <p:nvSpPr>
          <p:cNvPr id="294" name="Google Shape;294;p9"/>
          <p:cNvSpPr/>
          <p:nvPr/>
        </p:nvSpPr>
        <p:spPr>
          <a:xfrm>
            <a:off x="457200" y="342900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95" name="Google Shape;295;p9"/>
          <p:cNvSpPr/>
          <p:nvPr/>
        </p:nvSpPr>
        <p:spPr>
          <a:xfrm>
            <a:off x="62179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04</a:t>
            </a:r>
            <a:endParaRPr b="0" i="0" sz="2800" u="none" cap="none" strike="noStrike">
              <a:solidFill>
                <a:schemeClr val="dk1"/>
              </a:solidFill>
              <a:latin typeface="Calibri"/>
              <a:ea typeface="Calibri"/>
              <a:cs typeface="Calibri"/>
              <a:sym typeface="Calibri"/>
            </a:endParaRPr>
          </a:p>
        </p:txBody>
      </p:sp>
      <p:sp>
        <p:nvSpPr>
          <p:cNvPr id="296" name="Google Shape;296;p9"/>
          <p:cNvSpPr/>
          <p:nvPr/>
        </p:nvSpPr>
        <p:spPr>
          <a:xfrm>
            <a:off x="117043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Automated Compliance Tracking</a:t>
            </a:r>
            <a:endParaRPr b="0" i="0" sz="1800" u="none" cap="none" strike="noStrike">
              <a:solidFill>
                <a:schemeClr val="dk1"/>
              </a:solidFill>
              <a:latin typeface="Calibri"/>
              <a:ea typeface="Calibri"/>
              <a:cs typeface="Calibri"/>
              <a:sym typeface="Calibri"/>
            </a:endParaRPr>
          </a:p>
        </p:txBody>
      </p:sp>
      <p:sp>
        <p:nvSpPr>
          <p:cNvPr id="297" name="Google Shape;297;p9"/>
          <p:cNvSpPr/>
          <p:nvPr/>
        </p:nvSpPr>
        <p:spPr>
          <a:xfrm>
            <a:off x="62179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TalentNow tracks document expiry dates in real-time and alerts educators automatically. RT does this manually — creating deployment risk.</a:t>
            </a:r>
            <a:endParaRPr b="0" i="0" sz="1500" u="none" cap="none" strike="noStrike">
              <a:solidFill>
                <a:schemeClr val="dk1"/>
              </a:solidFill>
              <a:latin typeface="Calibri"/>
              <a:ea typeface="Calibri"/>
              <a:cs typeface="Calibri"/>
              <a:sym typeface="Calibri"/>
            </a:endParaRPr>
          </a:p>
        </p:txBody>
      </p:sp>
      <p:sp>
        <p:nvSpPr>
          <p:cNvPr id="298" name="Google Shape;298;p9"/>
          <p:cNvSpPr/>
          <p:nvPr/>
        </p:nvSpPr>
        <p:spPr>
          <a:xfrm>
            <a:off x="4297680" y="342900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99" name="Google Shape;299;p9"/>
          <p:cNvSpPr/>
          <p:nvPr/>
        </p:nvSpPr>
        <p:spPr>
          <a:xfrm>
            <a:off x="446227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05</a:t>
            </a:r>
            <a:endParaRPr b="0" i="0" sz="2800" u="none" cap="none" strike="noStrike">
              <a:solidFill>
                <a:schemeClr val="dk1"/>
              </a:solidFill>
              <a:latin typeface="Calibri"/>
              <a:ea typeface="Calibri"/>
              <a:cs typeface="Calibri"/>
              <a:sym typeface="Calibri"/>
            </a:endParaRPr>
          </a:p>
        </p:txBody>
      </p:sp>
      <p:sp>
        <p:nvSpPr>
          <p:cNvPr id="300" name="Google Shape;300;p9"/>
          <p:cNvSpPr/>
          <p:nvPr/>
        </p:nvSpPr>
        <p:spPr>
          <a:xfrm>
            <a:off x="501091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Regulatory Thought Leadership</a:t>
            </a:r>
            <a:endParaRPr b="0" i="0" sz="1800" u="none" cap="none" strike="noStrike">
              <a:solidFill>
                <a:schemeClr val="dk1"/>
              </a:solidFill>
              <a:latin typeface="Calibri"/>
              <a:ea typeface="Calibri"/>
              <a:cs typeface="Calibri"/>
              <a:sym typeface="Calibri"/>
            </a:endParaRPr>
          </a:p>
        </p:txBody>
      </p:sp>
      <p:sp>
        <p:nvSpPr>
          <p:cNvPr id="301" name="Google Shape;301;p9"/>
          <p:cNvSpPr/>
          <p:nvPr/>
        </p:nvSpPr>
        <p:spPr>
          <a:xfrm>
            <a:off x="446227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Dedicated NCS Training 2026 guide, WRP wage change explainer published months ahead. RT has no equivalent. Centres see TalentNow as the compliance authority.</a:t>
            </a:r>
            <a:endParaRPr b="0" i="0" sz="1500" u="none" cap="none" strike="noStrike">
              <a:solidFill>
                <a:schemeClr val="dk1"/>
              </a:solidFill>
              <a:latin typeface="Calibri"/>
              <a:ea typeface="Calibri"/>
              <a:cs typeface="Calibri"/>
              <a:sym typeface="Calibri"/>
            </a:endParaRPr>
          </a:p>
        </p:txBody>
      </p:sp>
      <p:sp>
        <p:nvSpPr>
          <p:cNvPr id="302" name="Google Shape;302;p9"/>
          <p:cNvSpPr/>
          <p:nvPr/>
        </p:nvSpPr>
        <p:spPr>
          <a:xfrm>
            <a:off x="8138160" y="3429000"/>
            <a:ext cx="3566160" cy="1874520"/>
          </a:xfrm>
          <a:prstGeom prst="roundRect">
            <a:avLst>
              <a:gd fmla="val 4878" name="adj"/>
            </a:avLst>
          </a:prstGeom>
          <a:solidFill>
            <a:srgbClr val="FFF5F5"/>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03" name="Google Shape;303;p9"/>
          <p:cNvSpPr/>
          <p:nvPr/>
        </p:nvSpPr>
        <p:spPr>
          <a:xfrm>
            <a:off x="830275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2200"/>
              <a:buFont typeface="Cambria"/>
              <a:buNone/>
            </a:pPr>
            <a:r>
              <a:rPr b="1" i="0" lang="en-US" sz="2800" u="none" cap="none" strike="noStrike">
                <a:solidFill>
                  <a:srgbClr val="E14B4B"/>
                </a:solidFill>
                <a:latin typeface="Cambria"/>
                <a:ea typeface="Cambria"/>
                <a:cs typeface="Cambria"/>
                <a:sym typeface="Cambria"/>
              </a:rPr>
              <a:t>06</a:t>
            </a:r>
            <a:endParaRPr b="0" i="0" sz="2800" u="none" cap="none" strike="noStrike">
              <a:solidFill>
                <a:schemeClr val="dk1"/>
              </a:solidFill>
              <a:latin typeface="Calibri"/>
              <a:ea typeface="Calibri"/>
              <a:cs typeface="Calibri"/>
              <a:sym typeface="Calibri"/>
            </a:endParaRPr>
          </a:p>
        </p:txBody>
      </p:sp>
      <p:sp>
        <p:nvSpPr>
          <p:cNvPr id="304" name="Google Shape;304;p9"/>
          <p:cNvSpPr/>
          <p:nvPr/>
        </p:nvSpPr>
        <p:spPr>
          <a:xfrm>
            <a:off x="885139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Flat Fee Pricing Simplicity</a:t>
            </a:r>
            <a:endParaRPr b="0" i="0" sz="1800" u="none" cap="none" strike="noStrike">
              <a:solidFill>
                <a:schemeClr val="dk1"/>
              </a:solidFill>
              <a:latin typeface="Calibri"/>
              <a:ea typeface="Calibri"/>
              <a:cs typeface="Calibri"/>
              <a:sym typeface="Calibri"/>
            </a:endParaRPr>
          </a:p>
        </p:txBody>
      </p:sp>
      <p:sp>
        <p:nvSpPr>
          <p:cNvPr id="305" name="Google Shape;305;p9"/>
          <p:cNvSpPr/>
          <p:nvPr/>
        </p:nvSpPr>
        <p:spPr>
          <a:xfrm>
            <a:off x="830275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$30/shift regardless of qualification or duration. Simple, predictable, and cheap. RT's charge rate structure is more complex and less transparent to centres.</a:t>
            </a:r>
            <a:endParaRPr b="0" i="0" sz="1500" u="none" cap="none" strike="noStrike">
              <a:solidFill>
                <a:schemeClr val="dk1"/>
              </a:solidFill>
              <a:latin typeface="Calibri"/>
              <a:ea typeface="Calibri"/>
              <a:cs typeface="Calibri"/>
              <a:sym typeface="Calibri"/>
            </a:endParaRPr>
          </a:p>
        </p:txBody>
      </p:sp>
      <p:sp>
        <p:nvSpPr>
          <p:cNvPr id="306" name="Google Shape;306;p9"/>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 TalentNow.com.au | TheSector.com.au | ACECQA.gov.au | Employment Hero payroll integration (pilot Feb 2025) | Joy Victoria competitive analysis, June 2026</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10"/>
          <p:cNvSpPr/>
          <p:nvPr/>
        </p:nvSpPr>
        <p:spPr>
          <a:xfrm>
            <a:off x="457200" y="256032"/>
            <a:ext cx="2194560" cy="292608"/>
          </a:xfrm>
          <a:prstGeom prst="roundRect">
            <a:avLst>
              <a:gd fmla="val 18750" name="adj"/>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COMPETITIVE ANALYSIS</a:t>
            </a:r>
            <a:endParaRPr b="0" i="0" sz="850" u="none" cap="none" strike="noStrike">
              <a:solidFill>
                <a:schemeClr val="dk1"/>
              </a:solidFill>
              <a:latin typeface="Calibri"/>
              <a:ea typeface="Calibri"/>
              <a:cs typeface="Calibri"/>
              <a:sym typeface="Calibri"/>
            </a:endParaRPr>
          </a:p>
        </p:txBody>
      </p:sp>
      <p:sp>
        <p:nvSpPr>
          <p:cNvPr id="314" name="Google Shape;314;p10"/>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Where Raw Talent Has the Edge — SA Specific Advantages</a:t>
            </a:r>
            <a:endParaRPr b="0" i="0" sz="3000" u="none" cap="none" strike="noStrike">
              <a:solidFill>
                <a:schemeClr val="dk1"/>
              </a:solidFill>
              <a:latin typeface="Calibri"/>
              <a:ea typeface="Calibri"/>
              <a:cs typeface="Calibri"/>
              <a:sym typeface="Calibri"/>
            </a:endParaRPr>
          </a:p>
        </p:txBody>
      </p:sp>
      <p:sp>
        <p:nvSpPr>
          <p:cNvPr id="315" name="Google Shape;315;p10"/>
          <p:cNvSpPr/>
          <p:nvPr/>
        </p:nvSpPr>
        <p:spPr>
          <a:xfrm>
            <a:off x="457200" y="141732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16" name="Google Shape;316;p10"/>
          <p:cNvSpPr/>
          <p:nvPr/>
        </p:nvSpPr>
        <p:spPr>
          <a:xfrm>
            <a:off x="62179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01</a:t>
            </a:r>
            <a:endParaRPr b="0" i="0" sz="2200" u="none" cap="none" strike="noStrike">
              <a:solidFill>
                <a:schemeClr val="dk1"/>
              </a:solidFill>
              <a:latin typeface="Calibri"/>
              <a:ea typeface="Calibri"/>
              <a:cs typeface="Calibri"/>
              <a:sym typeface="Calibri"/>
            </a:endParaRPr>
          </a:p>
        </p:txBody>
      </p:sp>
      <p:sp>
        <p:nvSpPr>
          <p:cNvPr id="317" name="Google Shape;317;p10"/>
          <p:cNvSpPr/>
          <p:nvPr/>
        </p:nvSpPr>
        <p:spPr>
          <a:xfrm>
            <a:off x="117043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Edge SA — Confirmed Primary Agency</a:t>
            </a:r>
            <a:endParaRPr b="0" i="0" sz="1800" u="none" cap="none" strike="noStrike">
              <a:solidFill>
                <a:schemeClr val="dk1"/>
              </a:solidFill>
              <a:latin typeface="Calibri"/>
              <a:ea typeface="Calibri"/>
              <a:cs typeface="Calibri"/>
              <a:sym typeface="Calibri"/>
            </a:endParaRPr>
          </a:p>
        </p:txBody>
      </p:sp>
      <p:sp>
        <p:nvSpPr>
          <p:cNvPr id="318" name="Google Shape;318;p10"/>
          <p:cNvSpPr/>
          <p:nvPr/>
        </p:nvSpPr>
        <p:spPr>
          <a:xfrm>
            <a:off x="62179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TalentNow has no known Edge partnership. This is a captive centre base that gives RT guaranteed shift volume in SA. Protect this at all costs.</a:t>
            </a:r>
            <a:endParaRPr b="0" i="0" sz="1500" u="none" cap="none" strike="noStrike">
              <a:solidFill>
                <a:schemeClr val="dk1"/>
              </a:solidFill>
              <a:latin typeface="Calibri"/>
              <a:ea typeface="Calibri"/>
              <a:cs typeface="Calibri"/>
              <a:sym typeface="Calibri"/>
            </a:endParaRPr>
          </a:p>
        </p:txBody>
      </p:sp>
      <p:sp>
        <p:nvSpPr>
          <p:cNvPr id="319" name="Google Shape;319;p10"/>
          <p:cNvSpPr/>
          <p:nvPr/>
        </p:nvSpPr>
        <p:spPr>
          <a:xfrm>
            <a:off x="4297680" y="141732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0" name="Google Shape;320;p10"/>
          <p:cNvSpPr/>
          <p:nvPr/>
        </p:nvSpPr>
        <p:spPr>
          <a:xfrm>
            <a:off x="446227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02</a:t>
            </a:r>
            <a:endParaRPr b="0" i="0" sz="2200" u="none" cap="none" strike="noStrike">
              <a:solidFill>
                <a:schemeClr val="dk1"/>
              </a:solidFill>
              <a:latin typeface="Calibri"/>
              <a:ea typeface="Calibri"/>
              <a:cs typeface="Calibri"/>
              <a:sym typeface="Calibri"/>
            </a:endParaRPr>
          </a:p>
        </p:txBody>
      </p:sp>
      <p:sp>
        <p:nvSpPr>
          <p:cNvPr id="321" name="Google Shape;321;p10"/>
          <p:cNvSpPr/>
          <p:nvPr/>
        </p:nvSpPr>
        <p:spPr>
          <a:xfrm>
            <a:off x="501091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lang="en-US" sz="1800">
                <a:solidFill>
                  <a:srgbClr val="1E2A3A"/>
                </a:solidFill>
                <a:latin typeface="Calibri"/>
                <a:ea typeface="Calibri"/>
                <a:cs typeface="Calibri"/>
                <a:sym typeface="Calibri"/>
              </a:rPr>
              <a:t>P</a:t>
            </a:r>
            <a:r>
              <a:rPr b="1" lang="en-US" sz="1800">
                <a:solidFill>
                  <a:srgbClr val="1E2A3A"/>
                </a:solidFill>
                <a:latin typeface="Calibri"/>
                <a:ea typeface="Calibri"/>
                <a:cs typeface="Calibri"/>
                <a:sym typeface="Calibri"/>
              </a:rPr>
              <a:t>ersonal</a:t>
            </a:r>
            <a:r>
              <a:rPr b="1" i="0" lang="en-US" sz="1800" u="none" cap="none" strike="noStrike">
                <a:solidFill>
                  <a:srgbClr val="1E2A3A"/>
                </a:solidFill>
                <a:latin typeface="Calibri"/>
                <a:ea typeface="Calibri"/>
                <a:cs typeface="Calibri"/>
                <a:sym typeface="Calibri"/>
              </a:rPr>
              <a:t> Centre Relationships</a:t>
            </a:r>
            <a:endParaRPr b="0" i="0" sz="1800" u="none" cap="none" strike="noStrike">
              <a:solidFill>
                <a:schemeClr val="dk1"/>
              </a:solidFill>
              <a:latin typeface="Calibri"/>
              <a:ea typeface="Calibri"/>
              <a:cs typeface="Calibri"/>
              <a:sym typeface="Calibri"/>
            </a:endParaRPr>
          </a:p>
        </p:txBody>
      </p:sp>
      <p:sp>
        <p:nvSpPr>
          <p:cNvPr id="322" name="Google Shape;322;p10"/>
          <p:cNvSpPr/>
          <p:nvPr/>
        </p:nvSpPr>
        <p:spPr>
          <a:xfrm>
            <a:off x="446227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SA centre directors know Liam personally. A national agency based in NSW cannot replicate this trust. These relationships are RT's most defensible asset.</a:t>
            </a:r>
            <a:endParaRPr b="0" i="0" sz="1500" u="none" cap="none" strike="noStrike">
              <a:solidFill>
                <a:schemeClr val="dk1"/>
              </a:solidFill>
              <a:latin typeface="Calibri"/>
              <a:ea typeface="Calibri"/>
              <a:cs typeface="Calibri"/>
              <a:sym typeface="Calibri"/>
            </a:endParaRPr>
          </a:p>
        </p:txBody>
      </p:sp>
      <p:sp>
        <p:nvSpPr>
          <p:cNvPr id="323" name="Google Shape;323;p10"/>
          <p:cNvSpPr/>
          <p:nvPr/>
        </p:nvSpPr>
        <p:spPr>
          <a:xfrm>
            <a:off x="8138160" y="141732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4" name="Google Shape;324;p10"/>
          <p:cNvSpPr/>
          <p:nvPr/>
        </p:nvSpPr>
        <p:spPr>
          <a:xfrm>
            <a:off x="8302752" y="152704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03</a:t>
            </a:r>
            <a:endParaRPr b="0" i="0" sz="2200" u="none" cap="none" strike="noStrike">
              <a:solidFill>
                <a:schemeClr val="dk1"/>
              </a:solidFill>
              <a:latin typeface="Calibri"/>
              <a:ea typeface="Calibri"/>
              <a:cs typeface="Calibri"/>
              <a:sym typeface="Calibri"/>
            </a:endParaRPr>
          </a:p>
        </p:txBody>
      </p:sp>
      <p:sp>
        <p:nvSpPr>
          <p:cNvPr id="325" name="Google Shape;325;p10"/>
          <p:cNvSpPr/>
          <p:nvPr/>
        </p:nvSpPr>
        <p:spPr>
          <a:xfrm>
            <a:off x="8851392" y="155448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SA-Specific Compliance Depth</a:t>
            </a:r>
            <a:endParaRPr b="0" i="0" sz="1800" u="none" cap="none" strike="noStrike">
              <a:solidFill>
                <a:schemeClr val="dk1"/>
              </a:solidFill>
              <a:latin typeface="Calibri"/>
              <a:ea typeface="Calibri"/>
              <a:cs typeface="Calibri"/>
              <a:sym typeface="Calibri"/>
            </a:endParaRPr>
          </a:p>
        </p:txBody>
      </p:sp>
      <p:sp>
        <p:nvSpPr>
          <p:cNvPr id="326" name="Google Shape;326;p10"/>
          <p:cNvSpPr/>
          <p:nvPr/>
        </p:nvSpPr>
        <p:spPr>
          <a:xfrm>
            <a:off x="8302752" y="203911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RT understands DCSI Screening, RAN Training, and SA Child Protection requirements in detail. A national platform like TN may apply generic national compliance.</a:t>
            </a:r>
            <a:endParaRPr b="0" i="0" sz="1500" u="none" cap="none" strike="noStrike">
              <a:solidFill>
                <a:schemeClr val="dk1"/>
              </a:solidFill>
              <a:latin typeface="Calibri"/>
              <a:ea typeface="Calibri"/>
              <a:cs typeface="Calibri"/>
              <a:sym typeface="Calibri"/>
            </a:endParaRPr>
          </a:p>
        </p:txBody>
      </p:sp>
      <p:sp>
        <p:nvSpPr>
          <p:cNvPr id="327" name="Google Shape;327;p10"/>
          <p:cNvSpPr/>
          <p:nvPr/>
        </p:nvSpPr>
        <p:spPr>
          <a:xfrm>
            <a:off x="457200" y="342900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8" name="Google Shape;328;p10"/>
          <p:cNvSpPr/>
          <p:nvPr/>
        </p:nvSpPr>
        <p:spPr>
          <a:xfrm>
            <a:off x="62179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04</a:t>
            </a:r>
            <a:endParaRPr b="0" i="0" sz="2200" u="none" cap="none" strike="noStrike">
              <a:solidFill>
                <a:schemeClr val="dk1"/>
              </a:solidFill>
              <a:latin typeface="Calibri"/>
              <a:ea typeface="Calibri"/>
              <a:cs typeface="Calibri"/>
              <a:sym typeface="Calibri"/>
            </a:endParaRPr>
          </a:p>
        </p:txBody>
      </p:sp>
      <p:sp>
        <p:nvSpPr>
          <p:cNvPr id="329" name="Google Shape;329;p10"/>
          <p:cNvSpPr/>
          <p:nvPr/>
        </p:nvSpPr>
        <p:spPr>
          <a:xfrm>
            <a:off x="117043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Custom Technology Platform</a:t>
            </a:r>
            <a:endParaRPr b="0" i="0" sz="1800" u="none" cap="none" strike="noStrike">
              <a:solidFill>
                <a:schemeClr val="dk1"/>
              </a:solidFill>
              <a:latin typeface="Calibri"/>
              <a:ea typeface="Calibri"/>
              <a:cs typeface="Calibri"/>
              <a:sym typeface="Calibri"/>
            </a:endParaRPr>
          </a:p>
        </p:txBody>
      </p:sp>
      <p:sp>
        <p:nvSpPr>
          <p:cNvPr id="330" name="Google Shape;330;p10"/>
          <p:cNvSpPr/>
          <p:nvPr/>
        </p:nvSpPr>
        <p:spPr>
          <a:xfrm>
            <a:off x="62179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RT owns its own app (Raj/Prince). While currently limited, ownership means custom features can be built for the specific SA market without SaaS dependencies.</a:t>
            </a:r>
            <a:endParaRPr b="0" i="0" sz="1500" u="none" cap="none" strike="noStrike">
              <a:solidFill>
                <a:schemeClr val="dk1"/>
              </a:solidFill>
              <a:latin typeface="Calibri"/>
              <a:ea typeface="Calibri"/>
              <a:cs typeface="Calibri"/>
              <a:sym typeface="Calibri"/>
            </a:endParaRPr>
          </a:p>
        </p:txBody>
      </p:sp>
      <p:sp>
        <p:nvSpPr>
          <p:cNvPr id="331" name="Google Shape;331;p10"/>
          <p:cNvSpPr/>
          <p:nvPr/>
        </p:nvSpPr>
        <p:spPr>
          <a:xfrm>
            <a:off x="4297680" y="342900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32" name="Google Shape;332;p10"/>
          <p:cNvSpPr/>
          <p:nvPr/>
        </p:nvSpPr>
        <p:spPr>
          <a:xfrm>
            <a:off x="446227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05</a:t>
            </a:r>
            <a:endParaRPr b="0" i="0" sz="2200" u="none" cap="none" strike="noStrike">
              <a:solidFill>
                <a:schemeClr val="dk1"/>
              </a:solidFill>
              <a:latin typeface="Calibri"/>
              <a:ea typeface="Calibri"/>
              <a:cs typeface="Calibri"/>
              <a:sym typeface="Calibri"/>
            </a:endParaRPr>
          </a:p>
        </p:txBody>
      </p:sp>
      <p:sp>
        <p:nvSpPr>
          <p:cNvPr id="333" name="Google Shape;333;p10"/>
          <p:cNvSpPr/>
          <p:nvPr/>
        </p:nvSpPr>
        <p:spPr>
          <a:xfrm>
            <a:off x="501091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Educator Appreciation Program</a:t>
            </a:r>
            <a:endParaRPr b="0" i="0" sz="1800" u="none" cap="none" strike="noStrike">
              <a:solidFill>
                <a:schemeClr val="dk1"/>
              </a:solidFill>
              <a:latin typeface="Calibri"/>
              <a:ea typeface="Calibri"/>
              <a:cs typeface="Calibri"/>
              <a:sym typeface="Calibri"/>
            </a:endParaRPr>
          </a:p>
        </p:txBody>
      </p:sp>
      <p:sp>
        <p:nvSpPr>
          <p:cNvPr id="334" name="Google Shape;334;p10"/>
          <p:cNvSpPr/>
          <p:nvPr/>
        </p:nvSpPr>
        <p:spPr>
          <a:xfrm>
            <a:off x="446227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Liam's personal calls, $50 gift cards, and named appreciation are human differentiators TalentNow cannot scale. Educators remember how they are treated.</a:t>
            </a:r>
            <a:endParaRPr b="0" i="0" sz="1500" u="none" cap="none" strike="noStrike">
              <a:solidFill>
                <a:schemeClr val="dk1"/>
              </a:solidFill>
              <a:latin typeface="Calibri"/>
              <a:ea typeface="Calibri"/>
              <a:cs typeface="Calibri"/>
              <a:sym typeface="Calibri"/>
            </a:endParaRPr>
          </a:p>
        </p:txBody>
      </p:sp>
      <p:sp>
        <p:nvSpPr>
          <p:cNvPr id="335" name="Google Shape;335;p10"/>
          <p:cNvSpPr/>
          <p:nvPr/>
        </p:nvSpPr>
        <p:spPr>
          <a:xfrm>
            <a:off x="8138160" y="3429000"/>
            <a:ext cx="3566160" cy="1874520"/>
          </a:xfrm>
          <a:prstGeom prst="roundRect">
            <a:avLst>
              <a:gd fmla="val 4878" name="adj"/>
            </a:avLst>
          </a:prstGeom>
          <a:solidFill>
            <a:srgbClr val="F0FFF4"/>
          </a:solidFill>
          <a:ln>
            <a:noFill/>
          </a:ln>
          <a:effectLst>
            <a:outerShdw blurRad="76200" rotWithShape="0" algn="bl" dir="27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36" name="Google Shape;336;p10"/>
          <p:cNvSpPr/>
          <p:nvPr/>
        </p:nvSpPr>
        <p:spPr>
          <a:xfrm>
            <a:off x="8302752" y="35387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2200"/>
              <a:buFont typeface="Cambria"/>
              <a:buNone/>
            </a:pPr>
            <a:r>
              <a:rPr b="1" i="0" lang="en-US" sz="2200" u="none" cap="none" strike="noStrike">
                <a:solidFill>
                  <a:srgbClr val="27AE60"/>
                </a:solidFill>
                <a:latin typeface="Cambria"/>
                <a:ea typeface="Cambria"/>
                <a:cs typeface="Cambria"/>
                <a:sym typeface="Cambria"/>
              </a:rPr>
              <a:t>06</a:t>
            </a:r>
            <a:endParaRPr b="0" i="0" sz="2200" u="none" cap="none" strike="noStrike">
              <a:solidFill>
                <a:schemeClr val="dk1"/>
              </a:solidFill>
              <a:latin typeface="Calibri"/>
              <a:ea typeface="Calibri"/>
              <a:cs typeface="Calibri"/>
              <a:sym typeface="Calibri"/>
            </a:endParaRPr>
          </a:p>
        </p:txBody>
      </p:sp>
      <p:sp>
        <p:nvSpPr>
          <p:cNvPr id="337" name="Google Shape;337;p10"/>
          <p:cNvSpPr/>
          <p:nvPr/>
        </p:nvSpPr>
        <p:spPr>
          <a:xfrm>
            <a:off x="8851392" y="356616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Shift Incentive Program (Proposed)</a:t>
            </a:r>
            <a:endParaRPr b="0" i="0" sz="1800" u="none" cap="none" strike="noStrike">
              <a:solidFill>
                <a:schemeClr val="dk1"/>
              </a:solidFill>
              <a:latin typeface="Calibri"/>
              <a:ea typeface="Calibri"/>
              <a:cs typeface="Calibri"/>
              <a:sym typeface="Calibri"/>
            </a:endParaRPr>
          </a:p>
        </p:txBody>
      </p:sp>
      <p:sp>
        <p:nvSpPr>
          <p:cNvPr id="338" name="Google Shape;338;p10"/>
          <p:cNvSpPr/>
          <p:nvPr/>
        </p:nvSpPr>
        <p:spPr>
          <a:xfrm>
            <a:off x="8302752" y="4050792"/>
            <a:ext cx="324612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sz="1500" u="none" cap="none" strike="noStrike">
                <a:solidFill>
                  <a:srgbClr val="334155"/>
                </a:solidFill>
                <a:latin typeface="Calibri"/>
                <a:ea typeface="Calibri"/>
                <a:cs typeface="Calibri"/>
                <a:sym typeface="Calibri"/>
              </a:rPr>
              <a:t>$50 bonus for 5 completed shifts/week creates financial loyalty. TalentNow does not prominently offer this. Once live, it creates a reason to prefer RT shifts.</a:t>
            </a:r>
            <a:endParaRPr b="0" i="0" sz="1500" u="none" cap="none" strike="noStrike">
              <a:solidFill>
                <a:schemeClr val="dk1"/>
              </a:solidFill>
              <a:latin typeface="Calibri"/>
              <a:ea typeface="Calibri"/>
              <a:cs typeface="Calibri"/>
              <a:sym typeface="Calibri"/>
            </a:endParaRPr>
          </a:p>
        </p:txBody>
      </p:sp>
      <p:sp>
        <p:nvSpPr>
          <p:cNvPr id="339" name="Google Shape;339;p10"/>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 Raw Talent internal data | Edge SA confirmation June 2026 | Raw Talent educator engagement calls, June 2026 | Joy Victoria analysis, June 2026. Note: shift incentive program is proposed, pending Liam approval.</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11"/>
          <p:cNvSpPr/>
          <p:nvPr/>
        </p:nvSpPr>
        <p:spPr>
          <a:xfrm>
            <a:off x="457200" y="256032"/>
            <a:ext cx="2194560" cy="292608"/>
          </a:xfrm>
          <a:prstGeom prst="roundRect">
            <a:avLst>
              <a:gd fmla="val 18750" name="adj"/>
            </a:avLst>
          </a:prstGeom>
          <a:solidFill>
            <a:srgbClr val="F2A93B"/>
          </a:solid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GAP ANALYSIS</a:t>
            </a:r>
            <a:endParaRPr b="0" i="0" sz="850" u="none" cap="none" strike="noStrike">
              <a:solidFill>
                <a:schemeClr val="dk1"/>
              </a:solidFill>
              <a:latin typeface="Calibri"/>
              <a:ea typeface="Calibri"/>
              <a:cs typeface="Calibri"/>
              <a:sym typeface="Calibri"/>
            </a:endParaRPr>
          </a:p>
        </p:txBody>
      </p:sp>
      <p:sp>
        <p:nvSpPr>
          <p:cNvPr id="347" name="Google Shape;347;p11"/>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The Gaps Raw Talent Must Close — SA Growth Readiness Score</a:t>
            </a:r>
            <a:endParaRPr b="0" i="0" sz="3000" u="none" cap="none" strike="noStrike">
              <a:solidFill>
                <a:schemeClr val="dk1"/>
              </a:solidFill>
              <a:latin typeface="Calibri"/>
              <a:ea typeface="Calibri"/>
              <a:cs typeface="Calibri"/>
              <a:sym typeface="Calibri"/>
            </a:endParaRPr>
          </a:p>
        </p:txBody>
      </p:sp>
      <p:graphicFrame>
        <p:nvGraphicFramePr>
          <p:cNvPr id="348" name="Google Shape;348;p11"/>
          <p:cNvGraphicFramePr/>
          <p:nvPr/>
        </p:nvGraphicFramePr>
        <p:xfrm>
          <a:off x="457200" y="1417320"/>
          <a:ext cx="8229600" cy="4846320"/>
        </p:xfrm>
        <a:graphic>
          <a:graphicData uri="http://schemas.openxmlformats.org/drawingml/2006/chart">
            <c:chart r:id="rId3"/>
          </a:graphicData>
        </a:graphic>
      </p:graphicFrame>
      <p:sp>
        <p:nvSpPr>
          <p:cNvPr id="349" name="Google Shape;349;p11"/>
          <p:cNvSpPr/>
          <p:nvPr/>
        </p:nvSpPr>
        <p:spPr>
          <a:xfrm>
            <a:off x="8961120" y="1371600"/>
            <a:ext cx="2834640" cy="4892040"/>
          </a:xfrm>
          <a:prstGeom prst="roundRect">
            <a:avLst>
              <a:gd fmla="val 3226" name="adj"/>
            </a:avLst>
          </a:prstGeom>
          <a:solidFill>
            <a:srgbClr val="F7F8FD"/>
          </a:solidFill>
          <a:ln>
            <a:noFill/>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50" name="Google Shape;350;p11"/>
          <p:cNvSpPr/>
          <p:nvPr/>
        </p:nvSpPr>
        <p:spPr>
          <a:xfrm>
            <a:off x="9098280" y="1508760"/>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Scoring Methodology</a:t>
            </a:r>
            <a:endParaRPr b="0" i="0" sz="1800" u="none" cap="none" strike="noStrike">
              <a:solidFill>
                <a:schemeClr val="dk1"/>
              </a:solidFill>
              <a:latin typeface="Calibri"/>
              <a:ea typeface="Calibri"/>
              <a:cs typeface="Calibri"/>
              <a:sym typeface="Calibri"/>
            </a:endParaRPr>
          </a:p>
        </p:txBody>
      </p:sp>
      <p:sp>
        <p:nvSpPr>
          <p:cNvPr id="351" name="Google Shape;351;p11"/>
          <p:cNvSpPr/>
          <p:nvPr/>
        </p:nvSpPr>
        <p:spPr>
          <a:xfrm>
            <a:off x="9098280" y="1874520"/>
            <a:ext cx="25603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Scores out of 10 represent relative capability based on publicly available data, platform observation, and educator call intelligence. Not financial metrics.</a:t>
            </a:r>
            <a:endParaRPr b="0" i="0" sz="1150" u="none" cap="none" strike="noStrike">
              <a:solidFill>
                <a:schemeClr val="dk1"/>
              </a:solidFill>
              <a:latin typeface="Calibri"/>
              <a:ea typeface="Calibri"/>
              <a:cs typeface="Calibri"/>
              <a:sym typeface="Calibri"/>
            </a:endParaRPr>
          </a:p>
        </p:txBody>
      </p:sp>
      <p:sp>
        <p:nvSpPr>
          <p:cNvPr id="352" name="Google Shape;352;p11"/>
          <p:cNvSpPr/>
          <p:nvPr/>
        </p:nvSpPr>
        <p:spPr>
          <a:xfrm>
            <a:off x="9098280" y="283464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4B4B"/>
              </a:buClr>
              <a:buSzPts val="1100"/>
              <a:buFont typeface="Calibri"/>
              <a:buNone/>
            </a:pPr>
            <a:r>
              <a:rPr b="1" i="0" lang="en-US" sz="1800" u="none" cap="none" strike="noStrike">
                <a:solidFill>
                  <a:srgbClr val="E14B4B"/>
                </a:solidFill>
                <a:latin typeface="Calibri"/>
                <a:ea typeface="Calibri"/>
                <a:cs typeface="Calibri"/>
                <a:sym typeface="Calibri"/>
              </a:rPr>
              <a:t>RT Priority Gaps:</a:t>
            </a:r>
            <a:endParaRPr b="0" i="0" sz="1800" u="none" cap="none" strike="noStrike">
              <a:solidFill>
                <a:schemeClr val="dk1"/>
              </a:solidFill>
              <a:latin typeface="Calibri"/>
              <a:ea typeface="Calibri"/>
              <a:cs typeface="Calibri"/>
              <a:sym typeface="Calibri"/>
            </a:endParaRPr>
          </a:p>
        </p:txBody>
      </p:sp>
      <p:sp>
        <p:nvSpPr>
          <p:cNvPr id="353" name="Google Shape;353;p11"/>
          <p:cNvSpPr/>
          <p:nvPr/>
        </p:nvSpPr>
        <p:spPr>
          <a:xfrm>
            <a:off x="9098280" y="3154680"/>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u="none" cap="none" strike="noStrike">
                <a:solidFill>
                  <a:srgbClr val="334155"/>
                </a:solidFill>
                <a:latin typeface="Calibri"/>
                <a:ea typeface="Calibri"/>
                <a:cs typeface="Calibri"/>
                <a:sym typeface="Calibri"/>
              </a:rPr>
              <a:t>1. Compliance tracking automation</a:t>
            </a:r>
            <a:endParaRPr b="0" i="0" u="none" cap="none" strike="noStrike">
              <a:solidFill>
                <a:schemeClr val="dk1"/>
              </a:solidFill>
              <a:latin typeface="Calibri"/>
              <a:ea typeface="Calibri"/>
              <a:cs typeface="Calibri"/>
              <a:sym typeface="Calibri"/>
            </a:endParaRPr>
          </a:p>
        </p:txBody>
      </p:sp>
      <p:sp>
        <p:nvSpPr>
          <p:cNvPr id="354" name="Google Shape;354;p11"/>
          <p:cNvSpPr/>
          <p:nvPr/>
        </p:nvSpPr>
        <p:spPr>
          <a:xfrm>
            <a:off x="9098280" y="3538728"/>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u="none" cap="none" strike="noStrike">
                <a:solidFill>
                  <a:srgbClr val="334155"/>
                </a:solidFill>
                <a:latin typeface="Calibri"/>
                <a:ea typeface="Calibri"/>
                <a:cs typeface="Calibri"/>
                <a:sym typeface="Calibri"/>
              </a:rPr>
              <a:t>2. Onboarding speed &amp; funnel</a:t>
            </a:r>
            <a:endParaRPr b="0" i="0" u="none" cap="none" strike="noStrike">
              <a:solidFill>
                <a:schemeClr val="dk1"/>
              </a:solidFill>
              <a:latin typeface="Calibri"/>
              <a:ea typeface="Calibri"/>
              <a:cs typeface="Calibri"/>
              <a:sym typeface="Calibri"/>
            </a:endParaRPr>
          </a:p>
        </p:txBody>
      </p:sp>
      <p:sp>
        <p:nvSpPr>
          <p:cNvPr id="355" name="Google Shape;355;p11"/>
          <p:cNvSpPr/>
          <p:nvPr/>
        </p:nvSpPr>
        <p:spPr>
          <a:xfrm>
            <a:off x="9098280" y="3922776"/>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u="none" cap="none" strike="noStrike">
                <a:solidFill>
                  <a:srgbClr val="334155"/>
                </a:solidFill>
                <a:latin typeface="Calibri"/>
                <a:ea typeface="Calibri"/>
                <a:cs typeface="Calibri"/>
                <a:sym typeface="Calibri"/>
              </a:rPr>
              <a:t>3. Regulatory communications</a:t>
            </a:r>
            <a:endParaRPr b="0" i="0" u="none" cap="none" strike="noStrike">
              <a:solidFill>
                <a:schemeClr val="dk1"/>
              </a:solidFill>
              <a:latin typeface="Calibri"/>
              <a:ea typeface="Calibri"/>
              <a:cs typeface="Calibri"/>
              <a:sym typeface="Calibri"/>
            </a:endParaRPr>
          </a:p>
        </p:txBody>
      </p:sp>
      <p:sp>
        <p:nvSpPr>
          <p:cNvPr id="356" name="Google Shape;356;p11"/>
          <p:cNvSpPr/>
          <p:nvPr/>
        </p:nvSpPr>
        <p:spPr>
          <a:xfrm>
            <a:off x="9098280" y="4306824"/>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u="none" cap="none" strike="noStrike">
                <a:solidFill>
                  <a:srgbClr val="334155"/>
                </a:solidFill>
                <a:latin typeface="Calibri"/>
                <a:ea typeface="Calibri"/>
                <a:cs typeface="Calibri"/>
                <a:sym typeface="Calibri"/>
              </a:rPr>
              <a:t>4. Tech platform capability</a:t>
            </a:r>
            <a:endParaRPr b="0" i="0" u="none" cap="none" strike="noStrike">
              <a:solidFill>
                <a:schemeClr val="dk1"/>
              </a:solidFill>
              <a:latin typeface="Calibri"/>
              <a:ea typeface="Calibri"/>
              <a:cs typeface="Calibri"/>
              <a:sym typeface="Calibri"/>
            </a:endParaRPr>
          </a:p>
        </p:txBody>
      </p:sp>
      <p:sp>
        <p:nvSpPr>
          <p:cNvPr id="357" name="Google Shape;357;p11"/>
          <p:cNvSpPr/>
          <p:nvPr/>
        </p:nvSpPr>
        <p:spPr>
          <a:xfrm>
            <a:off x="9098280" y="4690872"/>
            <a:ext cx="2560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b="0" i="0" lang="en-US" u="none" cap="none" strike="noStrike">
                <a:solidFill>
                  <a:srgbClr val="334155"/>
                </a:solidFill>
                <a:latin typeface="Calibri"/>
                <a:ea typeface="Calibri"/>
                <a:cs typeface="Calibri"/>
                <a:sym typeface="Calibri"/>
              </a:rPr>
              <a:t>5. WRP toggle activation</a:t>
            </a:r>
            <a:endParaRPr b="0" i="0" u="none" cap="none" strike="noStrike">
              <a:solidFill>
                <a:schemeClr val="dk1"/>
              </a:solidFill>
              <a:latin typeface="Calibri"/>
              <a:ea typeface="Calibri"/>
              <a:cs typeface="Calibri"/>
              <a:sym typeface="Calibri"/>
            </a:endParaRPr>
          </a:p>
        </p:txBody>
      </p:sp>
      <p:sp>
        <p:nvSpPr>
          <p:cNvPr id="358" name="Google Shape;358;p11"/>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Note: Scores are qualitative assessments by Joy Victoria based on competitive research (June 2026). Sources: TalentNow.com.au | ACECQA.gov.au | Raw Talent internal data | Educator call intelligence. 1 = very low capability, 10 = market leading. These scores represent the analyst's best assessment and should be updated as new intelligence is gathered.</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 name="Shape 363"/>
        <p:cNvGrpSpPr/>
        <p:nvPr/>
      </p:nvGrpSpPr>
      <p:grpSpPr>
        <a:xfrm>
          <a:off x="0" y="0"/>
          <a:ext cx="0" cy="0"/>
          <a:chOff x="0" y="0"/>
          <a:chExt cx="0" cy="0"/>
        </a:xfrm>
      </p:grpSpPr>
      <p:sp>
        <p:nvSpPr>
          <p:cNvPr id="364" name="Google Shape;364;p12"/>
          <p:cNvSpPr/>
          <p:nvPr/>
        </p:nvSpPr>
        <p:spPr>
          <a:xfrm>
            <a:off x="457200" y="256032"/>
            <a:ext cx="2194560" cy="292608"/>
          </a:xfrm>
          <a:prstGeom prst="roundRect">
            <a:avLst>
              <a:gd fmla="val 18750" name="adj"/>
            </a:avLst>
          </a:prstGeom>
          <a:solidFill>
            <a:srgbClr val="F2A93B"/>
          </a:solid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457200" y="256032"/>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ACTION PLAN</a:t>
            </a:r>
            <a:endParaRPr b="0" i="0" sz="850" u="none" cap="none" strike="noStrike">
              <a:solidFill>
                <a:schemeClr val="dk1"/>
              </a:solidFill>
              <a:latin typeface="Calibri"/>
              <a:ea typeface="Calibri"/>
              <a:cs typeface="Calibri"/>
              <a:sym typeface="Calibri"/>
            </a:endParaRPr>
          </a:p>
        </p:txBody>
      </p:sp>
      <p:sp>
        <p:nvSpPr>
          <p:cNvPr id="366" name="Google Shape;366;p12"/>
          <p:cNvSpPr/>
          <p:nvPr/>
        </p:nvSpPr>
        <p:spPr>
          <a:xfrm>
            <a:off x="457200" y="640080"/>
            <a:ext cx="11247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3000"/>
              <a:buFont typeface="Cambria"/>
              <a:buNone/>
            </a:pPr>
            <a:r>
              <a:rPr b="1" i="0" lang="en-US" sz="3000" u="none" cap="none" strike="noStrike">
                <a:solidFill>
                  <a:srgbClr val="1E2A3A"/>
                </a:solidFill>
                <a:latin typeface="Cambria"/>
                <a:ea typeface="Cambria"/>
                <a:cs typeface="Cambria"/>
                <a:sym typeface="Cambria"/>
              </a:rPr>
              <a:t>SA Growth — Top 10 Priority Actions (June 2026)</a:t>
            </a:r>
            <a:endParaRPr b="0" i="0" sz="3000" u="none" cap="none" strike="noStrike">
              <a:solidFill>
                <a:schemeClr val="dk1"/>
              </a:solidFill>
              <a:latin typeface="Calibri"/>
              <a:ea typeface="Calibri"/>
              <a:cs typeface="Calibri"/>
              <a:sym typeface="Calibri"/>
            </a:endParaRPr>
          </a:p>
        </p:txBody>
      </p:sp>
      <p:sp>
        <p:nvSpPr>
          <p:cNvPr id="367" name="Google Shape;367;p12"/>
          <p:cNvSpPr/>
          <p:nvPr/>
        </p:nvSpPr>
        <p:spPr>
          <a:xfrm>
            <a:off x="457200" y="1417320"/>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566928" y="1618488"/>
            <a:ext cx="475488" cy="475488"/>
          </a:xfrm>
          <a:prstGeom prst="ellipse">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566928" y="161848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70" name="Google Shape;370;p12"/>
          <p:cNvSpPr/>
          <p:nvPr/>
        </p:nvSpPr>
        <p:spPr>
          <a:xfrm>
            <a:off x="1133856" y="1527048"/>
            <a:ext cx="731520" cy="237744"/>
          </a:xfrm>
          <a:prstGeom prst="roundRect">
            <a:avLst>
              <a:gd fmla="val 19231" name="adj"/>
            </a:avLst>
          </a:prstGeom>
          <a:solidFill>
            <a:srgbClr val="E14B4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1133856" y="1527048"/>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4B4B"/>
              </a:buClr>
              <a:buSzPts val="750"/>
              <a:buFont typeface="Calibri"/>
              <a:buNone/>
            </a:pPr>
            <a:r>
              <a:rPr b="1" i="0" lang="en-US" sz="1050" u="none" cap="none" strike="noStrike">
                <a:solidFill>
                  <a:srgbClr val="E14B4B"/>
                </a:solidFill>
                <a:latin typeface="Calibri"/>
                <a:ea typeface="Calibri"/>
                <a:cs typeface="Calibri"/>
                <a:sym typeface="Calibri"/>
              </a:rPr>
              <a:t>WEEK 1</a:t>
            </a:r>
            <a:endParaRPr b="0" i="0" sz="1050" u="none" cap="none" strike="noStrike">
              <a:solidFill>
                <a:schemeClr val="dk1"/>
              </a:solidFill>
              <a:latin typeface="Calibri"/>
              <a:ea typeface="Calibri"/>
              <a:cs typeface="Calibri"/>
              <a:sym typeface="Calibri"/>
            </a:endParaRPr>
          </a:p>
        </p:txBody>
      </p:sp>
      <p:sp>
        <p:nvSpPr>
          <p:cNvPr id="372" name="Google Shape;372;p12"/>
          <p:cNvSpPr/>
          <p:nvPr/>
        </p:nvSpPr>
        <p:spPr>
          <a:xfrm>
            <a:off x="1938528" y="1508760"/>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Activate WRP Toggle</a:t>
            </a:r>
            <a:endParaRPr b="0" i="0" sz="1800" u="none" cap="none" strike="noStrike">
              <a:solidFill>
                <a:schemeClr val="dk1"/>
              </a:solidFill>
              <a:latin typeface="Calibri"/>
              <a:ea typeface="Calibri"/>
              <a:cs typeface="Calibri"/>
              <a:sym typeface="Calibri"/>
            </a:endParaRPr>
          </a:p>
        </p:txBody>
      </p:sp>
      <p:sp>
        <p:nvSpPr>
          <p:cNvPr id="373" name="Google Shape;373;p12"/>
          <p:cNvSpPr/>
          <p:nvPr/>
        </p:nvSpPr>
        <p:spPr>
          <a:xfrm>
            <a:off x="1938528" y="1801368"/>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Build profitability model → get Liam to enable WRP toggle for top 4 low-fill SA centres. Closes pay gap with Entrée immediately.</a:t>
            </a:r>
            <a:endParaRPr b="0" i="0" sz="1150" u="none" cap="none" strike="noStrike">
              <a:solidFill>
                <a:schemeClr val="dk1"/>
              </a:solidFill>
              <a:latin typeface="Calibri"/>
              <a:ea typeface="Calibri"/>
              <a:cs typeface="Calibri"/>
              <a:sym typeface="Calibri"/>
            </a:endParaRPr>
          </a:p>
        </p:txBody>
      </p:sp>
      <p:sp>
        <p:nvSpPr>
          <p:cNvPr id="374" name="Google Shape;374;p12"/>
          <p:cNvSpPr/>
          <p:nvPr/>
        </p:nvSpPr>
        <p:spPr>
          <a:xfrm>
            <a:off x="6309360" y="1417320"/>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6419088" y="1618488"/>
            <a:ext cx="475488" cy="475488"/>
          </a:xfrm>
          <a:prstGeom prst="ellipse">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6419088" y="161848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77" name="Google Shape;377;p12"/>
          <p:cNvSpPr/>
          <p:nvPr/>
        </p:nvSpPr>
        <p:spPr>
          <a:xfrm>
            <a:off x="6986016" y="1527048"/>
            <a:ext cx="731520" cy="237744"/>
          </a:xfrm>
          <a:prstGeom prst="roundRect">
            <a:avLst>
              <a:gd fmla="val 19231" name="adj"/>
            </a:avLst>
          </a:prstGeom>
          <a:solidFill>
            <a:srgbClr val="E14B4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
          <p:cNvSpPr/>
          <p:nvPr/>
        </p:nvSpPr>
        <p:spPr>
          <a:xfrm>
            <a:off x="6986016" y="1527048"/>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4B4B"/>
              </a:buClr>
              <a:buSzPts val="750"/>
              <a:buFont typeface="Calibri"/>
              <a:buNone/>
            </a:pPr>
            <a:r>
              <a:rPr b="1" i="0" lang="en-US" sz="1050" u="none" cap="none" strike="noStrike">
                <a:solidFill>
                  <a:srgbClr val="E14B4B"/>
                </a:solidFill>
                <a:latin typeface="Calibri"/>
                <a:ea typeface="Calibri"/>
                <a:cs typeface="Calibri"/>
                <a:sym typeface="Calibri"/>
              </a:rPr>
              <a:t>WEEK 1</a:t>
            </a:r>
            <a:endParaRPr b="0" i="0" sz="1050" u="none" cap="none" strike="noStrike">
              <a:solidFill>
                <a:schemeClr val="dk1"/>
              </a:solidFill>
              <a:latin typeface="Calibri"/>
              <a:ea typeface="Calibri"/>
              <a:cs typeface="Calibri"/>
              <a:sym typeface="Calibri"/>
            </a:endParaRPr>
          </a:p>
        </p:txBody>
      </p:sp>
      <p:sp>
        <p:nvSpPr>
          <p:cNvPr id="379" name="Google Shape;379;p12"/>
          <p:cNvSpPr/>
          <p:nvPr/>
        </p:nvSpPr>
        <p:spPr>
          <a:xfrm>
            <a:off x="7790688" y="1508760"/>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Prince: Full SA Educator Export</a:t>
            </a:r>
            <a:endParaRPr b="0" i="0" sz="1800" u="none" cap="none" strike="noStrike">
              <a:solidFill>
                <a:schemeClr val="dk1"/>
              </a:solidFill>
              <a:latin typeface="Calibri"/>
              <a:ea typeface="Calibri"/>
              <a:cs typeface="Calibri"/>
              <a:sym typeface="Calibri"/>
            </a:endParaRPr>
          </a:p>
        </p:txBody>
      </p:sp>
      <p:sp>
        <p:nvSpPr>
          <p:cNvPr id="380" name="Google Shape;380;p12"/>
          <p:cNvSpPr/>
          <p:nvPr/>
        </p:nvSpPr>
        <p:spPr>
          <a:xfrm>
            <a:off x="7790688" y="1801368"/>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Name, status, last active date, compliance expiry for every SA educator. Segment into A/B/C groups.</a:t>
            </a:r>
            <a:endParaRPr b="0" i="0" sz="1150" u="none" cap="none" strike="noStrike">
              <a:solidFill>
                <a:schemeClr val="dk1"/>
              </a:solidFill>
              <a:latin typeface="Calibri"/>
              <a:ea typeface="Calibri"/>
              <a:cs typeface="Calibri"/>
              <a:sym typeface="Calibri"/>
            </a:endParaRPr>
          </a:p>
        </p:txBody>
      </p:sp>
      <p:sp>
        <p:nvSpPr>
          <p:cNvPr id="381" name="Google Shape;381;p12"/>
          <p:cNvSpPr/>
          <p:nvPr/>
        </p:nvSpPr>
        <p:spPr>
          <a:xfrm>
            <a:off x="457200" y="2441448"/>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566928" y="2642616"/>
            <a:ext cx="475488" cy="475488"/>
          </a:xfrm>
          <a:prstGeom prst="ellipse">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2"/>
          <p:cNvSpPr/>
          <p:nvPr/>
        </p:nvSpPr>
        <p:spPr>
          <a:xfrm>
            <a:off x="566928" y="2642616"/>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84" name="Google Shape;384;p12"/>
          <p:cNvSpPr/>
          <p:nvPr/>
        </p:nvSpPr>
        <p:spPr>
          <a:xfrm>
            <a:off x="1133856" y="2551176"/>
            <a:ext cx="731520" cy="237744"/>
          </a:xfrm>
          <a:prstGeom prst="roundRect">
            <a:avLst>
              <a:gd fmla="val 19231" name="adj"/>
            </a:avLst>
          </a:prstGeom>
          <a:solidFill>
            <a:srgbClr val="E14B4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1133856" y="2551176"/>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4B4B"/>
              </a:buClr>
              <a:buSzPts val="750"/>
              <a:buFont typeface="Calibri"/>
              <a:buNone/>
            </a:pPr>
            <a:r>
              <a:rPr b="1" i="0" lang="en-US" sz="1050" u="none" cap="none" strike="noStrike">
                <a:solidFill>
                  <a:srgbClr val="E14B4B"/>
                </a:solidFill>
                <a:latin typeface="Calibri"/>
                <a:ea typeface="Calibri"/>
                <a:cs typeface="Calibri"/>
                <a:sym typeface="Calibri"/>
              </a:rPr>
              <a:t>WEEK 1</a:t>
            </a:r>
            <a:endParaRPr b="0" i="0" sz="1050" u="none" cap="none" strike="noStrike">
              <a:solidFill>
                <a:schemeClr val="dk1"/>
              </a:solidFill>
              <a:latin typeface="Calibri"/>
              <a:ea typeface="Calibri"/>
              <a:cs typeface="Calibri"/>
              <a:sym typeface="Calibri"/>
            </a:endParaRPr>
          </a:p>
        </p:txBody>
      </p:sp>
      <p:sp>
        <p:nvSpPr>
          <p:cNvPr id="386" name="Google Shape;386;p12"/>
          <p:cNvSpPr/>
          <p:nvPr/>
        </p:nvSpPr>
        <p:spPr>
          <a:xfrm>
            <a:off x="1938528" y="253288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NCS Training Audit</a:t>
            </a:r>
            <a:endParaRPr b="0" i="0" sz="1800" u="none" cap="none" strike="noStrike">
              <a:solidFill>
                <a:schemeClr val="dk1"/>
              </a:solidFill>
              <a:latin typeface="Calibri"/>
              <a:ea typeface="Calibri"/>
              <a:cs typeface="Calibri"/>
              <a:sym typeface="Calibri"/>
            </a:endParaRPr>
          </a:p>
        </p:txBody>
      </p:sp>
      <p:sp>
        <p:nvSpPr>
          <p:cNvPr id="387" name="Google Shape;387;p12"/>
          <p:cNvSpPr/>
          <p:nvPr/>
        </p:nvSpPr>
        <p:spPr>
          <a:xfrm>
            <a:off x="1938528" y="2825496"/>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Identify every active SA educator who has NOT completed National Child Safety Training. Deadline late August 2026.</a:t>
            </a:r>
            <a:endParaRPr b="0" i="0" sz="1150" u="none" cap="none" strike="noStrike">
              <a:solidFill>
                <a:schemeClr val="dk1"/>
              </a:solidFill>
              <a:latin typeface="Calibri"/>
              <a:ea typeface="Calibri"/>
              <a:cs typeface="Calibri"/>
              <a:sym typeface="Calibri"/>
            </a:endParaRPr>
          </a:p>
        </p:txBody>
      </p:sp>
      <p:sp>
        <p:nvSpPr>
          <p:cNvPr id="388" name="Google Shape;388;p12"/>
          <p:cNvSpPr/>
          <p:nvPr/>
        </p:nvSpPr>
        <p:spPr>
          <a:xfrm>
            <a:off x="6309360" y="2441448"/>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6419088" y="2642616"/>
            <a:ext cx="475488" cy="475488"/>
          </a:xfrm>
          <a:prstGeom prst="ellipse">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6419088" y="2642616"/>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391" name="Google Shape;391;p12"/>
          <p:cNvSpPr/>
          <p:nvPr/>
        </p:nvSpPr>
        <p:spPr>
          <a:xfrm>
            <a:off x="6986016" y="2551176"/>
            <a:ext cx="731520" cy="237744"/>
          </a:xfrm>
          <a:prstGeom prst="roundRect">
            <a:avLst>
              <a:gd fmla="val 19231" name="adj"/>
            </a:avLst>
          </a:prstGeom>
          <a:solidFill>
            <a:srgbClr val="E14B4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6986016" y="2551176"/>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4B4B"/>
              </a:buClr>
              <a:buSzPts val="750"/>
              <a:buFont typeface="Calibri"/>
              <a:buNone/>
            </a:pPr>
            <a:r>
              <a:rPr b="1" i="0" lang="en-US" sz="1050" u="none" cap="none" strike="noStrike">
                <a:solidFill>
                  <a:srgbClr val="E14B4B"/>
                </a:solidFill>
                <a:latin typeface="Calibri"/>
                <a:ea typeface="Calibri"/>
                <a:cs typeface="Calibri"/>
                <a:sym typeface="Calibri"/>
              </a:rPr>
              <a:t>WEEK 1</a:t>
            </a:r>
            <a:endParaRPr b="0" i="0" sz="1050" u="none" cap="none" strike="noStrike">
              <a:solidFill>
                <a:schemeClr val="dk1"/>
              </a:solidFill>
              <a:latin typeface="Calibri"/>
              <a:ea typeface="Calibri"/>
              <a:cs typeface="Calibri"/>
              <a:sym typeface="Calibri"/>
            </a:endParaRPr>
          </a:p>
        </p:txBody>
      </p:sp>
      <p:sp>
        <p:nvSpPr>
          <p:cNvPr id="393" name="Google Shape;393;p12"/>
          <p:cNvSpPr/>
          <p:nvPr/>
        </p:nvSpPr>
        <p:spPr>
          <a:xfrm>
            <a:off x="7790688" y="253288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Fix Push Notifications</a:t>
            </a:r>
            <a:endParaRPr b="0" i="0" sz="1800" u="none" cap="none" strike="noStrike">
              <a:solidFill>
                <a:schemeClr val="dk1"/>
              </a:solidFill>
              <a:latin typeface="Calibri"/>
              <a:ea typeface="Calibri"/>
              <a:cs typeface="Calibri"/>
              <a:sym typeface="Calibri"/>
            </a:endParaRPr>
          </a:p>
        </p:txBody>
      </p:sp>
      <p:sp>
        <p:nvSpPr>
          <p:cNvPr id="394" name="Google Shape;394;p12"/>
          <p:cNvSpPr/>
          <p:nvPr/>
        </p:nvSpPr>
        <p:spPr>
          <a:xfrm>
            <a:off x="7790688" y="2825496"/>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Committed delivery date from Prince: SMS fallback + high-priority channel upgrade. Prerequisite for all supply actions.</a:t>
            </a:r>
            <a:endParaRPr b="0" i="0" sz="1150" u="none" cap="none" strike="noStrike">
              <a:solidFill>
                <a:schemeClr val="dk1"/>
              </a:solidFill>
              <a:latin typeface="Calibri"/>
              <a:ea typeface="Calibri"/>
              <a:cs typeface="Calibri"/>
              <a:sym typeface="Calibri"/>
            </a:endParaRPr>
          </a:p>
        </p:txBody>
      </p:sp>
      <p:sp>
        <p:nvSpPr>
          <p:cNvPr id="395" name="Google Shape;395;p12"/>
          <p:cNvSpPr/>
          <p:nvPr/>
        </p:nvSpPr>
        <p:spPr>
          <a:xfrm>
            <a:off x="457200" y="3465576"/>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a:off x="566928" y="3666744"/>
            <a:ext cx="475488" cy="475488"/>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2"/>
          <p:cNvSpPr/>
          <p:nvPr/>
        </p:nvSpPr>
        <p:spPr>
          <a:xfrm>
            <a:off x="566928" y="366674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398" name="Google Shape;398;p12"/>
          <p:cNvSpPr/>
          <p:nvPr/>
        </p:nvSpPr>
        <p:spPr>
          <a:xfrm>
            <a:off x="1133856" y="3575304"/>
            <a:ext cx="731520" cy="237744"/>
          </a:xfrm>
          <a:prstGeom prst="roundRect">
            <a:avLst>
              <a:gd fmla="val 19231" name="adj"/>
            </a:avLst>
          </a:prstGeom>
          <a:solidFill>
            <a:srgbClr val="F2A93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1133856" y="3575304"/>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750"/>
              <a:buFont typeface="Calibri"/>
              <a:buNone/>
            </a:pPr>
            <a:r>
              <a:rPr b="1" i="0" lang="en-US" sz="1050" u="none" cap="none" strike="noStrike">
                <a:solidFill>
                  <a:srgbClr val="F2A93B"/>
                </a:solidFill>
                <a:latin typeface="Calibri"/>
                <a:ea typeface="Calibri"/>
                <a:cs typeface="Calibri"/>
                <a:sym typeface="Calibri"/>
              </a:rPr>
              <a:t>WEEK 2</a:t>
            </a:r>
            <a:endParaRPr b="0" i="0" sz="1050" u="none" cap="none" strike="noStrike">
              <a:solidFill>
                <a:schemeClr val="dk1"/>
              </a:solidFill>
              <a:latin typeface="Calibri"/>
              <a:ea typeface="Calibri"/>
              <a:cs typeface="Calibri"/>
              <a:sym typeface="Calibri"/>
            </a:endParaRPr>
          </a:p>
        </p:txBody>
      </p:sp>
      <p:sp>
        <p:nvSpPr>
          <p:cNvPr id="400" name="Google Shape;400;p12"/>
          <p:cNvSpPr/>
          <p:nvPr/>
        </p:nvSpPr>
        <p:spPr>
          <a:xfrm>
            <a:off x="1938528" y="3557016"/>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Re-engagement Calls Begin</a:t>
            </a:r>
            <a:endParaRPr b="0" i="0" sz="1800" u="none" cap="none" strike="noStrike">
              <a:solidFill>
                <a:schemeClr val="dk1"/>
              </a:solidFill>
              <a:latin typeface="Calibri"/>
              <a:ea typeface="Calibri"/>
              <a:cs typeface="Calibri"/>
              <a:sym typeface="Calibri"/>
            </a:endParaRPr>
          </a:p>
        </p:txBody>
      </p:sp>
      <p:sp>
        <p:nvSpPr>
          <p:cNvPr id="401" name="Google Shape;401;p12"/>
          <p:cNvSpPr/>
          <p:nvPr/>
        </p:nvSpPr>
        <p:spPr>
          <a:xfrm>
            <a:off x="1938528" y="3849624"/>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Joy + Sophia call Group A and B SA educators using re-engagement call structure. Capture competitor pay intel.</a:t>
            </a:r>
            <a:endParaRPr b="0" i="0" sz="1150" u="none" cap="none" strike="noStrike">
              <a:solidFill>
                <a:schemeClr val="dk1"/>
              </a:solidFill>
              <a:latin typeface="Calibri"/>
              <a:ea typeface="Calibri"/>
              <a:cs typeface="Calibri"/>
              <a:sym typeface="Calibri"/>
            </a:endParaRPr>
          </a:p>
        </p:txBody>
      </p:sp>
      <p:sp>
        <p:nvSpPr>
          <p:cNvPr id="402" name="Google Shape;402;p12"/>
          <p:cNvSpPr/>
          <p:nvPr/>
        </p:nvSpPr>
        <p:spPr>
          <a:xfrm>
            <a:off x="6309360" y="3465576"/>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6419088" y="3666744"/>
            <a:ext cx="475488" cy="475488"/>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6419088" y="366674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405" name="Google Shape;405;p12"/>
          <p:cNvSpPr/>
          <p:nvPr/>
        </p:nvSpPr>
        <p:spPr>
          <a:xfrm>
            <a:off x="6986016" y="3575304"/>
            <a:ext cx="731520" cy="237744"/>
          </a:xfrm>
          <a:prstGeom prst="roundRect">
            <a:avLst>
              <a:gd fmla="val 19231" name="adj"/>
            </a:avLst>
          </a:prstGeom>
          <a:solidFill>
            <a:srgbClr val="F2A93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2"/>
          <p:cNvSpPr/>
          <p:nvPr/>
        </p:nvSpPr>
        <p:spPr>
          <a:xfrm>
            <a:off x="6986016" y="3575304"/>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750"/>
              <a:buFont typeface="Calibri"/>
              <a:buNone/>
            </a:pPr>
            <a:r>
              <a:rPr b="1" i="0" lang="en-US" sz="1050" u="none" cap="none" strike="noStrike">
                <a:solidFill>
                  <a:srgbClr val="F2A93B"/>
                </a:solidFill>
                <a:latin typeface="Calibri"/>
                <a:ea typeface="Calibri"/>
                <a:cs typeface="Calibri"/>
                <a:sym typeface="Calibri"/>
              </a:rPr>
              <a:t>WEEK 2</a:t>
            </a:r>
            <a:endParaRPr b="0" i="0" sz="1050" u="none" cap="none" strike="noStrike">
              <a:solidFill>
                <a:schemeClr val="dk1"/>
              </a:solidFill>
              <a:latin typeface="Calibri"/>
              <a:ea typeface="Calibri"/>
              <a:cs typeface="Calibri"/>
              <a:sym typeface="Calibri"/>
            </a:endParaRPr>
          </a:p>
        </p:txBody>
      </p:sp>
      <p:sp>
        <p:nvSpPr>
          <p:cNvPr id="407" name="Google Shape;407;p12"/>
          <p:cNvSpPr/>
          <p:nvPr/>
        </p:nvSpPr>
        <p:spPr>
          <a:xfrm>
            <a:off x="7790688" y="3557016"/>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Facebook Lead Ads — SA</a:t>
            </a:r>
            <a:endParaRPr b="0" i="0" sz="1800" u="none" cap="none" strike="noStrike">
              <a:solidFill>
                <a:schemeClr val="dk1"/>
              </a:solidFill>
              <a:latin typeface="Calibri"/>
              <a:ea typeface="Calibri"/>
              <a:cs typeface="Calibri"/>
              <a:sym typeface="Calibri"/>
            </a:endParaRPr>
          </a:p>
        </p:txBody>
      </p:sp>
      <p:sp>
        <p:nvSpPr>
          <p:cNvPr id="408" name="Google Shape;408;p12"/>
          <p:cNvSpPr/>
          <p:nvPr/>
        </p:nvSpPr>
        <p:spPr>
          <a:xfrm>
            <a:off x="7790688" y="3849624"/>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Paid ads targeting Adelaide, 20–45, childcare/TAFE interests. Lead form → JobAdder pipeline.</a:t>
            </a:r>
            <a:endParaRPr b="0" i="0" sz="1150" u="none" cap="none" strike="noStrike">
              <a:solidFill>
                <a:schemeClr val="dk1"/>
              </a:solidFill>
              <a:latin typeface="Calibri"/>
              <a:ea typeface="Calibri"/>
              <a:cs typeface="Calibri"/>
              <a:sym typeface="Calibri"/>
            </a:endParaRPr>
          </a:p>
        </p:txBody>
      </p:sp>
      <p:sp>
        <p:nvSpPr>
          <p:cNvPr id="409" name="Google Shape;409;p12"/>
          <p:cNvSpPr/>
          <p:nvPr/>
        </p:nvSpPr>
        <p:spPr>
          <a:xfrm>
            <a:off x="457200" y="4489704"/>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2"/>
          <p:cNvSpPr/>
          <p:nvPr/>
        </p:nvSpPr>
        <p:spPr>
          <a:xfrm>
            <a:off x="566928" y="4690872"/>
            <a:ext cx="475488" cy="475488"/>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566928" y="4690872"/>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7</a:t>
            </a:r>
            <a:endParaRPr b="0" i="0" sz="1200" u="none" cap="none" strike="noStrike">
              <a:solidFill>
                <a:schemeClr val="dk1"/>
              </a:solidFill>
              <a:latin typeface="Calibri"/>
              <a:ea typeface="Calibri"/>
              <a:cs typeface="Calibri"/>
              <a:sym typeface="Calibri"/>
            </a:endParaRPr>
          </a:p>
        </p:txBody>
      </p:sp>
      <p:sp>
        <p:nvSpPr>
          <p:cNvPr id="412" name="Google Shape;412;p12"/>
          <p:cNvSpPr/>
          <p:nvPr/>
        </p:nvSpPr>
        <p:spPr>
          <a:xfrm>
            <a:off x="1133856" y="4599432"/>
            <a:ext cx="731520" cy="237744"/>
          </a:xfrm>
          <a:prstGeom prst="roundRect">
            <a:avLst>
              <a:gd fmla="val 19231" name="adj"/>
            </a:avLst>
          </a:prstGeom>
          <a:solidFill>
            <a:srgbClr val="F2A93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1133856" y="4599432"/>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750"/>
              <a:buFont typeface="Calibri"/>
              <a:buNone/>
            </a:pPr>
            <a:r>
              <a:rPr b="1" i="0" lang="en-US" sz="1050" u="none" cap="none" strike="noStrike">
                <a:solidFill>
                  <a:srgbClr val="F2A93B"/>
                </a:solidFill>
                <a:latin typeface="Calibri"/>
                <a:ea typeface="Calibri"/>
                <a:cs typeface="Calibri"/>
                <a:sym typeface="Calibri"/>
              </a:rPr>
              <a:t>WEEK 2</a:t>
            </a:r>
            <a:endParaRPr b="0" i="0" sz="1050" u="none" cap="none" strike="noStrike">
              <a:solidFill>
                <a:schemeClr val="dk1"/>
              </a:solidFill>
              <a:latin typeface="Calibri"/>
              <a:ea typeface="Calibri"/>
              <a:cs typeface="Calibri"/>
              <a:sym typeface="Calibri"/>
            </a:endParaRPr>
          </a:p>
        </p:txBody>
      </p:sp>
      <p:sp>
        <p:nvSpPr>
          <p:cNvPr id="414" name="Google Shape;414;p12"/>
          <p:cNvSpPr/>
          <p:nvPr/>
        </p:nvSpPr>
        <p:spPr>
          <a:xfrm>
            <a:off x="1938528" y="4581144"/>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Activate Referral Program</a:t>
            </a:r>
            <a:endParaRPr b="0" i="0" sz="1800" u="none" cap="none" strike="noStrike">
              <a:solidFill>
                <a:schemeClr val="dk1"/>
              </a:solidFill>
              <a:latin typeface="Calibri"/>
              <a:ea typeface="Calibri"/>
              <a:cs typeface="Calibri"/>
              <a:sym typeface="Calibri"/>
            </a:endParaRPr>
          </a:p>
        </p:txBody>
      </p:sp>
      <p:sp>
        <p:nvSpPr>
          <p:cNvPr id="415" name="Google Shape;415;p12"/>
          <p:cNvSpPr/>
          <p:nvPr/>
        </p:nvSpPr>
        <p:spPr>
          <a:xfrm>
            <a:off x="1938528" y="4873752"/>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Confirm $50 bonus with Liam, manual tracking spreadsheet, brief all consultants to ask for referrals every call.</a:t>
            </a:r>
            <a:endParaRPr b="0" i="0" sz="1150" u="none" cap="none" strike="noStrike">
              <a:solidFill>
                <a:schemeClr val="dk1"/>
              </a:solidFill>
              <a:latin typeface="Calibri"/>
              <a:ea typeface="Calibri"/>
              <a:cs typeface="Calibri"/>
              <a:sym typeface="Calibri"/>
            </a:endParaRPr>
          </a:p>
        </p:txBody>
      </p:sp>
      <p:sp>
        <p:nvSpPr>
          <p:cNvPr id="416" name="Google Shape;416;p12"/>
          <p:cNvSpPr/>
          <p:nvPr/>
        </p:nvSpPr>
        <p:spPr>
          <a:xfrm>
            <a:off x="6309360" y="4489704"/>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6419088" y="4690872"/>
            <a:ext cx="475488" cy="475488"/>
          </a:xfrm>
          <a:prstGeom prst="ellipse">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2"/>
          <p:cNvSpPr/>
          <p:nvPr/>
        </p:nvSpPr>
        <p:spPr>
          <a:xfrm>
            <a:off x="6419088" y="4690872"/>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8</a:t>
            </a:r>
            <a:endParaRPr b="0" i="0" sz="1200" u="none" cap="none" strike="noStrike">
              <a:solidFill>
                <a:schemeClr val="dk1"/>
              </a:solidFill>
              <a:latin typeface="Calibri"/>
              <a:ea typeface="Calibri"/>
              <a:cs typeface="Calibri"/>
              <a:sym typeface="Calibri"/>
            </a:endParaRPr>
          </a:p>
        </p:txBody>
      </p:sp>
      <p:sp>
        <p:nvSpPr>
          <p:cNvPr id="419" name="Google Shape;419;p12"/>
          <p:cNvSpPr/>
          <p:nvPr/>
        </p:nvSpPr>
        <p:spPr>
          <a:xfrm>
            <a:off x="6986016" y="4599432"/>
            <a:ext cx="731520" cy="237744"/>
          </a:xfrm>
          <a:prstGeom prst="roundRect">
            <a:avLst>
              <a:gd fmla="val 19231" name="adj"/>
            </a:avLst>
          </a:prstGeom>
          <a:solidFill>
            <a:srgbClr val="F2A93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2"/>
          <p:cNvSpPr/>
          <p:nvPr/>
        </p:nvSpPr>
        <p:spPr>
          <a:xfrm>
            <a:off x="6986016" y="4599432"/>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750"/>
              <a:buFont typeface="Calibri"/>
              <a:buNone/>
            </a:pPr>
            <a:r>
              <a:rPr b="1" i="0" lang="en-US" sz="1050" u="none" cap="none" strike="noStrike">
                <a:solidFill>
                  <a:srgbClr val="F2A93B"/>
                </a:solidFill>
                <a:latin typeface="Calibri"/>
                <a:ea typeface="Calibri"/>
                <a:cs typeface="Calibri"/>
                <a:sym typeface="Calibri"/>
              </a:rPr>
              <a:t>WEEK 2</a:t>
            </a:r>
            <a:endParaRPr b="0" i="0" sz="1050" u="none" cap="none" strike="noStrike">
              <a:solidFill>
                <a:schemeClr val="dk1"/>
              </a:solidFill>
              <a:latin typeface="Calibri"/>
              <a:ea typeface="Calibri"/>
              <a:cs typeface="Calibri"/>
              <a:sym typeface="Calibri"/>
            </a:endParaRPr>
          </a:p>
        </p:txBody>
      </p:sp>
      <p:sp>
        <p:nvSpPr>
          <p:cNvPr id="421" name="Google Shape;421;p12"/>
          <p:cNvSpPr/>
          <p:nvPr/>
        </p:nvSpPr>
        <p:spPr>
          <a:xfrm>
            <a:off x="7790688" y="4581144"/>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Cancellation SOP Live</a:t>
            </a:r>
            <a:endParaRPr b="0" i="0" sz="1800" u="none" cap="none" strike="noStrike">
              <a:solidFill>
                <a:schemeClr val="dk1"/>
              </a:solidFill>
              <a:latin typeface="Calibri"/>
              <a:ea typeface="Calibri"/>
              <a:cs typeface="Calibri"/>
              <a:sym typeface="Calibri"/>
            </a:endParaRPr>
          </a:p>
        </p:txBody>
      </p:sp>
      <p:sp>
        <p:nvSpPr>
          <p:cNvPr id="422" name="Google Shape;422;p12"/>
          <p:cNvSpPr/>
          <p:nvPr/>
        </p:nvSpPr>
        <p:spPr>
          <a:xfrm>
            <a:off x="7790688" y="4873752"/>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Sophia + Lorie: formal warning on second cancellation, removal on third. Log all cancellations in ClickUp.</a:t>
            </a:r>
            <a:endParaRPr b="0" i="0" sz="1150" u="none" cap="none" strike="noStrike">
              <a:solidFill>
                <a:schemeClr val="dk1"/>
              </a:solidFill>
              <a:latin typeface="Calibri"/>
              <a:ea typeface="Calibri"/>
              <a:cs typeface="Calibri"/>
              <a:sym typeface="Calibri"/>
            </a:endParaRPr>
          </a:p>
        </p:txBody>
      </p:sp>
      <p:sp>
        <p:nvSpPr>
          <p:cNvPr id="423" name="Google Shape;423;p12"/>
          <p:cNvSpPr/>
          <p:nvPr/>
        </p:nvSpPr>
        <p:spPr>
          <a:xfrm>
            <a:off x="457200" y="5513832"/>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2"/>
          <p:cNvSpPr/>
          <p:nvPr/>
        </p:nvSpPr>
        <p:spPr>
          <a:xfrm>
            <a:off x="566928" y="5715000"/>
            <a:ext cx="475488" cy="475488"/>
          </a:xfrm>
          <a:prstGeom prst="ellipse">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566928" y="571500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9</a:t>
            </a:r>
            <a:endParaRPr b="0" i="0" sz="1200" u="none" cap="none" strike="noStrike">
              <a:solidFill>
                <a:schemeClr val="dk1"/>
              </a:solidFill>
              <a:latin typeface="Calibri"/>
              <a:ea typeface="Calibri"/>
              <a:cs typeface="Calibri"/>
              <a:sym typeface="Calibri"/>
            </a:endParaRPr>
          </a:p>
        </p:txBody>
      </p:sp>
      <p:sp>
        <p:nvSpPr>
          <p:cNvPr id="426" name="Google Shape;426;p12"/>
          <p:cNvSpPr/>
          <p:nvPr/>
        </p:nvSpPr>
        <p:spPr>
          <a:xfrm>
            <a:off x="1133856" y="5623560"/>
            <a:ext cx="731520" cy="237744"/>
          </a:xfrm>
          <a:prstGeom prst="roundRect">
            <a:avLst>
              <a:gd fmla="val 19231" name="adj"/>
            </a:avLst>
          </a:prstGeom>
          <a:solidFill>
            <a:srgbClr val="3A6FF8">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
          <p:cNvSpPr/>
          <p:nvPr/>
        </p:nvSpPr>
        <p:spPr>
          <a:xfrm>
            <a:off x="1133856" y="5623560"/>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6FF8"/>
              </a:buClr>
              <a:buSzPts val="750"/>
              <a:buFont typeface="Calibri"/>
              <a:buNone/>
            </a:pPr>
            <a:r>
              <a:rPr b="1" i="0" lang="en-US" sz="1050" u="none" cap="none" strike="noStrike">
                <a:solidFill>
                  <a:srgbClr val="3A6FF8"/>
                </a:solidFill>
                <a:latin typeface="Calibri"/>
                <a:ea typeface="Calibri"/>
                <a:cs typeface="Calibri"/>
                <a:sym typeface="Calibri"/>
              </a:rPr>
              <a:t>MONTH 1</a:t>
            </a:r>
            <a:endParaRPr b="0" i="0" sz="1050" u="none" cap="none" strike="noStrike">
              <a:solidFill>
                <a:schemeClr val="dk1"/>
              </a:solidFill>
              <a:latin typeface="Calibri"/>
              <a:ea typeface="Calibri"/>
              <a:cs typeface="Calibri"/>
              <a:sym typeface="Calibri"/>
            </a:endParaRPr>
          </a:p>
        </p:txBody>
      </p:sp>
      <p:sp>
        <p:nvSpPr>
          <p:cNvPr id="428" name="Google Shape;428;p12"/>
          <p:cNvSpPr/>
          <p:nvPr/>
        </p:nvSpPr>
        <p:spPr>
          <a:xfrm>
            <a:off x="1938528" y="560527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TAFE SA Partnership</a:t>
            </a:r>
            <a:endParaRPr b="0" i="0" sz="1800" u="none" cap="none" strike="noStrike">
              <a:solidFill>
                <a:schemeClr val="dk1"/>
              </a:solidFill>
              <a:latin typeface="Calibri"/>
              <a:ea typeface="Calibri"/>
              <a:cs typeface="Calibri"/>
              <a:sym typeface="Calibri"/>
            </a:endParaRPr>
          </a:p>
        </p:txBody>
      </p:sp>
      <p:sp>
        <p:nvSpPr>
          <p:cNvPr id="429" name="Google Shape;429;p12"/>
          <p:cNvSpPr/>
          <p:nvPr/>
        </p:nvSpPr>
        <p:spPr>
          <a:xfrm>
            <a:off x="1938528" y="5897880"/>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Liam contacts TAFE SA for access to graduating Cert III cohorts. Pipeline of pre-qualified SA educators.</a:t>
            </a:r>
            <a:endParaRPr b="0" i="0" sz="1150" u="none" cap="none" strike="noStrike">
              <a:solidFill>
                <a:schemeClr val="dk1"/>
              </a:solidFill>
              <a:latin typeface="Calibri"/>
              <a:ea typeface="Calibri"/>
              <a:cs typeface="Calibri"/>
              <a:sym typeface="Calibri"/>
            </a:endParaRPr>
          </a:p>
        </p:txBody>
      </p:sp>
      <p:sp>
        <p:nvSpPr>
          <p:cNvPr id="430" name="Google Shape;430;p12"/>
          <p:cNvSpPr/>
          <p:nvPr/>
        </p:nvSpPr>
        <p:spPr>
          <a:xfrm>
            <a:off x="6309360" y="5513832"/>
            <a:ext cx="5577840" cy="914400"/>
          </a:xfrm>
          <a:prstGeom prst="roundRect">
            <a:avLst>
              <a:gd fmla="val 8000" name="adj"/>
            </a:avLst>
          </a:prstGeom>
          <a:solidFill>
            <a:srgbClr val="F7F8FD"/>
          </a:solidFill>
          <a:ln>
            <a:noFill/>
          </a:ln>
          <a:effectLst>
            <a:outerShdw blurRad="50800" rotWithShape="0" algn="bl" dir="27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2"/>
          <p:cNvSpPr/>
          <p:nvPr/>
        </p:nvSpPr>
        <p:spPr>
          <a:xfrm>
            <a:off x="6419088" y="5715000"/>
            <a:ext cx="475488" cy="475488"/>
          </a:xfrm>
          <a:prstGeom prst="ellipse">
            <a:avLst/>
          </a:prstGeom>
          <a:solidFill>
            <a:srgbClr val="3A6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p:nvPr/>
        </p:nvSpPr>
        <p:spPr>
          <a:xfrm>
            <a:off x="6419088" y="571500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10</a:t>
            </a:r>
            <a:endParaRPr b="0" i="0" sz="1200" u="none" cap="none" strike="noStrike">
              <a:solidFill>
                <a:schemeClr val="dk1"/>
              </a:solidFill>
              <a:latin typeface="Calibri"/>
              <a:ea typeface="Calibri"/>
              <a:cs typeface="Calibri"/>
              <a:sym typeface="Calibri"/>
            </a:endParaRPr>
          </a:p>
        </p:txBody>
      </p:sp>
      <p:sp>
        <p:nvSpPr>
          <p:cNvPr id="433" name="Google Shape;433;p12"/>
          <p:cNvSpPr/>
          <p:nvPr/>
        </p:nvSpPr>
        <p:spPr>
          <a:xfrm>
            <a:off x="6986016" y="5623560"/>
            <a:ext cx="731520" cy="237744"/>
          </a:xfrm>
          <a:prstGeom prst="roundRect">
            <a:avLst>
              <a:gd fmla="val 19231" name="adj"/>
            </a:avLst>
          </a:prstGeom>
          <a:solidFill>
            <a:srgbClr val="3A6FF8">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2"/>
          <p:cNvSpPr/>
          <p:nvPr/>
        </p:nvSpPr>
        <p:spPr>
          <a:xfrm>
            <a:off x="6986016" y="5623560"/>
            <a:ext cx="731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6FF8"/>
              </a:buClr>
              <a:buSzPts val="750"/>
              <a:buFont typeface="Calibri"/>
              <a:buNone/>
            </a:pPr>
            <a:r>
              <a:rPr b="1" i="0" lang="en-US" sz="1050" u="none" cap="none" strike="noStrike">
                <a:solidFill>
                  <a:srgbClr val="3A6FF8"/>
                </a:solidFill>
                <a:latin typeface="Calibri"/>
                <a:ea typeface="Calibri"/>
                <a:cs typeface="Calibri"/>
                <a:sym typeface="Calibri"/>
              </a:rPr>
              <a:t>MONTH 1</a:t>
            </a:r>
            <a:endParaRPr b="0" i="0" sz="1050" u="none" cap="none" strike="noStrike">
              <a:solidFill>
                <a:schemeClr val="dk1"/>
              </a:solidFill>
              <a:latin typeface="Calibri"/>
              <a:ea typeface="Calibri"/>
              <a:cs typeface="Calibri"/>
              <a:sym typeface="Calibri"/>
            </a:endParaRPr>
          </a:p>
        </p:txBody>
      </p:sp>
      <p:sp>
        <p:nvSpPr>
          <p:cNvPr id="435" name="Google Shape;435;p12"/>
          <p:cNvSpPr/>
          <p:nvPr/>
        </p:nvSpPr>
        <p:spPr>
          <a:xfrm>
            <a:off x="7790688" y="5605272"/>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A"/>
              </a:buClr>
              <a:buSzPts val="1100"/>
              <a:buFont typeface="Calibri"/>
              <a:buNone/>
            </a:pPr>
            <a:r>
              <a:rPr b="1" i="0" lang="en-US" sz="1800" u="none" cap="none" strike="noStrike">
                <a:solidFill>
                  <a:srgbClr val="1E2A3A"/>
                </a:solidFill>
                <a:latin typeface="Calibri"/>
                <a:ea typeface="Calibri"/>
                <a:cs typeface="Calibri"/>
                <a:sym typeface="Calibri"/>
              </a:rPr>
              <a:t>Onboarding Funnel Restructure</a:t>
            </a:r>
            <a:endParaRPr b="0" i="0" sz="1800" u="none" cap="none" strike="noStrike">
              <a:solidFill>
                <a:schemeClr val="dk1"/>
              </a:solidFill>
              <a:latin typeface="Calibri"/>
              <a:ea typeface="Calibri"/>
              <a:cs typeface="Calibri"/>
              <a:sym typeface="Calibri"/>
            </a:endParaRPr>
          </a:p>
        </p:txBody>
      </p:sp>
      <p:sp>
        <p:nvSpPr>
          <p:cNvPr id="436" name="Google Shape;436;p12"/>
          <p:cNvSpPr/>
          <p:nvPr/>
        </p:nvSpPr>
        <p:spPr>
          <a:xfrm>
            <a:off x="7790688" y="5897880"/>
            <a:ext cx="3977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0" i="0" lang="en-US" sz="1150" u="none" cap="none" strike="noStrike">
                <a:solidFill>
                  <a:srgbClr val="334155"/>
                </a:solidFill>
                <a:latin typeface="Calibri"/>
                <a:ea typeface="Calibri"/>
                <a:cs typeface="Calibri"/>
                <a:sym typeface="Calibri"/>
              </a:rPr>
              <a:t>Qualifying filter at registration live. Student pipeline created. Joy + Jane scope all changes in ONE IT build.</a:t>
            </a:r>
            <a:endParaRPr b="0" i="0" sz="1150" u="none" cap="none" strike="noStrike">
              <a:solidFill>
                <a:schemeClr val="dk1"/>
              </a:solidFill>
              <a:latin typeface="Calibri"/>
              <a:ea typeface="Calibri"/>
              <a:cs typeface="Calibri"/>
              <a:sym typeface="Calibri"/>
            </a:endParaRPr>
          </a:p>
        </p:txBody>
      </p:sp>
      <p:sp>
        <p:nvSpPr>
          <p:cNvPr id="437" name="Google Shape;437;p12"/>
          <p:cNvSpPr/>
          <p:nvPr/>
        </p:nvSpPr>
        <p:spPr>
          <a:xfrm>
            <a:off x="365760" y="6510528"/>
            <a:ext cx="11430000" cy="25603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4A3B8"/>
              </a:buClr>
              <a:buSzPts val="750"/>
              <a:buFont typeface="Calibri"/>
              <a:buNone/>
            </a:pPr>
            <a:r>
              <a:rPr b="0" i="1" lang="en-US" sz="750" u="none" cap="none" strike="noStrike">
                <a:solidFill>
                  <a:srgbClr val="94A3B8"/>
                </a:solidFill>
                <a:latin typeface="Calibri"/>
                <a:ea typeface="Calibri"/>
                <a:cs typeface="Calibri"/>
                <a:sym typeface="Calibri"/>
              </a:rPr>
              <a:t>Source: Raw Talent strategic planning session June 2026 | Joy Victoria analysis | Edge SA partnership confirmation June 2026 | ACA WRP Support Service | ACECQA NCS Training requirements. Action owners: Joy Victoria (strategy, calls, SOPs), Sophia Arwae (operations), Liam Baxter (WRP toggle, TAFE SA, Lorie brief), Prince/Yuvraj (tech).</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3A"/>
        </a:solidFill>
      </p:bgPr>
    </p:bg>
    <p:spTree>
      <p:nvGrpSpPr>
        <p:cNvPr id="442" name="Shape 442"/>
        <p:cNvGrpSpPr/>
        <p:nvPr/>
      </p:nvGrpSpPr>
      <p:grpSpPr>
        <a:xfrm>
          <a:off x="0" y="0"/>
          <a:ext cx="0" cy="0"/>
          <a:chOff x="0" y="0"/>
          <a:chExt cx="0" cy="0"/>
        </a:xfrm>
      </p:grpSpPr>
      <p:sp>
        <p:nvSpPr>
          <p:cNvPr id="443" name="Google Shape;443;p13"/>
          <p:cNvSpPr/>
          <p:nvPr/>
        </p:nvSpPr>
        <p:spPr>
          <a:xfrm>
            <a:off x="640080" y="73152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Summary &amp; Recommendation</a:t>
            </a:r>
            <a:endParaRPr b="0" i="0" sz="3200" u="none" cap="none" strike="noStrike">
              <a:solidFill>
                <a:schemeClr val="dk1"/>
              </a:solidFill>
              <a:latin typeface="Calibri"/>
              <a:ea typeface="Calibri"/>
              <a:cs typeface="Calibri"/>
              <a:sym typeface="Calibri"/>
            </a:endParaRPr>
          </a:p>
        </p:txBody>
      </p:sp>
      <p:sp>
        <p:nvSpPr>
          <p:cNvPr id="444" name="Google Shape;444;p13"/>
          <p:cNvSpPr/>
          <p:nvPr/>
        </p:nvSpPr>
        <p:spPr>
          <a:xfrm>
            <a:off x="457200" y="1645920"/>
            <a:ext cx="3566160" cy="3840480"/>
          </a:xfrm>
          <a:prstGeom prst="roundRect">
            <a:avLst>
              <a:gd fmla="val 3077" name="adj"/>
            </a:avLst>
          </a:prstGeom>
          <a:solidFill>
            <a:srgbClr val="2431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457200" y="1645920"/>
            <a:ext cx="3566160" cy="502920"/>
          </a:xfrm>
          <a:prstGeom prst="roundRect">
            <a:avLst>
              <a:gd fmla="val 18182" name="adj"/>
            </a:avLst>
          </a:prstGeom>
          <a:solidFill>
            <a:srgbClr val="E1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457200" y="1645920"/>
            <a:ext cx="3566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01</a:t>
            </a:r>
            <a:endParaRPr b="0" i="0" sz="2200" u="none" cap="none" strike="noStrike">
              <a:solidFill>
                <a:schemeClr val="dk1"/>
              </a:solidFill>
              <a:latin typeface="Calibri"/>
              <a:ea typeface="Calibri"/>
              <a:cs typeface="Calibri"/>
              <a:sym typeface="Calibri"/>
            </a:endParaRPr>
          </a:p>
        </p:txBody>
      </p:sp>
      <p:sp>
        <p:nvSpPr>
          <p:cNvPr id="447" name="Google Shape;447;p13"/>
          <p:cNvSpPr/>
          <p:nvPr/>
        </p:nvSpPr>
        <p:spPr>
          <a:xfrm>
            <a:off x="621792" y="224028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Don't try to out-TalentNow TalentNow</a:t>
            </a:r>
            <a:endParaRPr b="0" i="0" sz="2000" u="none" cap="none" strike="noStrike">
              <a:solidFill>
                <a:schemeClr val="dk1"/>
              </a:solidFill>
              <a:latin typeface="Calibri"/>
              <a:ea typeface="Calibri"/>
              <a:cs typeface="Calibri"/>
              <a:sym typeface="Calibri"/>
            </a:endParaRPr>
          </a:p>
        </p:txBody>
      </p:sp>
      <p:sp>
        <p:nvSpPr>
          <p:cNvPr id="448" name="Google Shape;448;p13"/>
          <p:cNvSpPr/>
          <p:nvPr/>
        </p:nvSpPr>
        <p:spPr>
          <a:xfrm>
            <a:off x="621792" y="3063240"/>
            <a:ext cx="324612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US" sz="1700" u="none" cap="none" strike="noStrike">
                <a:solidFill>
                  <a:srgbClr val="94A3B8"/>
                </a:solidFill>
                <a:latin typeface="Calibri"/>
                <a:ea typeface="Calibri"/>
                <a:cs typeface="Calibri"/>
                <a:sym typeface="Calibri"/>
              </a:rPr>
              <a:t>Their Connect model and 8-year tech lead are advantages RT cannot close in the short term. Don't compete on price or platform — compete on relationships, compliance depth, and SA-specific intelligence.</a:t>
            </a:r>
            <a:endParaRPr b="0" i="0" sz="1700" u="none" cap="none" strike="noStrike">
              <a:solidFill>
                <a:schemeClr val="dk1"/>
              </a:solidFill>
              <a:latin typeface="Calibri"/>
              <a:ea typeface="Calibri"/>
              <a:cs typeface="Calibri"/>
              <a:sym typeface="Calibri"/>
            </a:endParaRPr>
          </a:p>
        </p:txBody>
      </p:sp>
      <p:sp>
        <p:nvSpPr>
          <p:cNvPr id="449" name="Google Shape;449;p13"/>
          <p:cNvSpPr/>
          <p:nvPr/>
        </p:nvSpPr>
        <p:spPr>
          <a:xfrm>
            <a:off x="4297680" y="1645920"/>
            <a:ext cx="3566160" cy="3840480"/>
          </a:xfrm>
          <a:prstGeom prst="roundRect">
            <a:avLst>
              <a:gd fmla="val 3077" name="adj"/>
            </a:avLst>
          </a:prstGeom>
          <a:solidFill>
            <a:srgbClr val="2431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4297680" y="1645920"/>
            <a:ext cx="3566160" cy="502920"/>
          </a:xfrm>
          <a:prstGeom prst="roundRect">
            <a:avLst>
              <a:gd fmla="val 18182"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4297680" y="1645920"/>
            <a:ext cx="3566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02</a:t>
            </a:r>
            <a:endParaRPr b="0" i="0" sz="2200" u="none" cap="none" strike="noStrike">
              <a:solidFill>
                <a:schemeClr val="dk1"/>
              </a:solidFill>
              <a:latin typeface="Calibri"/>
              <a:ea typeface="Calibri"/>
              <a:cs typeface="Calibri"/>
              <a:sym typeface="Calibri"/>
            </a:endParaRPr>
          </a:p>
        </p:txBody>
      </p:sp>
      <p:sp>
        <p:nvSpPr>
          <p:cNvPr id="452" name="Google Shape;452;p13"/>
          <p:cNvSpPr/>
          <p:nvPr/>
        </p:nvSpPr>
        <p:spPr>
          <a:xfrm>
            <a:off x="4462272" y="224028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Win SA with speed, supply, and loyalty</a:t>
            </a:r>
            <a:endParaRPr b="0" i="0" sz="2000" u="none" cap="none" strike="noStrike">
              <a:solidFill>
                <a:schemeClr val="dk1"/>
              </a:solidFill>
              <a:latin typeface="Calibri"/>
              <a:ea typeface="Calibri"/>
              <a:cs typeface="Calibri"/>
              <a:sym typeface="Calibri"/>
            </a:endParaRPr>
          </a:p>
        </p:txBody>
      </p:sp>
      <p:sp>
        <p:nvSpPr>
          <p:cNvPr id="453" name="Google Shape;453;p13"/>
          <p:cNvSpPr/>
          <p:nvPr/>
        </p:nvSpPr>
        <p:spPr>
          <a:xfrm>
            <a:off x="4462272" y="3063240"/>
            <a:ext cx="324612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US" sz="1700" u="none" cap="none" strike="noStrike">
                <a:solidFill>
                  <a:srgbClr val="94A3B8"/>
                </a:solidFill>
                <a:latin typeface="Calibri"/>
                <a:ea typeface="Calibri"/>
                <a:cs typeface="Calibri"/>
                <a:sym typeface="Calibri"/>
              </a:rPr>
              <a:t>The Edge SA win is a 30–90 day window. Flood SA with active, compliant educators. Close the pay gap via WRP toggle. Lock in educator loyalty with incentives and appreciation. Do all three simultaneously.</a:t>
            </a:r>
            <a:endParaRPr b="0" i="0" sz="1700" u="none" cap="none" strike="noStrike">
              <a:solidFill>
                <a:schemeClr val="dk1"/>
              </a:solidFill>
              <a:latin typeface="Calibri"/>
              <a:ea typeface="Calibri"/>
              <a:cs typeface="Calibri"/>
              <a:sym typeface="Calibri"/>
            </a:endParaRPr>
          </a:p>
        </p:txBody>
      </p:sp>
      <p:sp>
        <p:nvSpPr>
          <p:cNvPr id="454" name="Google Shape;454;p13"/>
          <p:cNvSpPr/>
          <p:nvPr/>
        </p:nvSpPr>
        <p:spPr>
          <a:xfrm>
            <a:off x="8138160" y="1645920"/>
            <a:ext cx="3566160" cy="3840480"/>
          </a:xfrm>
          <a:prstGeom prst="roundRect">
            <a:avLst>
              <a:gd fmla="val 3077" name="adj"/>
            </a:avLst>
          </a:prstGeom>
          <a:solidFill>
            <a:srgbClr val="2431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8138160" y="1645920"/>
            <a:ext cx="3566160" cy="502920"/>
          </a:xfrm>
          <a:prstGeom prst="roundRect">
            <a:avLst>
              <a:gd fmla="val 18182" name="adj"/>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8138160" y="1645920"/>
            <a:ext cx="3566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03</a:t>
            </a:r>
            <a:endParaRPr b="0" i="0" sz="2200" u="none" cap="none" strike="noStrike">
              <a:solidFill>
                <a:schemeClr val="dk1"/>
              </a:solidFill>
              <a:latin typeface="Calibri"/>
              <a:ea typeface="Calibri"/>
              <a:cs typeface="Calibri"/>
              <a:sym typeface="Calibri"/>
            </a:endParaRPr>
          </a:p>
        </p:txBody>
      </p:sp>
      <p:sp>
        <p:nvSpPr>
          <p:cNvPr id="457" name="Google Shape;457;p13"/>
          <p:cNvSpPr/>
          <p:nvPr/>
        </p:nvSpPr>
        <p:spPr>
          <a:xfrm>
            <a:off x="8302752" y="224028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2000" u="none" cap="none" strike="noStrike">
                <a:solidFill>
                  <a:srgbClr val="FFFFFF"/>
                </a:solidFill>
                <a:latin typeface="Calibri"/>
                <a:ea typeface="Calibri"/>
                <a:cs typeface="Calibri"/>
                <a:sym typeface="Calibri"/>
              </a:rPr>
              <a:t>Build the RT platform as the long-term play</a:t>
            </a:r>
            <a:endParaRPr b="0" i="0" sz="2000" u="none" cap="none" strike="noStrike">
              <a:solidFill>
                <a:schemeClr val="dk1"/>
              </a:solidFill>
              <a:latin typeface="Calibri"/>
              <a:ea typeface="Calibri"/>
              <a:cs typeface="Calibri"/>
              <a:sym typeface="Calibri"/>
            </a:endParaRPr>
          </a:p>
        </p:txBody>
      </p:sp>
      <p:sp>
        <p:nvSpPr>
          <p:cNvPr id="458" name="Google Shape;458;p13"/>
          <p:cNvSpPr/>
          <p:nvPr/>
        </p:nvSpPr>
        <p:spPr>
          <a:xfrm>
            <a:off x="8302752" y="3063240"/>
            <a:ext cx="324612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US" sz="1700" u="none" cap="none" strike="noStrike">
                <a:solidFill>
                  <a:srgbClr val="94A3B8"/>
                </a:solidFill>
                <a:latin typeface="Calibri"/>
                <a:ea typeface="Calibri"/>
                <a:cs typeface="Calibri"/>
                <a:sym typeface="Calibri"/>
              </a:rPr>
              <a:t>In 3–5 years RT's vision is a marketplace platform. The SA childcare vertical is the proof of concept. Every process, SOP, and tech decision made now should be built as if it will scale to other industries.</a:t>
            </a:r>
            <a:endParaRPr b="0" i="0" sz="1700" u="none" cap="none" strike="noStrike">
              <a:solidFill>
                <a:schemeClr val="dk1"/>
              </a:solidFill>
              <a:latin typeface="Calibri"/>
              <a:ea typeface="Calibri"/>
              <a:cs typeface="Calibri"/>
              <a:sym typeface="Calibri"/>
            </a:endParaRPr>
          </a:p>
        </p:txBody>
      </p:sp>
      <p:sp>
        <p:nvSpPr>
          <p:cNvPr id="459" name="Google Shape;459;p13"/>
          <p:cNvSpPr/>
          <p:nvPr/>
        </p:nvSpPr>
        <p:spPr>
          <a:xfrm>
            <a:off x="640080" y="5806440"/>
            <a:ext cx="10789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93B"/>
              </a:buClr>
              <a:buSzPts val="1050"/>
              <a:buFont typeface="Calibri"/>
              <a:buNone/>
            </a:pPr>
            <a:r>
              <a:rPr b="0" i="1" lang="en-US" sz="1050" u="none" cap="none" strike="noStrike">
                <a:solidFill>
                  <a:srgbClr val="F2A93B"/>
                </a:solidFill>
                <a:latin typeface="Calibri"/>
                <a:ea typeface="Calibri"/>
                <a:cs typeface="Calibri"/>
                <a:sym typeface="Calibri"/>
              </a:rPr>
              <a:t>Next Steps: WRP toggle model (Joy, Week 1)  ·  SA educator export (Prince, Week 1)  ·  NCS Training audit (Joy + team, Week 1)  ·  Notification fix date (Yuvraj/Prince, Week 1)</a:t>
            </a:r>
            <a:endParaRPr b="0" i="0" sz="1050" u="none" cap="none" strike="noStrike">
              <a:solidFill>
                <a:schemeClr val="dk1"/>
              </a:solidFill>
              <a:latin typeface="Calibri"/>
              <a:ea typeface="Calibri"/>
              <a:cs typeface="Calibri"/>
              <a:sym typeface="Calibri"/>
            </a:endParaRPr>
          </a:p>
        </p:txBody>
      </p:sp>
      <p:sp>
        <p:nvSpPr>
          <p:cNvPr id="460" name="Google Shape;460;p13"/>
          <p:cNvSpPr/>
          <p:nvPr/>
        </p:nvSpPr>
        <p:spPr>
          <a:xfrm>
            <a:off x="640080" y="6400800"/>
            <a:ext cx="107899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00"/>
              <a:buFont typeface="Calibri"/>
              <a:buNone/>
            </a:pPr>
            <a:r>
              <a:rPr b="0" i="0" lang="en-US" sz="800" u="none" cap="none" strike="noStrike">
                <a:solidFill>
                  <a:srgbClr val="475569"/>
                </a:solidFill>
                <a:latin typeface="Calibri"/>
                <a:ea typeface="Calibri"/>
                <a:cs typeface="Calibri"/>
                <a:sym typeface="Calibri"/>
              </a:rPr>
              <a:t>Joy Victoria, Operations Manager — Raw Talent  ·  joy@rawtalent.com.au  ·  rawtalent.com.au  ·  June 2026  ·  CONFIDENTIAL</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2026-06-15T20:47:41Z</dcterms:created>
  <dc:creator>Joy Victoria, Operations Manager</dc:creator>
</cp:coreProperties>
</file>