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Hourly Rate (AUD)</c:v>
                </c:pt>
              </c:strCache>
            </c:strRef>
          </c:tx>
          <c:spPr>
            <a:solidFill>
              <a:srgbClr val="94A3B8"/>
            </a:solidFill>
            <a:effectLst/>
          </c:spPr>
          <c:invertIfNegative val="0"/>
          <c:dLbls>
            <c:numFmt formatCode="#,##0" sourceLinked="0"/>
            <c:txPr>
              <a:bodyPr/>
              <a:lstStyle/>
              <a:p>
                <a:pPr>
                  <a:defRPr b="0" i="0" strike="noStrike" sz="1000" u="none">
                    <a:solidFill>
                      <a:srgbClr val="1E2A3A"/>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E14B4B"/>
              </a:solidFill>
              <a:effectLst/>
            </c:spPr>
          </c:dPt>
          <c:dPt>
            <c:idx val="2"/>
            <c:invertIfNegative val="0"/>
            <c:bubble3D val="0"/>
            <c:spPr>
              <a:solidFill>
                <a:srgbClr val="F59E0B"/>
              </a:solidFill>
              <a:effectLst/>
            </c:spPr>
          </c:dPt>
          <c:dPt>
            <c:idx val="3"/>
            <c:invertIfNegative val="0"/>
            <c:bubble3D val="0"/>
            <c:spPr>
              <a:solidFill>
                <a:srgbClr val="F59E0B"/>
              </a:solidFill>
              <a:effectLst/>
            </c:spPr>
          </c:dPt>
          <c:dPt>
            <c:idx val="4"/>
            <c:invertIfNegative val="0"/>
            <c:bubble3D val="0"/>
            <c:spPr>
              <a:solidFill>
                <a:srgbClr val="E14B4B"/>
              </a:solidFill>
              <a:effectLst/>
            </c:spPr>
          </c:dPt>
          <c:dPt>
            <c:idx val="5"/>
            <c:invertIfNegative val="0"/>
            <c:bubble3D val="0"/>
            <c:spPr>
              <a:solidFill>
                <a:srgbClr val="27AE60"/>
              </a:solidFill>
              <a:effectLst/>
            </c:spPr>
          </c:dPt>
          <c:cat>
            <c:multiLvlStrRef>
              <c:f>Sheet1!$A$2:$A$7</c:f>
              <c:multiLvlStrCache>
                <c:ptCount val="6"/>
                <c:lvl>
                  <c:pt idx="0">
                    <c:v>Award Min
(Cert III)</c:v>
                  </c:pt>
                  <c:pt idx="1">
                    <c:v>RT Cert III
(No WRP)</c:v>
                  </c:pt>
                  <c:pt idx="2">
                    <c:v>RT Diploma
(No WRP)</c:v>
                  </c:pt>
                  <c:pt idx="3">
                    <c:v>TalentNow
Casual Hire (est.)</c:v>
                  </c:pt>
                  <c:pt idx="4">
                    <c:v>Entrée SA
(competitor)</c:v>
                  </c:pt>
                  <c:pt idx="5">
                    <c:v>RT Diploma
+ WRP Toggle</c:v>
                  </c:pt>
                </c:lvl>
              </c:multiLvlStrCache>
            </c:multiLvlStrRef>
          </c:cat>
          <c:val>
            <c:numRef>
              <c:f>Sheet1!$B$2:$B$7</c:f>
              <c:numCache>
                <c:formatCode>General</c:formatCode>
                <c:ptCount val="6"/>
                <c:pt idx="0">
                  <c:v>26.5</c:v>
                </c:pt>
                <c:pt idx="1">
                  <c:v>38</c:v>
                </c:pt>
                <c:pt idx="2">
                  <c:v>42</c:v>
                </c:pt>
                <c:pt idx="3">
                  <c:v>44</c:v>
                </c:pt>
                <c:pt idx="4">
                  <c:v>46.8</c:v>
                </c:pt>
                <c:pt idx="5">
                  <c:v>45.7</c:v>
                </c:pt>
              </c:numCache>
            </c:numRef>
          </c:val>
        </c:ser>
        <c:dLbls>
          <c:numFmt formatCode="#,##0" sourceLinked="0"/>
          <c:txPr>
            <a:bodyPr/>
            <a:lstStyle/>
            <a:p>
              <a:pPr>
                <a:defRPr b="0" i="0" strike="noStrike" sz="1000" u="none">
                  <a:solidFill>
                    <a:srgbClr val="1E2A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52"/>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Presenter: Joy Victoria, Operations Manager. This report covers Raw Talent vs TalentNow and what SA growth actions follow from that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June 2026: Diploma with WRP toggle = $45.70 (not $46.20 as previously shown). Cert III with WRP = $40.57. Sophia Arwae confirmed these exact figures during the June 15 review meeting. The gap vs Entrée ($46.80) is narrowed significantly with the Diploma WRP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was added following the June 15 meeting. Joy and Sophia reviewed TalentNow's website live during the meeting and noted the online calculator as a smart marketing tool. Sophia said: 'This is kind of like make someone interested — which is a smart marketing actually.' No action has been assigned yet as it depends on IT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REVISED June 2026: Scoring bar chart removed as agreed in Joy and Sophia review meeting. Replaced with gap-response table that directly answers 'what is TalentNow doing and what can we do about it' — the exact framing Liam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REVISED June 2026: Action plan updated to include only actions that are direct competitive responses to TalentNow. Removed: Facebook Lead Ads, TAFE SA Partnership, Cancellation SOP, Re-engagement Calls — these are separate RT operational items tracked in the PM Tracker, not TalentNow-specific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6688836" y="0"/>
            <a:ext cx="5472684" cy="6858000"/>
          </a:xfrm>
          <a:prstGeom prst="rect">
            <a:avLst/>
          </a:prstGeom>
          <a:solidFill>
            <a:srgbClr val="243147"/>
          </a:solidFill>
          <a:ln w="12700">
            <a:solidFill>
              <a:srgbClr val="243147"/>
            </a:solidFill>
            <a:prstDash val="solid"/>
          </a:ln>
        </p:spPr>
      </p:sp>
      <p:sp>
        <p:nvSpPr>
          <p:cNvPr id="3" name="Text 1"/>
          <p:cNvSpPr/>
          <p:nvPr/>
        </p:nvSpPr>
        <p:spPr>
          <a:xfrm>
            <a:off x="640080" y="1097280"/>
            <a:ext cx="6035040" cy="109728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Raw Talent vs TalentNow</a:t>
            </a:r>
            <a:endParaRPr lang="en-US" sz="4200" dirty="0"/>
          </a:p>
        </p:txBody>
      </p:sp>
      <p:sp>
        <p:nvSpPr>
          <p:cNvPr id="4" name="Text 2"/>
          <p:cNvSpPr/>
          <p:nvPr/>
        </p:nvSpPr>
        <p:spPr>
          <a:xfrm>
            <a:off x="640080" y="2286000"/>
            <a:ext cx="6035040" cy="640080"/>
          </a:xfrm>
          <a:prstGeom prst="rect">
            <a:avLst/>
          </a:prstGeom>
          <a:noFill/>
          <a:ln/>
        </p:spPr>
        <p:txBody>
          <a:bodyPr wrap="square" lIns="0" tIns="0" rIns="0" bIns="0" rtlCol="0" anchor="ctr"/>
          <a:lstStyle/>
          <a:p>
            <a:pPr indent="0" marL="0">
              <a:buNone/>
            </a:pPr>
            <a:r>
              <a:rPr lang="en-US" sz="2200" dirty="0">
                <a:solidFill>
                  <a:srgbClr val="F2A93B"/>
                </a:solidFill>
                <a:latin typeface="Calibri" pitchFamily="34" charset="0"/>
                <a:ea typeface="Calibri" pitchFamily="34" charset="-122"/>
                <a:cs typeface="Calibri" pitchFamily="34" charset="-120"/>
              </a:rPr>
              <a:t>Competitive Intelligence Report</a:t>
            </a:r>
            <a:endParaRPr lang="en-US" sz="2200" dirty="0"/>
          </a:p>
        </p:txBody>
      </p:sp>
      <p:sp>
        <p:nvSpPr>
          <p:cNvPr id="5" name="Text 3"/>
          <p:cNvSpPr/>
          <p:nvPr/>
        </p:nvSpPr>
        <p:spPr>
          <a:xfrm>
            <a:off x="640080" y="2834640"/>
            <a:ext cx="6035040" cy="457200"/>
          </a:xfrm>
          <a:prstGeom prst="rect">
            <a:avLst/>
          </a:prstGeom>
          <a:noFill/>
          <a:ln/>
        </p:spPr>
        <p:txBody>
          <a:bodyPr wrap="square" lIns="0" tIns="0" rIns="0" bIns="0" rtlCol="0" anchor="ctr"/>
          <a:lstStyle/>
          <a:p>
            <a:pPr indent="0" marL="0">
              <a:buNone/>
            </a:pPr>
            <a:r>
              <a:rPr lang="en-US" sz="1400" dirty="0">
                <a:solidFill>
                  <a:srgbClr val="94A3B8"/>
                </a:solidFill>
              </a:rPr>
              <a:t>Strategic Analysis &amp; South Australia Growth Plan</a:t>
            </a:r>
            <a:endParaRPr lang="en-US" sz="1400" dirty="0"/>
          </a:p>
        </p:txBody>
      </p:sp>
      <p:sp>
        <p:nvSpPr>
          <p:cNvPr id="6" name="Shape 4"/>
          <p:cNvSpPr/>
          <p:nvPr/>
        </p:nvSpPr>
        <p:spPr>
          <a:xfrm>
            <a:off x="640080" y="3429000"/>
            <a:ext cx="3657600" cy="0"/>
          </a:xfrm>
          <a:prstGeom prst="line">
            <a:avLst/>
          </a:prstGeom>
          <a:noFill/>
          <a:ln w="25400">
            <a:solidFill>
              <a:srgbClr val="3A6FF8"/>
            </a:solidFill>
            <a:prstDash val="solid"/>
          </a:ln>
        </p:spPr>
      </p:sp>
      <p:sp>
        <p:nvSpPr>
          <p:cNvPr id="7" name="Text 5"/>
          <p:cNvSpPr/>
          <p:nvPr/>
        </p:nvSpPr>
        <p:spPr>
          <a:xfrm>
            <a:off x="640080" y="3657600"/>
            <a:ext cx="6035040" cy="320040"/>
          </a:xfrm>
          <a:prstGeom prst="rect">
            <a:avLst/>
          </a:prstGeom>
          <a:noFill/>
          <a:ln/>
        </p:spPr>
        <p:txBody>
          <a:bodyPr wrap="square" lIns="0" tIns="0" rIns="0" bIns="0" rtlCol="0" anchor="ctr"/>
          <a:lstStyle/>
          <a:p>
            <a:pPr indent="0" marL="0">
              <a:buNone/>
            </a:pPr>
            <a:r>
              <a:rPr lang="en-US" sz="1200" b="1" dirty="0">
                <a:solidFill>
                  <a:srgbClr val="94A3B8"/>
                </a:solidFill>
              </a:rPr>
              <a:t>Prepared by: </a:t>
            </a:r>
            <a:pPr indent="0" marL="0">
              <a:buNone/>
            </a:pPr>
            <a:r>
              <a:rPr lang="en-US" sz="1200" dirty="0">
                <a:solidFill>
                  <a:srgbClr val="FFFFFF"/>
                </a:solidFill>
              </a:rPr>
              <a:t>Joy Victoria, Operations Manager</a:t>
            </a:r>
            <a:endParaRPr lang="en-US" sz="1200" dirty="0"/>
          </a:p>
        </p:txBody>
      </p:sp>
      <p:sp>
        <p:nvSpPr>
          <p:cNvPr id="8" name="Text 6"/>
          <p:cNvSpPr/>
          <p:nvPr/>
        </p:nvSpPr>
        <p:spPr>
          <a:xfrm>
            <a:off x="640080" y="3977640"/>
            <a:ext cx="6035040" cy="320040"/>
          </a:xfrm>
          <a:prstGeom prst="rect">
            <a:avLst/>
          </a:prstGeom>
          <a:noFill/>
          <a:ln/>
        </p:spPr>
        <p:txBody>
          <a:bodyPr wrap="square" lIns="0" tIns="0" rIns="0" bIns="0" rtlCol="0" anchor="ctr"/>
          <a:lstStyle/>
          <a:p>
            <a:pPr indent="0" marL="0">
              <a:buNone/>
            </a:pPr>
            <a:r>
              <a:rPr lang="en-US" sz="1200" b="1" dirty="0">
                <a:solidFill>
                  <a:srgbClr val="94A3B8"/>
                </a:solidFill>
              </a:rPr>
              <a:t>Date: </a:t>
            </a:r>
            <a:pPr indent="0" marL="0">
              <a:buNone/>
            </a:pPr>
            <a:r>
              <a:rPr lang="en-US" sz="1200" dirty="0">
                <a:solidFill>
                  <a:srgbClr val="FFFFFF"/>
                </a:solidFill>
              </a:rPr>
              <a:t>June 2026  ·  Version 1.1  ·  CONFIDENTIAL</a:t>
            </a:r>
            <a:endParaRPr lang="en-US" sz="1200" dirty="0"/>
          </a:p>
        </p:txBody>
      </p:sp>
      <p:sp>
        <p:nvSpPr>
          <p:cNvPr id="9" name="Text 7"/>
          <p:cNvSpPr/>
          <p:nvPr/>
        </p:nvSpPr>
        <p:spPr>
          <a:xfrm>
            <a:off x="6932066" y="731520"/>
            <a:ext cx="4754880" cy="640080"/>
          </a:xfrm>
          <a:prstGeom prst="rect">
            <a:avLst/>
          </a:prstGeom>
          <a:noFill/>
          <a:ln/>
        </p:spPr>
        <p:txBody>
          <a:bodyPr wrap="square" lIns="0" tIns="0" rIns="0" bIns="0" rtlCol="0" anchor="ctr"/>
          <a:lstStyle/>
          <a:p>
            <a:pPr indent="0" marL="0">
              <a:buNone/>
            </a:pPr>
            <a:r>
              <a:rPr lang="en-US" sz="3800" b="1" dirty="0">
                <a:solidFill>
                  <a:srgbClr val="F2A93B"/>
                </a:solidFill>
                <a:latin typeface="Cambria" pitchFamily="34" charset="0"/>
                <a:ea typeface="Cambria" pitchFamily="34" charset="-122"/>
                <a:cs typeface="Cambria" pitchFamily="34" charset="-120"/>
              </a:rPr>
              <a:t>8 Years</a:t>
            </a:r>
            <a:endParaRPr lang="en-US" sz="3800" dirty="0"/>
          </a:p>
        </p:txBody>
      </p:sp>
      <p:sp>
        <p:nvSpPr>
          <p:cNvPr id="10" name="Text 8"/>
          <p:cNvSpPr/>
          <p:nvPr/>
        </p:nvSpPr>
        <p:spPr>
          <a:xfrm>
            <a:off x="6932066" y="1298448"/>
            <a:ext cx="4754880" cy="365760"/>
          </a:xfrm>
          <a:prstGeom prst="rect">
            <a:avLst/>
          </a:prstGeom>
          <a:noFill/>
          <a:ln/>
        </p:spPr>
        <p:txBody>
          <a:bodyPr wrap="square" lIns="0" tIns="0" rIns="0" bIns="0" rtlCol="0" anchor="ctr"/>
          <a:lstStyle/>
          <a:p>
            <a:pPr indent="0" marL="0">
              <a:buNone/>
            </a:pPr>
            <a:r>
              <a:rPr lang="en-US" sz="1200" dirty="0">
                <a:solidFill>
                  <a:srgbClr val="94A3B8"/>
                </a:solidFill>
              </a:rPr>
              <a:t>TalentNow established</a:t>
            </a:r>
            <a:endParaRPr lang="en-US" sz="1200" dirty="0"/>
          </a:p>
        </p:txBody>
      </p:sp>
      <p:sp>
        <p:nvSpPr>
          <p:cNvPr id="11" name="Text 9"/>
          <p:cNvSpPr/>
          <p:nvPr/>
        </p:nvSpPr>
        <p:spPr>
          <a:xfrm>
            <a:off x="6932066" y="2148840"/>
            <a:ext cx="4754880" cy="640080"/>
          </a:xfrm>
          <a:prstGeom prst="rect">
            <a:avLst/>
          </a:prstGeom>
          <a:noFill/>
          <a:ln/>
        </p:spPr>
        <p:txBody>
          <a:bodyPr wrap="square" lIns="0" tIns="0" rIns="0" bIns="0" rtlCol="0" anchor="ctr"/>
          <a:lstStyle/>
          <a:p>
            <a:pPr indent="0" marL="0">
              <a:buNone/>
            </a:pPr>
            <a:r>
              <a:rPr lang="en-US" sz="3800" b="1" dirty="0">
                <a:solidFill>
                  <a:srgbClr val="F2A93B"/>
                </a:solidFill>
                <a:latin typeface="Cambria" pitchFamily="34" charset="0"/>
                <a:ea typeface="Cambria" pitchFamily="34" charset="-122"/>
                <a:cs typeface="Cambria" pitchFamily="34" charset="-120"/>
              </a:rPr>
              <a:t>$30/shift</a:t>
            </a:r>
            <a:endParaRPr lang="en-US" sz="3800" dirty="0"/>
          </a:p>
        </p:txBody>
      </p:sp>
      <p:sp>
        <p:nvSpPr>
          <p:cNvPr id="12" name="Text 10"/>
          <p:cNvSpPr/>
          <p:nvPr/>
        </p:nvSpPr>
        <p:spPr>
          <a:xfrm>
            <a:off x="6932066" y="2715768"/>
            <a:ext cx="4754880" cy="365760"/>
          </a:xfrm>
          <a:prstGeom prst="rect">
            <a:avLst/>
          </a:prstGeom>
          <a:noFill/>
          <a:ln/>
        </p:spPr>
        <p:txBody>
          <a:bodyPr wrap="square" lIns="0" tIns="0" rIns="0" bIns="0" rtlCol="0" anchor="ctr"/>
          <a:lstStyle/>
          <a:p>
            <a:pPr indent="0" marL="0">
              <a:buNone/>
            </a:pPr>
            <a:r>
              <a:rPr lang="en-US" sz="1200" dirty="0">
                <a:solidFill>
                  <a:srgbClr val="94A3B8"/>
                </a:solidFill>
              </a:rPr>
              <a:t>TalentNow Connect flat fee</a:t>
            </a:r>
            <a:endParaRPr lang="en-US" sz="1200" dirty="0"/>
          </a:p>
        </p:txBody>
      </p:sp>
      <p:sp>
        <p:nvSpPr>
          <p:cNvPr id="13" name="Text 11"/>
          <p:cNvSpPr/>
          <p:nvPr/>
        </p:nvSpPr>
        <p:spPr>
          <a:xfrm>
            <a:off x="6932066" y="3566160"/>
            <a:ext cx="4754880" cy="640080"/>
          </a:xfrm>
          <a:prstGeom prst="rect">
            <a:avLst/>
          </a:prstGeom>
          <a:noFill/>
          <a:ln/>
        </p:spPr>
        <p:txBody>
          <a:bodyPr wrap="square" lIns="0" tIns="0" rIns="0" bIns="0" rtlCol="0" anchor="ctr"/>
          <a:lstStyle/>
          <a:p>
            <a:pPr indent="0" marL="0">
              <a:buNone/>
            </a:pPr>
            <a:r>
              <a:rPr lang="en-US" sz="3800" b="1" dirty="0">
                <a:solidFill>
                  <a:srgbClr val="F2A93B"/>
                </a:solidFill>
                <a:latin typeface="Cambria" pitchFamily="34" charset="0"/>
                <a:ea typeface="Cambria" pitchFamily="34" charset="-122"/>
                <a:cs typeface="Cambria" pitchFamily="34" charset="-120"/>
              </a:rPr>
              <a:t>~$4–5/hr</a:t>
            </a:r>
            <a:endParaRPr lang="en-US" sz="3800" dirty="0"/>
          </a:p>
        </p:txBody>
      </p:sp>
      <p:sp>
        <p:nvSpPr>
          <p:cNvPr id="14" name="Text 12"/>
          <p:cNvSpPr/>
          <p:nvPr/>
        </p:nvSpPr>
        <p:spPr>
          <a:xfrm>
            <a:off x="6932066" y="4133088"/>
            <a:ext cx="4754880" cy="365760"/>
          </a:xfrm>
          <a:prstGeom prst="rect">
            <a:avLst/>
          </a:prstGeom>
          <a:noFill/>
          <a:ln/>
        </p:spPr>
        <p:txBody>
          <a:bodyPr wrap="square" lIns="0" tIns="0" rIns="0" bIns="0" rtlCol="0" anchor="ctr"/>
          <a:lstStyle/>
          <a:p>
            <a:pPr indent="0" marL="0">
              <a:buNone/>
            </a:pPr>
            <a:r>
              <a:rPr lang="en-US" sz="1200" dirty="0">
                <a:solidFill>
                  <a:srgbClr val="94A3B8"/>
                </a:solidFill>
              </a:rPr>
              <a:t>SA pay gap vs competitors</a:t>
            </a:r>
            <a:endParaRPr lang="en-US" sz="1200" dirty="0"/>
          </a:p>
        </p:txBody>
      </p:sp>
      <p:sp>
        <p:nvSpPr>
          <p:cNvPr id="15" name="Text 13"/>
          <p:cNvSpPr/>
          <p:nvPr/>
        </p:nvSpPr>
        <p:spPr>
          <a:xfrm>
            <a:off x="6932066" y="4983480"/>
            <a:ext cx="4754880" cy="640080"/>
          </a:xfrm>
          <a:prstGeom prst="rect">
            <a:avLst/>
          </a:prstGeom>
          <a:noFill/>
          <a:ln/>
        </p:spPr>
        <p:txBody>
          <a:bodyPr wrap="square" lIns="0" tIns="0" rIns="0" bIns="0" rtlCol="0" anchor="ctr"/>
          <a:lstStyle/>
          <a:p>
            <a:pPr indent="0" marL="0">
              <a:buNone/>
            </a:pPr>
            <a:r>
              <a:rPr lang="en-US" sz="3800" b="1" dirty="0">
                <a:solidFill>
                  <a:srgbClr val="F2A93B"/>
                </a:solidFill>
                <a:latin typeface="Cambria" pitchFamily="34" charset="0"/>
                <a:ea typeface="Cambria" pitchFamily="34" charset="-122"/>
                <a:cs typeface="Cambria" pitchFamily="34" charset="-120"/>
              </a:rPr>
              <a:t>900+</a:t>
            </a:r>
            <a:endParaRPr lang="en-US" sz="3800" dirty="0"/>
          </a:p>
        </p:txBody>
      </p:sp>
      <p:sp>
        <p:nvSpPr>
          <p:cNvPr id="16" name="Text 14"/>
          <p:cNvSpPr/>
          <p:nvPr/>
        </p:nvSpPr>
        <p:spPr>
          <a:xfrm>
            <a:off x="6932066" y="5550408"/>
            <a:ext cx="4754880" cy="365760"/>
          </a:xfrm>
          <a:prstGeom prst="rect">
            <a:avLst/>
          </a:prstGeom>
          <a:noFill/>
          <a:ln/>
        </p:spPr>
        <p:txBody>
          <a:bodyPr wrap="square" lIns="0" tIns="0" rIns="0" bIns="0" rtlCol="0" anchor="ctr"/>
          <a:lstStyle/>
          <a:p>
            <a:pPr indent="0" marL="0">
              <a:buNone/>
            </a:pPr>
            <a:r>
              <a:rPr lang="en-US" sz="1200" dirty="0">
                <a:solidFill>
                  <a:srgbClr val="94A3B8"/>
                </a:solidFill>
              </a:rPr>
              <a:t>Applicants in RT vetting backlog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1E2A3A"/>
          </a:solidFill>
          <a:ln w="12700">
            <a:solidFill>
              <a:srgbClr val="1E2A3A"/>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EXECUTIVE SUMMARY</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Three Things Liam Needs to Know</a:t>
            </a:r>
            <a:endParaRPr lang="en-US" sz="3000" dirty="0"/>
          </a:p>
        </p:txBody>
      </p:sp>
      <p:sp>
        <p:nvSpPr>
          <p:cNvPr id="5" name="Shape 3"/>
          <p:cNvSpPr/>
          <p:nvPr/>
        </p:nvSpPr>
        <p:spPr>
          <a:xfrm>
            <a:off x="457200" y="1554480"/>
            <a:ext cx="3566160" cy="4114800"/>
          </a:xfrm>
          <a:prstGeom prst="roundRect">
            <a:avLst>
              <a:gd name="adj" fmla="val 3077"/>
            </a:avLst>
          </a:prstGeom>
          <a:solidFill>
            <a:srgbClr val="F7F8FD"/>
          </a:solidFill>
          <a:ln/>
          <a:effectLst>
            <a:outerShdw sx="100000" sy="100000" kx="0" ky="0" algn="bl" rotWithShape="0" blurRad="101600" dist="25400" dir="2700000">
              <a:srgbClr val="000000">
                <a:alpha val="8000"/>
              </a:srgbClr>
            </a:outerShdw>
          </a:effectLst>
        </p:spPr>
      </p:sp>
      <p:sp>
        <p:nvSpPr>
          <p:cNvPr id="6" name="Shape 4"/>
          <p:cNvSpPr/>
          <p:nvPr/>
        </p:nvSpPr>
        <p:spPr>
          <a:xfrm>
            <a:off x="457200" y="1554480"/>
            <a:ext cx="3566160" cy="640080"/>
          </a:xfrm>
          <a:prstGeom prst="roundRect">
            <a:avLst>
              <a:gd name="adj" fmla="val 17143"/>
            </a:avLst>
          </a:prstGeom>
          <a:solidFill>
            <a:srgbClr val="E14B4B"/>
          </a:solidFill>
          <a:ln/>
        </p:spPr>
      </p:sp>
      <p:sp>
        <p:nvSpPr>
          <p:cNvPr id="7" name="Text 5"/>
          <p:cNvSpPr/>
          <p:nvPr/>
        </p:nvSpPr>
        <p:spPr>
          <a:xfrm>
            <a:off x="457200" y="1554480"/>
            <a:ext cx="356616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01</a:t>
            </a:r>
            <a:endParaRPr lang="en-US" sz="2800" dirty="0"/>
          </a:p>
        </p:txBody>
      </p:sp>
      <p:sp>
        <p:nvSpPr>
          <p:cNvPr id="8" name="Text 6"/>
          <p:cNvSpPr/>
          <p:nvPr/>
        </p:nvSpPr>
        <p:spPr>
          <a:xfrm>
            <a:off x="621792" y="2267712"/>
            <a:ext cx="3246120" cy="777240"/>
          </a:xfrm>
          <a:prstGeom prst="rect">
            <a:avLst/>
          </a:prstGeom>
          <a:noFill/>
          <a:ln/>
        </p:spPr>
        <p:txBody>
          <a:bodyPr wrap="square" lIns="0" tIns="0" rIns="0" bIns="0" rtlCol="0" anchor="ctr"/>
          <a:lstStyle/>
          <a:p>
            <a:pPr indent="0" marL="0">
              <a:buNone/>
            </a:pPr>
            <a:r>
              <a:rPr lang="en-US" sz="1200" b="1" dirty="0">
                <a:solidFill>
                  <a:srgbClr val="1E2A3A"/>
                </a:solidFill>
              </a:rPr>
              <a:t>TalentNow's Connect model is architecturally better for WRP</a:t>
            </a:r>
            <a:endParaRPr lang="en-US" sz="1200" dirty="0"/>
          </a:p>
        </p:txBody>
      </p:sp>
      <p:sp>
        <p:nvSpPr>
          <p:cNvPr id="9" name="Text 7"/>
          <p:cNvSpPr/>
          <p:nvPr/>
        </p:nvSpPr>
        <p:spPr>
          <a:xfrm>
            <a:off x="621792" y="3063240"/>
            <a:ext cx="3246120" cy="2286000"/>
          </a:xfrm>
          <a:prstGeom prst="rect">
            <a:avLst/>
          </a:prstGeom>
          <a:noFill/>
          <a:ln/>
        </p:spPr>
        <p:txBody>
          <a:bodyPr wrap="square" lIns="0" tIns="0" rIns="0" bIns="0" rtlCol="0" anchor="ctr"/>
          <a:lstStyle/>
          <a:p>
            <a:pPr indent="0" marL="0">
              <a:buNone/>
            </a:pPr>
            <a:r>
              <a:rPr lang="en-US" sz="1100" dirty="0">
                <a:solidFill>
                  <a:srgbClr val="334155"/>
                </a:solidFill>
              </a:rPr>
              <a:t>Their $30/shift marketplace model lets centres employ educators directly — making them WRP-eligible. This is structurally cheaper than any traditional agency and Raw Talent currently has no equivalent offer.</a:t>
            </a:r>
            <a:endParaRPr lang="en-US" sz="1100" dirty="0"/>
          </a:p>
        </p:txBody>
      </p:sp>
      <p:sp>
        <p:nvSpPr>
          <p:cNvPr id="10" name="Shape 8"/>
          <p:cNvSpPr/>
          <p:nvPr/>
        </p:nvSpPr>
        <p:spPr>
          <a:xfrm>
            <a:off x="4206240" y="1554480"/>
            <a:ext cx="3566160" cy="4114800"/>
          </a:xfrm>
          <a:prstGeom prst="roundRect">
            <a:avLst>
              <a:gd name="adj" fmla="val 3077"/>
            </a:avLst>
          </a:prstGeom>
          <a:solidFill>
            <a:srgbClr val="F7F8FD"/>
          </a:solidFill>
          <a:ln/>
          <a:effectLst>
            <a:outerShdw sx="100000" sy="100000" kx="0" ky="0" algn="bl" rotWithShape="0" blurRad="101600" dist="25400" dir="2700000">
              <a:srgbClr val="000000">
                <a:alpha val="8000"/>
              </a:srgbClr>
            </a:outerShdw>
          </a:effectLst>
        </p:spPr>
      </p:sp>
      <p:sp>
        <p:nvSpPr>
          <p:cNvPr id="11" name="Shape 9"/>
          <p:cNvSpPr/>
          <p:nvPr/>
        </p:nvSpPr>
        <p:spPr>
          <a:xfrm>
            <a:off x="4206240" y="1554480"/>
            <a:ext cx="3566160" cy="640080"/>
          </a:xfrm>
          <a:prstGeom prst="roundRect">
            <a:avLst>
              <a:gd name="adj" fmla="val 17143"/>
            </a:avLst>
          </a:prstGeom>
          <a:solidFill>
            <a:srgbClr val="F2A93B"/>
          </a:solidFill>
          <a:ln/>
        </p:spPr>
      </p:sp>
      <p:sp>
        <p:nvSpPr>
          <p:cNvPr id="12" name="Text 10"/>
          <p:cNvSpPr/>
          <p:nvPr/>
        </p:nvSpPr>
        <p:spPr>
          <a:xfrm>
            <a:off x="4206240" y="1554480"/>
            <a:ext cx="356616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02</a:t>
            </a:r>
            <a:endParaRPr lang="en-US" sz="2800" dirty="0"/>
          </a:p>
        </p:txBody>
      </p:sp>
      <p:sp>
        <p:nvSpPr>
          <p:cNvPr id="13" name="Text 11"/>
          <p:cNvSpPr/>
          <p:nvPr/>
        </p:nvSpPr>
        <p:spPr>
          <a:xfrm>
            <a:off x="4370832" y="2267712"/>
            <a:ext cx="3246120" cy="777240"/>
          </a:xfrm>
          <a:prstGeom prst="rect">
            <a:avLst/>
          </a:prstGeom>
          <a:noFill/>
          <a:ln/>
        </p:spPr>
        <p:txBody>
          <a:bodyPr wrap="square" lIns="0" tIns="0" rIns="0" bIns="0" rtlCol="0" anchor="ctr"/>
          <a:lstStyle/>
          <a:p>
            <a:pPr indent="0" marL="0">
              <a:buNone/>
            </a:pPr>
            <a:r>
              <a:rPr lang="en-US" sz="1200" b="1" dirty="0">
                <a:solidFill>
                  <a:srgbClr val="1E2A3A"/>
                </a:solidFill>
              </a:rPr>
              <a:t>Raw Talent's Edge SA win is a time-sensitive supply problem</a:t>
            </a:r>
            <a:endParaRPr lang="en-US" sz="1200" dirty="0"/>
          </a:p>
        </p:txBody>
      </p:sp>
      <p:sp>
        <p:nvSpPr>
          <p:cNvPr id="14" name="Text 12"/>
          <p:cNvSpPr/>
          <p:nvPr/>
        </p:nvSpPr>
        <p:spPr>
          <a:xfrm>
            <a:off x="4370832" y="3063240"/>
            <a:ext cx="3246120" cy="2286000"/>
          </a:xfrm>
          <a:prstGeom prst="rect">
            <a:avLst/>
          </a:prstGeom>
          <a:noFill/>
          <a:ln/>
        </p:spPr>
        <p:txBody>
          <a:bodyPr wrap="square" lIns="0" tIns="0" rIns="0" bIns="0" rtlCol="0" anchor="ctr"/>
          <a:lstStyle/>
          <a:p>
            <a:pPr indent="0" marL="0">
              <a:buNone/>
            </a:pPr>
            <a:r>
              <a:rPr lang="en-US" sz="1100" dirty="0">
                <a:solidFill>
                  <a:srgbClr val="334155"/>
                </a:solidFill>
              </a:rPr>
              <a:t>Edge confirmed us as priority agency. The risk is not competition — it's supply. We don't have enough active, compliant SA educators to fill the volume Edge will generate. This must be fixed now.</a:t>
            </a:r>
            <a:endParaRPr lang="en-US" sz="1100" dirty="0"/>
          </a:p>
        </p:txBody>
      </p:sp>
      <p:sp>
        <p:nvSpPr>
          <p:cNvPr id="15" name="Shape 13"/>
          <p:cNvSpPr/>
          <p:nvPr/>
        </p:nvSpPr>
        <p:spPr>
          <a:xfrm>
            <a:off x="7955280" y="1554480"/>
            <a:ext cx="3566160" cy="4114800"/>
          </a:xfrm>
          <a:prstGeom prst="roundRect">
            <a:avLst>
              <a:gd name="adj" fmla="val 3077"/>
            </a:avLst>
          </a:prstGeom>
          <a:solidFill>
            <a:srgbClr val="F7F8FD"/>
          </a:solidFill>
          <a:ln/>
          <a:effectLst>
            <a:outerShdw sx="100000" sy="100000" kx="0" ky="0" algn="bl" rotWithShape="0" blurRad="101600" dist="25400" dir="2700000">
              <a:srgbClr val="000000">
                <a:alpha val="8000"/>
              </a:srgbClr>
            </a:outerShdw>
          </a:effectLst>
        </p:spPr>
      </p:sp>
      <p:sp>
        <p:nvSpPr>
          <p:cNvPr id="16" name="Shape 14"/>
          <p:cNvSpPr/>
          <p:nvPr/>
        </p:nvSpPr>
        <p:spPr>
          <a:xfrm>
            <a:off x="7955280" y="1554480"/>
            <a:ext cx="3566160" cy="640080"/>
          </a:xfrm>
          <a:prstGeom prst="roundRect">
            <a:avLst>
              <a:gd name="adj" fmla="val 17143"/>
            </a:avLst>
          </a:prstGeom>
          <a:solidFill>
            <a:srgbClr val="27AE60"/>
          </a:solidFill>
          <a:ln/>
        </p:spPr>
      </p:sp>
      <p:sp>
        <p:nvSpPr>
          <p:cNvPr id="17" name="Text 15"/>
          <p:cNvSpPr/>
          <p:nvPr/>
        </p:nvSpPr>
        <p:spPr>
          <a:xfrm>
            <a:off x="7955280" y="1554480"/>
            <a:ext cx="356616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03</a:t>
            </a:r>
            <a:endParaRPr lang="en-US" sz="2800" dirty="0"/>
          </a:p>
        </p:txBody>
      </p:sp>
      <p:sp>
        <p:nvSpPr>
          <p:cNvPr id="18" name="Text 16"/>
          <p:cNvSpPr/>
          <p:nvPr/>
        </p:nvSpPr>
        <p:spPr>
          <a:xfrm>
            <a:off x="8119872" y="2267712"/>
            <a:ext cx="3246120" cy="777240"/>
          </a:xfrm>
          <a:prstGeom prst="rect">
            <a:avLst/>
          </a:prstGeom>
          <a:noFill/>
          <a:ln/>
        </p:spPr>
        <p:txBody>
          <a:bodyPr wrap="square" lIns="0" tIns="0" rIns="0" bIns="0" rtlCol="0" anchor="ctr"/>
          <a:lstStyle/>
          <a:p>
            <a:pPr indent="0" marL="0">
              <a:buNone/>
            </a:pPr>
            <a:r>
              <a:rPr lang="en-US" sz="1200" b="1" dirty="0">
                <a:solidFill>
                  <a:srgbClr val="1E2A3A"/>
                </a:solidFill>
              </a:rPr>
              <a:t>Raw Talent's human advantage is defensible — but only if we act</a:t>
            </a:r>
            <a:endParaRPr lang="en-US" sz="1200" dirty="0"/>
          </a:p>
        </p:txBody>
      </p:sp>
      <p:sp>
        <p:nvSpPr>
          <p:cNvPr id="19" name="Text 17"/>
          <p:cNvSpPr/>
          <p:nvPr/>
        </p:nvSpPr>
        <p:spPr>
          <a:xfrm>
            <a:off x="8119872" y="3063240"/>
            <a:ext cx="3246120" cy="2286000"/>
          </a:xfrm>
          <a:prstGeom prst="rect">
            <a:avLst/>
          </a:prstGeom>
          <a:noFill/>
          <a:ln/>
        </p:spPr>
        <p:txBody>
          <a:bodyPr wrap="square" lIns="0" tIns="0" rIns="0" bIns="0" rtlCol="0" anchor="ctr"/>
          <a:lstStyle/>
          <a:p>
            <a:pPr indent="0" marL="0">
              <a:buNone/>
            </a:pPr>
            <a:r>
              <a:rPr lang="en-US" sz="1100" dirty="0">
                <a:solidFill>
                  <a:srgbClr val="334155"/>
                </a:solidFill>
              </a:rPr>
              <a:t>Centre visits, personal relationships, and SA-specific compliance knowledge are things TalentNow cannot replicate from NSW. But TalentNow is 8 years ahead in technology. We must close the operational gaps urgently.</a:t>
            </a:r>
            <a:endParaRPr lang="en-US" sz="1100" dirty="0"/>
          </a:p>
        </p:txBody>
      </p:sp>
      <p:sp>
        <p:nvSpPr>
          <p:cNvPr id="20" name="Text 18"/>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Sources: TalentNow.com.au | ACECQA | ACA Worker Retention Payment | Raw Talent internal data | Joy Victoria analysis, June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E14B4B"/>
          </a:solidFill>
          <a:ln w="12700">
            <a:solidFill>
              <a:srgbClr val="E14B4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COMPETITOR PROFILE</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Who Is TalentNow?</a:t>
            </a:r>
            <a:endParaRPr lang="en-US" sz="3000" dirty="0"/>
          </a:p>
        </p:txBody>
      </p:sp>
      <p:sp>
        <p:nvSpPr>
          <p:cNvPr id="5" name="Shape 3"/>
          <p:cNvSpPr/>
          <p:nvPr/>
        </p:nvSpPr>
        <p:spPr>
          <a:xfrm>
            <a:off x="457200" y="1508760"/>
            <a:ext cx="1645920" cy="566928"/>
          </a:xfrm>
          <a:prstGeom prst="rect">
            <a:avLst/>
          </a:prstGeom>
          <a:solidFill>
            <a:srgbClr val="1E2A3A"/>
          </a:solidFill>
          <a:ln w="12700">
            <a:solidFill>
              <a:srgbClr val="1E2A3A"/>
            </a:solidFill>
            <a:prstDash val="solid"/>
          </a:ln>
        </p:spPr>
      </p:sp>
      <p:sp>
        <p:nvSpPr>
          <p:cNvPr id="6" name="Text 4"/>
          <p:cNvSpPr/>
          <p:nvPr/>
        </p:nvSpPr>
        <p:spPr>
          <a:xfrm>
            <a:off x="457200" y="15087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Founded</a:t>
            </a:r>
            <a:endParaRPr lang="en-US" sz="1000" dirty="0"/>
          </a:p>
        </p:txBody>
      </p:sp>
      <p:sp>
        <p:nvSpPr>
          <p:cNvPr id="7" name="Shape 5"/>
          <p:cNvSpPr/>
          <p:nvPr/>
        </p:nvSpPr>
        <p:spPr>
          <a:xfrm>
            <a:off x="2121408" y="1508760"/>
            <a:ext cx="4846320" cy="566928"/>
          </a:xfrm>
          <a:prstGeom prst="rect">
            <a:avLst/>
          </a:prstGeom>
          <a:solidFill>
            <a:srgbClr val="F7F8FD"/>
          </a:solidFill>
          <a:ln w="12700">
            <a:solidFill>
              <a:srgbClr val="E2E8F0"/>
            </a:solidFill>
            <a:prstDash val="solid"/>
          </a:ln>
        </p:spPr>
      </p:sp>
      <p:sp>
        <p:nvSpPr>
          <p:cNvPr id="8" name="Text 6"/>
          <p:cNvSpPr/>
          <p:nvPr/>
        </p:nvSpPr>
        <p:spPr>
          <a:xfrm>
            <a:off x="2194560" y="15087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2018 by Liddy Korner, Mosman NSW</a:t>
            </a:r>
            <a:endParaRPr lang="en-US" sz="1100" dirty="0"/>
          </a:p>
        </p:txBody>
      </p:sp>
      <p:sp>
        <p:nvSpPr>
          <p:cNvPr id="9" name="Shape 7"/>
          <p:cNvSpPr/>
          <p:nvPr/>
        </p:nvSpPr>
        <p:spPr>
          <a:xfrm>
            <a:off x="457200" y="2194560"/>
            <a:ext cx="1645920" cy="566928"/>
          </a:xfrm>
          <a:prstGeom prst="rect">
            <a:avLst/>
          </a:prstGeom>
          <a:solidFill>
            <a:srgbClr val="1E2A3A"/>
          </a:solidFill>
          <a:ln w="12700">
            <a:solidFill>
              <a:srgbClr val="1E2A3A"/>
            </a:solidFill>
            <a:prstDash val="solid"/>
          </a:ln>
        </p:spPr>
      </p:sp>
      <p:sp>
        <p:nvSpPr>
          <p:cNvPr id="10" name="Text 8"/>
          <p:cNvSpPr/>
          <p:nvPr/>
        </p:nvSpPr>
        <p:spPr>
          <a:xfrm>
            <a:off x="457200" y="21945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Reach</a:t>
            </a:r>
            <a:endParaRPr lang="en-US" sz="1000" dirty="0"/>
          </a:p>
        </p:txBody>
      </p:sp>
      <p:sp>
        <p:nvSpPr>
          <p:cNvPr id="11" name="Shape 9"/>
          <p:cNvSpPr/>
          <p:nvPr/>
        </p:nvSpPr>
        <p:spPr>
          <a:xfrm>
            <a:off x="2121408" y="2194560"/>
            <a:ext cx="4846320" cy="566928"/>
          </a:xfrm>
          <a:prstGeom prst="rect">
            <a:avLst/>
          </a:prstGeom>
          <a:solidFill>
            <a:srgbClr val="F7F8FD"/>
          </a:solidFill>
          <a:ln w="12700">
            <a:solidFill>
              <a:srgbClr val="E2E8F0"/>
            </a:solidFill>
            <a:prstDash val="solid"/>
          </a:ln>
        </p:spPr>
      </p:sp>
      <p:sp>
        <p:nvSpPr>
          <p:cNvPr id="12" name="Text 10"/>
          <p:cNvSpPr/>
          <p:nvPr/>
        </p:nvSpPr>
        <p:spPr>
          <a:xfrm>
            <a:off x="2194560" y="21945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National — all states and territories</a:t>
            </a:r>
            <a:endParaRPr lang="en-US" sz="1100" dirty="0"/>
          </a:p>
        </p:txBody>
      </p:sp>
      <p:sp>
        <p:nvSpPr>
          <p:cNvPr id="13" name="Shape 11"/>
          <p:cNvSpPr/>
          <p:nvPr/>
        </p:nvSpPr>
        <p:spPr>
          <a:xfrm>
            <a:off x="457200" y="2880360"/>
            <a:ext cx="1645920" cy="566928"/>
          </a:xfrm>
          <a:prstGeom prst="rect">
            <a:avLst/>
          </a:prstGeom>
          <a:solidFill>
            <a:srgbClr val="1E2A3A"/>
          </a:solidFill>
          <a:ln w="12700">
            <a:solidFill>
              <a:srgbClr val="1E2A3A"/>
            </a:solidFill>
            <a:prstDash val="solid"/>
          </a:ln>
        </p:spPr>
      </p:sp>
      <p:sp>
        <p:nvSpPr>
          <p:cNvPr id="14" name="Text 12"/>
          <p:cNvSpPr/>
          <p:nvPr/>
        </p:nvSpPr>
        <p:spPr>
          <a:xfrm>
            <a:off x="457200" y="28803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Self-described</a:t>
            </a:r>
            <a:endParaRPr lang="en-US" sz="1000" dirty="0"/>
          </a:p>
        </p:txBody>
      </p:sp>
      <p:sp>
        <p:nvSpPr>
          <p:cNvPr id="15" name="Shape 13"/>
          <p:cNvSpPr/>
          <p:nvPr/>
        </p:nvSpPr>
        <p:spPr>
          <a:xfrm>
            <a:off x="2121408" y="2880360"/>
            <a:ext cx="4846320" cy="566928"/>
          </a:xfrm>
          <a:prstGeom prst="rect">
            <a:avLst/>
          </a:prstGeom>
          <a:solidFill>
            <a:srgbClr val="F7F8FD"/>
          </a:solidFill>
          <a:ln w="12700">
            <a:solidFill>
              <a:srgbClr val="E2E8F0"/>
            </a:solidFill>
            <a:prstDash val="solid"/>
          </a:ln>
        </p:spPr>
      </p:sp>
      <p:sp>
        <p:nvSpPr>
          <p:cNvPr id="16" name="Text 14"/>
          <p:cNvSpPr/>
          <p:nvPr/>
        </p:nvSpPr>
        <p:spPr>
          <a:xfrm>
            <a:off x="2194560" y="28803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"Uber of childcare" — first app-based ECEC staffing in Australia</a:t>
            </a:r>
            <a:endParaRPr lang="en-US" sz="1100" dirty="0"/>
          </a:p>
        </p:txBody>
      </p:sp>
      <p:sp>
        <p:nvSpPr>
          <p:cNvPr id="17" name="Shape 15"/>
          <p:cNvSpPr/>
          <p:nvPr/>
        </p:nvSpPr>
        <p:spPr>
          <a:xfrm>
            <a:off x="457200" y="3566160"/>
            <a:ext cx="1645920" cy="566928"/>
          </a:xfrm>
          <a:prstGeom prst="rect">
            <a:avLst/>
          </a:prstGeom>
          <a:solidFill>
            <a:srgbClr val="1E2A3A"/>
          </a:solidFill>
          <a:ln w="12700">
            <a:solidFill>
              <a:srgbClr val="1E2A3A"/>
            </a:solidFill>
            <a:prstDash val="solid"/>
          </a:ln>
        </p:spPr>
      </p:sp>
      <p:sp>
        <p:nvSpPr>
          <p:cNvPr id="18" name="Text 16"/>
          <p:cNvSpPr/>
          <p:nvPr/>
        </p:nvSpPr>
        <p:spPr>
          <a:xfrm>
            <a:off x="457200" y="35661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Ownership</a:t>
            </a:r>
            <a:endParaRPr lang="en-US" sz="1000" dirty="0"/>
          </a:p>
        </p:txBody>
      </p:sp>
      <p:sp>
        <p:nvSpPr>
          <p:cNvPr id="19" name="Shape 17"/>
          <p:cNvSpPr/>
          <p:nvPr/>
        </p:nvSpPr>
        <p:spPr>
          <a:xfrm>
            <a:off x="2121408" y="3566160"/>
            <a:ext cx="4846320" cy="566928"/>
          </a:xfrm>
          <a:prstGeom prst="rect">
            <a:avLst/>
          </a:prstGeom>
          <a:solidFill>
            <a:srgbClr val="F7F8FD"/>
          </a:solidFill>
          <a:ln w="12700">
            <a:solidFill>
              <a:srgbClr val="E2E8F0"/>
            </a:solidFill>
            <a:prstDash val="solid"/>
          </a:ln>
        </p:spPr>
      </p:sp>
      <p:sp>
        <p:nvSpPr>
          <p:cNvPr id="20" name="Text 18"/>
          <p:cNvSpPr/>
          <p:nvPr/>
        </p:nvSpPr>
        <p:spPr>
          <a:xfrm>
            <a:off x="2194560" y="35661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Independent — not owned by any childcare provider</a:t>
            </a:r>
            <a:endParaRPr lang="en-US" sz="1100" dirty="0"/>
          </a:p>
        </p:txBody>
      </p:sp>
      <p:sp>
        <p:nvSpPr>
          <p:cNvPr id="21" name="Shape 19"/>
          <p:cNvSpPr/>
          <p:nvPr/>
        </p:nvSpPr>
        <p:spPr>
          <a:xfrm>
            <a:off x="457200" y="4251960"/>
            <a:ext cx="1645920" cy="566928"/>
          </a:xfrm>
          <a:prstGeom prst="rect">
            <a:avLst/>
          </a:prstGeom>
          <a:solidFill>
            <a:srgbClr val="1E2A3A"/>
          </a:solidFill>
          <a:ln w="12700">
            <a:solidFill>
              <a:srgbClr val="1E2A3A"/>
            </a:solidFill>
            <a:prstDash val="solid"/>
          </a:ln>
        </p:spPr>
      </p:sp>
      <p:sp>
        <p:nvSpPr>
          <p:cNvPr id="22" name="Text 20"/>
          <p:cNvSpPr/>
          <p:nvPr/>
        </p:nvSpPr>
        <p:spPr>
          <a:xfrm>
            <a:off x="457200" y="42519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App</a:t>
            </a:r>
            <a:endParaRPr lang="en-US" sz="1000" dirty="0"/>
          </a:p>
        </p:txBody>
      </p:sp>
      <p:sp>
        <p:nvSpPr>
          <p:cNvPr id="23" name="Shape 21"/>
          <p:cNvSpPr/>
          <p:nvPr/>
        </p:nvSpPr>
        <p:spPr>
          <a:xfrm>
            <a:off x="2121408" y="4251960"/>
            <a:ext cx="4846320" cy="566928"/>
          </a:xfrm>
          <a:prstGeom prst="rect">
            <a:avLst/>
          </a:prstGeom>
          <a:solidFill>
            <a:srgbClr val="F7F8FD"/>
          </a:solidFill>
          <a:ln w="12700">
            <a:solidFill>
              <a:srgbClr val="E2E8F0"/>
            </a:solidFill>
            <a:prstDash val="solid"/>
          </a:ln>
        </p:spPr>
      </p:sp>
      <p:sp>
        <p:nvSpPr>
          <p:cNvPr id="24" name="Text 22"/>
          <p:cNvSpPr/>
          <p:nvPr/>
        </p:nvSpPr>
        <p:spPr>
          <a:xfrm>
            <a:off x="2194560" y="42519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Free iOS + Android — educators sign up in minutes</a:t>
            </a:r>
            <a:endParaRPr lang="en-US" sz="1100" dirty="0"/>
          </a:p>
        </p:txBody>
      </p:sp>
      <p:sp>
        <p:nvSpPr>
          <p:cNvPr id="25" name="Shape 23"/>
          <p:cNvSpPr/>
          <p:nvPr/>
        </p:nvSpPr>
        <p:spPr>
          <a:xfrm>
            <a:off x="457200" y="4937760"/>
            <a:ext cx="1645920" cy="566928"/>
          </a:xfrm>
          <a:prstGeom prst="rect">
            <a:avLst/>
          </a:prstGeom>
          <a:solidFill>
            <a:srgbClr val="1E2A3A"/>
          </a:solidFill>
          <a:ln w="12700">
            <a:solidFill>
              <a:srgbClr val="1E2A3A"/>
            </a:solidFill>
            <a:prstDash val="solid"/>
          </a:ln>
        </p:spPr>
      </p:sp>
      <p:sp>
        <p:nvSpPr>
          <p:cNvPr id="26" name="Text 24"/>
          <p:cNvSpPr/>
          <p:nvPr/>
        </p:nvSpPr>
        <p:spPr>
          <a:xfrm>
            <a:off x="457200" y="49377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Contact</a:t>
            </a:r>
            <a:endParaRPr lang="en-US" sz="1000" dirty="0"/>
          </a:p>
        </p:txBody>
      </p:sp>
      <p:sp>
        <p:nvSpPr>
          <p:cNvPr id="27" name="Shape 25"/>
          <p:cNvSpPr/>
          <p:nvPr/>
        </p:nvSpPr>
        <p:spPr>
          <a:xfrm>
            <a:off x="2121408" y="4937760"/>
            <a:ext cx="4846320" cy="566928"/>
          </a:xfrm>
          <a:prstGeom prst="rect">
            <a:avLst/>
          </a:prstGeom>
          <a:solidFill>
            <a:srgbClr val="F7F8FD"/>
          </a:solidFill>
          <a:ln w="12700">
            <a:solidFill>
              <a:srgbClr val="E2E8F0"/>
            </a:solidFill>
            <a:prstDash val="solid"/>
          </a:ln>
        </p:spPr>
      </p:sp>
      <p:sp>
        <p:nvSpPr>
          <p:cNvPr id="28" name="Text 26"/>
          <p:cNvSpPr/>
          <p:nvPr/>
        </p:nvSpPr>
        <p:spPr>
          <a:xfrm>
            <a:off x="2194560" y="49377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1800 840 889  ·  info@talentnow.com.au</a:t>
            </a:r>
            <a:endParaRPr lang="en-US" sz="1100" dirty="0"/>
          </a:p>
        </p:txBody>
      </p:sp>
      <p:sp>
        <p:nvSpPr>
          <p:cNvPr id="29" name="Shape 27"/>
          <p:cNvSpPr/>
          <p:nvPr/>
        </p:nvSpPr>
        <p:spPr>
          <a:xfrm>
            <a:off x="7589520" y="1463040"/>
            <a:ext cx="4114800" cy="1097280"/>
          </a:xfrm>
          <a:prstGeom prst="roundRect">
            <a:avLst>
              <a:gd name="adj" fmla="val 8333"/>
            </a:avLst>
          </a:prstGeom>
          <a:solidFill>
            <a:srgbClr val="1E2A3A"/>
          </a:solidFill>
          <a:ln/>
        </p:spPr>
      </p:sp>
      <p:sp>
        <p:nvSpPr>
          <p:cNvPr id="30" name="Text 28"/>
          <p:cNvSpPr/>
          <p:nvPr/>
        </p:nvSpPr>
        <p:spPr>
          <a:xfrm>
            <a:off x="7589520" y="1508760"/>
            <a:ext cx="41148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8</a:t>
            </a:r>
            <a:endParaRPr lang="en-US" sz="3200" dirty="0"/>
          </a:p>
        </p:txBody>
      </p:sp>
      <p:sp>
        <p:nvSpPr>
          <p:cNvPr id="31" name="Text 29"/>
          <p:cNvSpPr/>
          <p:nvPr/>
        </p:nvSpPr>
        <p:spPr>
          <a:xfrm>
            <a:off x="7589520" y="2029968"/>
            <a:ext cx="4114800" cy="384048"/>
          </a:xfrm>
          <a:prstGeom prst="rect">
            <a:avLst/>
          </a:prstGeom>
          <a:noFill/>
          <a:ln/>
        </p:spPr>
        <p:txBody>
          <a:bodyPr wrap="square" lIns="0" tIns="0" rIns="0" bIns="0" rtlCol="0" anchor="ctr"/>
          <a:lstStyle/>
          <a:p>
            <a:pPr algn="ctr" indent="0" marL="0">
              <a:buNone/>
            </a:pPr>
            <a:r>
              <a:rPr lang="en-US" sz="1000" dirty="0">
                <a:solidFill>
                  <a:srgbClr val="AABCFF"/>
                </a:solidFill>
              </a:rPr>
              <a:t>Years operating (2018–2026)</a:t>
            </a:r>
            <a:endParaRPr lang="en-US" sz="1000" dirty="0"/>
          </a:p>
        </p:txBody>
      </p:sp>
      <p:sp>
        <p:nvSpPr>
          <p:cNvPr id="32" name="Shape 30"/>
          <p:cNvSpPr/>
          <p:nvPr/>
        </p:nvSpPr>
        <p:spPr>
          <a:xfrm>
            <a:off x="7589520" y="2697480"/>
            <a:ext cx="4114800" cy="1097280"/>
          </a:xfrm>
          <a:prstGeom prst="roundRect">
            <a:avLst>
              <a:gd name="adj" fmla="val 8333"/>
            </a:avLst>
          </a:prstGeom>
          <a:solidFill>
            <a:srgbClr val="3A6FF8"/>
          </a:solidFill>
          <a:ln/>
        </p:spPr>
      </p:sp>
      <p:sp>
        <p:nvSpPr>
          <p:cNvPr id="33" name="Text 31"/>
          <p:cNvSpPr/>
          <p:nvPr/>
        </p:nvSpPr>
        <p:spPr>
          <a:xfrm>
            <a:off x="7589520" y="2743200"/>
            <a:ext cx="41148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a:t>
            </a:r>
            <a:endParaRPr lang="en-US" sz="3200" dirty="0"/>
          </a:p>
        </p:txBody>
      </p:sp>
      <p:sp>
        <p:nvSpPr>
          <p:cNvPr id="34" name="Text 32"/>
          <p:cNvSpPr/>
          <p:nvPr/>
        </p:nvSpPr>
        <p:spPr>
          <a:xfrm>
            <a:off x="7589520" y="3264408"/>
            <a:ext cx="4114800" cy="384048"/>
          </a:xfrm>
          <a:prstGeom prst="rect">
            <a:avLst/>
          </a:prstGeom>
          <a:noFill/>
          <a:ln/>
        </p:spPr>
        <p:txBody>
          <a:bodyPr wrap="square" lIns="0" tIns="0" rIns="0" bIns="0" rtlCol="0" anchor="ctr"/>
          <a:lstStyle/>
          <a:p>
            <a:pPr algn="ctr" indent="0" marL="0">
              <a:buNone/>
            </a:pPr>
            <a:r>
              <a:rPr lang="en-US" sz="1000" dirty="0">
                <a:solidFill>
                  <a:srgbClr val="AABCFF"/>
                </a:solidFill>
              </a:rPr>
              <a:t>Distinct products (Connect + Casual Hire)</a:t>
            </a:r>
            <a:endParaRPr lang="en-US" sz="1000" dirty="0"/>
          </a:p>
        </p:txBody>
      </p:sp>
      <p:sp>
        <p:nvSpPr>
          <p:cNvPr id="35" name="Shape 33"/>
          <p:cNvSpPr/>
          <p:nvPr/>
        </p:nvSpPr>
        <p:spPr>
          <a:xfrm>
            <a:off x="7589520" y="3931920"/>
            <a:ext cx="4114800" cy="1097280"/>
          </a:xfrm>
          <a:prstGeom prst="roundRect">
            <a:avLst>
              <a:gd name="adj" fmla="val 8333"/>
            </a:avLst>
          </a:prstGeom>
          <a:solidFill>
            <a:srgbClr val="1E2A3A"/>
          </a:solidFill>
          <a:ln/>
        </p:spPr>
      </p:sp>
      <p:sp>
        <p:nvSpPr>
          <p:cNvPr id="36" name="Text 34"/>
          <p:cNvSpPr/>
          <p:nvPr/>
        </p:nvSpPr>
        <p:spPr>
          <a:xfrm>
            <a:off x="7589520" y="3977640"/>
            <a:ext cx="41148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$30</a:t>
            </a:r>
            <a:endParaRPr lang="en-US" sz="3200" dirty="0"/>
          </a:p>
        </p:txBody>
      </p:sp>
      <p:sp>
        <p:nvSpPr>
          <p:cNvPr id="37" name="Text 35"/>
          <p:cNvSpPr/>
          <p:nvPr/>
        </p:nvSpPr>
        <p:spPr>
          <a:xfrm>
            <a:off x="7589520" y="4498848"/>
            <a:ext cx="4114800" cy="384048"/>
          </a:xfrm>
          <a:prstGeom prst="rect">
            <a:avLst/>
          </a:prstGeom>
          <a:noFill/>
          <a:ln/>
        </p:spPr>
        <p:txBody>
          <a:bodyPr wrap="square" lIns="0" tIns="0" rIns="0" bIns="0" rtlCol="0" anchor="ctr"/>
          <a:lstStyle/>
          <a:p>
            <a:pPr algn="ctr" indent="0" marL="0">
              <a:buNone/>
            </a:pPr>
            <a:r>
              <a:rPr lang="en-US" sz="1000" dirty="0">
                <a:solidFill>
                  <a:srgbClr val="AABCFF"/>
                </a:solidFill>
              </a:rPr>
              <a:t>Flat booking fee per shift (Connect model)</a:t>
            </a:r>
            <a:endParaRPr lang="en-US" sz="1000" dirty="0"/>
          </a:p>
        </p:txBody>
      </p:sp>
      <p:sp>
        <p:nvSpPr>
          <p:cNvPr id="38" name="Shape 36"/>
          <p:cNvSpPr/>
          <p:nvPr/>
        </p:nvSpPr>
        <p:spPr>
          <a:xfrm>
            <a:off x="7589520" y="5166360"/>
            <a:ext cx="4114800" cy="1097280"/>
          </a:xfrm>
          <a:prstGeom prst="roundRect">
            <a:avLst>
              <a:gd name="adj" fmla="val 8333"/>
            </a:avLst>
          </a:prstGeom>
          <a:solidFill>
            <a:srgbClr val="3A6FF8"/>
          </a:solidFill>
          <a:ln/>
        </p:spPr>
      </p:sp>
      <p:sp>
        <p:nvSpPr>
          <p:cNvPr id="39" name="Text 37"/>
          <p:cNvSpPr/>
          <p:nvPr/>
        </p:nvSpPr>
        <p:spPr>
          <a:xfrm>
            <a:off x="7589520" y="5212080"/>
            <a:ext cx="41148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National</a:t>
            </a:r>
            <a:endParaRPr lang="en-US" sz="3200" dirty="0"/>
          </a:p>
        </p:txBody>
      </p:sp>
      <p:sp>
        <p:nvSpPr>
          <p:cNvPr id="40" name="Text 38"/>
          <p:cNvSpPr/>
          <p:nvPr/>
        </p:nvSpPr>
        <p:spPr>
          <a:xfrm>
            <a:off x="7589520" y="5733288"/>
            <a:ext cx="4114800" cy="384048"/>
          </a:xfrm>
          <a:prstGeom prst="rect">
            <a:avLst/>
          </a:prstGeom>
          <a:noFill/>
          <a:ln/>
        </p:spPr>
        <p:txBody>
          <a:bodyPr wrap="square" lIns="0" tIns="0" rIns="0" bIns="0" rtlCol="0" anchor="ctr"/>
          <a:lstStyle/>
          <a:p>
            <a:pPr algn="ctr" indent="0" marL="0">
              <a:buNone/>
            </a:pPr>
            <a:r>
              <a:rPr lang="en-US" sz="1000" dirty="0">
                <a:solidFill>
                  <a:srgbClr val="AABCFF"/>
                </a:solidFill>
              </a:rPr>
              <a:t>Educator pool across all AU states</a:t>
            </a:r>
            <a:endParaRPr lang="en-US" sz="1000" dirty="0"/>
          </a:p>
        </p:txBody>
      </p:sp>
      <p:sp>
        <p:nvSpPr>
          <p:cNvPr id="41" name="Text 39"/>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TalentNow.com.au | TheSector.com.au (Feb 2025) — 'Talent Now utilises Employment Hero integration to better serve ECEC services'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3A6FF8"/>
          </a:solidFill>
          <a:ln w="12700">
            <a:solidFill>
              <a:srgbClr val="3A6FF8"/>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BUSINESS MODEL</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TalentNow Has Two Models — We Only Have One</a:t>
            </a:r>
            <a:endParaRPr lang="en-US" sz="3000" dirty="0"/>
          </a:p>
        </p:txBody>
      </p:sp>
      <p:sp>
        <p:nvSpPr>
          <p:cNvPr id="5" name="Shape 3"/>
          <p:cNvSpPr/>
          <p:nvPr/>
        </p:nvSpPr>
        <p:spPr>
          <a:xfrm>
            <a:off x="365760" y="1371600"/>
            <a:ext cx="3749040" cy="457200"/>
          </a:xfrm>
          <a:prstGeom prst="roundRect">
            <a:avLst>
              <a:gd name="adj" fmla="val 16000"/>
            </a:avLst>
          </a:prstGeom>
          <a:solidFill>
            <a:srgbClr val="E14B4B"/>
          </a:solidFill>
          <a:ln/>
        </p:spPr>
      </p:sp>
      <p:sp>
        <p:nvSpPr>
          <p:cNvPr id="6" name="Text 4"/>
          <p:cNvSpPr/>
          <p:nvPr/>
        </p:nvSpPr>
        <p:spPr>
          <a:xfrm>
            <a:off x="365760" y="1371600"/>
            <a:ext cx="3749040" cy="457200"/>
          </a:xfrm>
          <a:prstGeom prst="rect">
            <a:avLst/>
          </a:prstGeom>
          <a:noFill/>
          <a:ln/>
        </p:spPr>
        <p:txBody>
          <a:bodyPr wrap="square" lIns="0" tIns="0" rIns="0" bIns="0" rtlCol="0" anchor="ctr"/>
          <a:lstStyle/>
          <a:p>
            <a:pPr algn="ctr" indent="0" marL="0">
              <a:buNone/>
            </a:pPr>
            <a:r>
              <a:rPr lang="en-US" sz="1200" b="1" dirty="0">
                <a:solidFill>
                  <a:srgbClr val="FFFFFF"/>
                </a:solidFill>
              </a:rPr>
              <a:t>TalentNow CONNECT</a:t>
            </a:r>
            <a:endParaRPr lang="en-US" sz="1200" dirty="0"/>
          </a:p>
        </p:txBody>
      </p:sp>
      <p:sp>
        <p:nvSpPr>
          <p:cNvPr id="7" name="Shape 5"/>
          <p:cNvSpPr/>
          <p:nvPr/>
        </p:nvSpPr>
        <p:spPr>
          <a:xfrm>
            <a:off x="4206240" y="1371600"/>
            <a:ext cx="3749040" cy="457200"/>
          </a:xfrm>
          <a:prstGeom prst="roundRect">
            <a:avLst>
              <a:gd name="adj" fmla="val 16000"/>
            </a:avLst>
          </a:prstGeom>
          <a:solidFill>
            <a:srgbClr val="3A6FF8"/>
          </a:solidFill>
          <a:ln/>
        </p:spPr>
      </p:sp>
      <p:sp>
        <p:nvSpPr>
          <p:cNvPr id="8" name="Text 6"/>
          <p:cNvSpPr/>
          <p:nvPr/>
        </p:nvSpPr>
        <p:spPr>
          <a:xfrm>
            <a:off x="4206240" y="1371600"/>
            <a:ext cx="3749040" cy="457200"/>
          </a:xfrm>
          <a:prstGeom prst="rect">
            <a:avLst/>
          </a:prstGeom>
          <a:noFill/>
          <a:ln/>
        </p:spPr>
        <p:txBody>
          <a:bodyPr wrap="square" lIns="0" tIns="0" rIns="0" bIns="0" rtlCol="0" anchor="ctr"/>
          <a:lstStyle/>
          <a:p>
            <a:pPr algn="ctr" indent="0" marL="0">
              <a:buNone/>
            </a:pPr>
            <a:r>
              <a:rPr lang="en-US" sz="1200" b="1" dirty="0">
                <a:solidFill>
                  <a:srgbClr val="FFFFFF"/>
                </a:solidFill>
              </a:rPr>
              <a:t>TalentNow CASUAL HIRE</a:t>
            </a:r>
            <a:endParaRPr lang="en-US" sz="1200" dirty="0"/>
          </a:p>
        </p:txBody>
      </p:sp>
      <p:sp>
        <p:nvSpPr>
          <p:cNvPr id="9" name="Shape 7"/>
          <p:cNvSpPr/>
          <p:nvPr/>
        </p:nvSpPr>
        <p:spPr>
          <a:xfrm>
            <a:off x="8046720" y="1371600"/>
            <a:ext cx="3749040" cy="457200"/>
          </a:xfrm>
          <a:prstGeom prst="roundRect">
            <a:avLst>
              <a:gd name="adj" fmla="val 16000"/>
            </a:avLst>
          </a:prstGeom>
          <a:solidFill>
            <a:srgbClr val="27AE60"/>
          </a:solidFill>
          <a:ln/>
        </p:spPr>
      </p:sp>
      <p:sp>
        <p:nvSpPr>
          <p:cNvPr id="10" name="Text 8"/>
          <p:cNvSpPr/>
          <p:nvPr/>
        </p:nvSpPr>
        <p:spPr>
          <a:xfrm>
            <a:off x="8046720" y="1371600"/>
            <a:ext cx="3749040" cy="457200"/>
          </a:xfrm>
          <a:prstGeom prst="rect">
            <a:avLst/>
          </a:prstGeom>
          <a:noFill/>
          <a:ln/>
        </p:spPr>
        <p:txBody>
          <a:bodyPr wrap="square" lIns="0" tIns="0" rIns="0" bIns="0" rtlCol="0" anchor="ctr"/>
          <a:lstStyle/>
          <a:p>
            <a:pPr algn="ctr" indent="0" marL="0">
              <a:buNone/>
            </a:pPr>
            <a:r>
              <a:rPr lang="en-US" sz="1200" b="1" dirty="0">
                <a:solidFill>
                  <a:srgbClr val="FFFFFF"/>
                </a:solidFill>
              </a:rPr>
              <a:t>Raw Talent (Current)</a:t>
            </a:r>
            <a:endParaRPr lang="en-US" sz="1200" dirty="0"/>
          </a:p>
        </p:txBody>
      </p:sp>
      <p:sp>
        <p:nvSpPr>
          <p:cNvPr id="11" name="Shape 9"/>
          <p:cNvSpPr/>
          <p:nvPr/>
        </p:nvSpPr>
        <p:spPr>
          <a:xfrm>
            <a:off x="365760" y="1920240"/>
            <a:ext cx="3566160" cy="786384"/>
          </a:xfrm>
          <a:prstGeom prst="rect">
            <a:avLst/>
          </a:prstGeom>
          <a:solidFill>
            <a:srgbClr val="FFFFFF"/>
          </a:solidFill>
          <a:ln w="12700">
            <a:solidFill>
              <a:srgbClr val="E2E8F0"/>
            </a:solidFill>
            <a:prstDash val="solid"/>
          </a:ln>
        </p:spPr>
      </p:sp>
      <p:sp>
        <p:nvSpPr>
          <p:cNvPr id="12" name="Text 10"/>
          <p:cNvSpPr/>
          <p:nvPr/>
        </p:nvSpPr>
        <p:spPr>
          <a:xfrm>
            <a:off x="457200" y="1920240"/>
            <a:ext cx="3383280" cy="786384"/>
          </a:xfrm>
          <a:prstGeom prst="rect">
            <a:avLst/>
          </a:prstGeom>
          <a:noFill/>
          <a:ln/>
        </p:spPr>
        <p:txBody>
          <a:bodyPr wrap="square" lIns="0" tIns="0" rIns="0" bIns="0" rtlCol="0" anchor="ctr"/>
          <a:lstStyle/>
          <a:p>
            <a:pPr indent="0" marL="0">
              <a:buNone/>
            </a:pPr>
            <a:r>
              <a:rPr lang="en-US" sz="1000" b="1" dirty="0">
                <a:solidFill>
                  <a:srgbClr val="1E2A3A"/>
                </a:solidFill>
              </a:rPr>
              <a:t>Who employs educator</a:t>
            </a:r>
            <a:endParaRPr lang="en-US" sz="1000" dirty="0"/>
          </a:p>
        </p:txBody>
      </p:sp>
      <p:sp>
        <p:nvSpPr>
          <p:cNvPr id="13" name="Shape 11"/>
          <p:cNvSpPr/>
          <p:nvPr/>
        </p:nvSpPr>
        <p:spPr>
          <a:xfrm>
            <a:off x="4114800" y="1920240"/>
            <a:ext cx="2606040" cy="786384"/>
          </a:xfrm>
          <a:prstGeom prst="rect">
            <a:avLst/>
          </a:prstGeom>
          <a:solidFill>
            <a:srgbClr val="FFF8F8"/>
          </a:solidFill>
          <a:ln w="12700">
            <a:solidFill>
              <a:srgbClr val="E2E8F0"/>
            </a:solidFill>
            <a:prstDash val="solid"/>
          </a:ln>
        </p:spPr>
      </p:sp>
      <p:sp>
        <p:nvSpPr>
          <p:cNvPr id="14" name="Text 12"/>
          <p:cNvSpPr/>
          <p:nvPr/>
        </p:nvSpPr>
        <p:spPr>
          <a:xfrm>
            <a:off x="4206240" y="1920240"/>
            <a:ext cx="2423160" cy="786384"/>
          </a:xfrm>
          <a:prstGeom prst="rect">
            <a:avLst/>
          </a:prstGeom>
          <a:noFill/>
          <a:ln/>
        </p:spPr>
        <p:txBody>
          <a:bodyPr wrap="square" lIns="0" tIns="0" rIns="0" bIns="0" rtlCol="0" anchor="ctr"/>
          <a:lstStyle/>
          <a:p>
            <a:pPr indent="0" marL="0">
              <a:buNone/>
            </a:pPr>
            <a:r>
              <a:rPr lang="en-US" sz="1000" dirty="0">
                <a:solidFill>
                  <a:srgbClr val="334155"/>
                </a:solidFill>
              </a:rPr>
              <a:t>Childcare CENTRE</a:t>
            </a:r>
            <a:endParaRPr lang="en-US" sz="1000" dirty="0"/>
          </a:p>
          <a:p>
            <a:pPr indent="0" marL="0">
              <a:buNone/>
            </a:pPr>
            <a:r>
              <a:rPr lang="en-US" sz="1000" dirty="0">
                <a:solidFill>
                  <a:srgbClr val="334155"/>
                </a:solidFill>
              </a:rPr>
              <a:t>(educator is their casual employee)</a:t>
            </a:r>
            <a:endParaRPr lang="en-US" sz="1000" dirty="0"/>
          </a:p>
        </p:txBody>
      </p:sp>
      <p:sp>
        <p:nvSpPr>
          <p:cNvPr id="15" name="Shape 13"/>
          <p:cNvSpPr/>
          <p:nvPr/>
        </p:nvSpPr>
        <p:spPr>
          <a:xfrm>
            <a:off x="6766560" y="1920240"/>
            <a:ext cx="2606040" cy="786384"/>
          </a:xfrm>
          <a:prstGeom prst="rect">
            <a:avLst/>
          </a:prstGeom>
          <a:solidFill>
            <a:srgbClr val="F5F9FF"/>
          </a:solidFill>
          <a:ln w="12700">
            <a:solidFill>
              <a:srgbClr val="E2E8F0"/>
            </a:solidFill>
            <a:prstDash val="solid"/>
          </a:ln>
        </p:spPr>
      </p:sp>
      <p:sp>
        <p:nvSpPr>
          <p:cNvPr id="16" name="Text 14"/>
          <p:cNvSpPr/>
          <p:nvPr/>
        </p:nvSpPr>
        <p:spPr>
          <a:xfrm>
            <a:off x="6858000" y="1920240"/>
            <a:ext cx="2423160" cy="786384"/>
          </a:xfrm>
          <a:prstGeom prst="rect">
            <a:avLst/>
          </a:prstGeom>
          <a:noFill/>
          <a:ln/>
        </p:spPr>
        <p:txBody>
          <a:bodyPr wrap="square" lIns="0" tIns="0" rIns="0" bIns="0" rtlCol="0" anchor="ctr"/>
          <a:lstStyle/>
          <a:p>
            <a:pPr indent="0" marL="0">
              <a:buNone/>
            </a:pPr>
            <a:r>
              <a:rPr lang="en-US" sz="1000" dirty="0">
                <a:solidFill>
                  <a:srgbClr val="334155"/>
                </a:solidFill>
              </a:rPr>
              <a:t>TalentNow</a:t>
            </a:r>
            <a:endParaRPr lang="en-US" sz="1000" dirty="0"/>
          </a:p>
          <a:p>
            <a:pPr indent="0" marL="0">
              <a:buNone/>
            </a:pPr>
            <a:r>
              <a:rPr lang="en-US" sz="1000" dirty="0">
                <a:solidFill>
                  <a:srgbClr val="334155"/>
                </a:solidFill>
              </a:rPr>
              <a:t>(agency model)</a:t>
            </a:r>
            <a:endParaRPr lang="en-US" sz="1000" dirty="0"/>
          </a:p>
        </p:txBody>
      </p:sp>
      <p:sp>
        <p:nvSpPr>
          <p:cNvPr id="17" name="Shape 15"/>
          <p:cNvSpPr/>
          <p:nvPr/>
        </p:nvSpPr>
        <p:spPr>
          <a:xfrm>
            <a:off x="9418320" y="1920240"/>
            <a:ext cx="2606040" cy="786384"/>
          </a:xfrm>
          <a:prstGeom prst="rect">
            <a:avLst/>
          </a:prstGeom>
          <a:solidFill>
            <a:srgbClr val="F5FFF8"/>
          </a:solidFill>
          <a:ln w="12700">
            <a:solidFill>
              <a:srgbClr val="E2E8F0"/>
            </a:solidFill>
            <a:prstDash val="solid"/>
          </a:ln>
        </p:spPr>
      </p:sp>
      <p:sp>
        <p:nvSpPr>
          <p:cNvPr id="18" name="Text 16"/>
          <p:cNvSpPr/>
          <p:nvPr/>
        </p:nvSpPr>
        <p:spPr>
          <a:xfrm>
            <a:off x="9509760" y="1920240"/>
            <a:ext cx="2423160" cy="786384"/>
          </a:xfrm>
          <a:prstGeom prst="rect">
            <a:avLst/>
          </a:prstGeom>
          <a:noFill/>
          <a:ln/>
        </p:spPr>
        <p:txBody>
          <a:bodyPr wrap="square" lIns="0" tIns="0" rIns="0" bIns="0" rtlCol="0" anchor="ctr"/>
          <a:lstStyle/>
          <a:p>
            <a:pPr indent="0" marL="0">
              <a:buNone/>
            </a:pPr>
            <a:r>
              <a:rPr lang="en-US" sz="1000" dirty="0">
                <a:solidFill>
                  <a:srgbClr val="334155"/>
                </a:solidFill>
              </a:rPr>
              <a:t>Raw Talent</a:t>
            </a:r>
            <a:endParaRPr lang="en-US" sz="1000" dirty="0"/>
          </a:p>
          <a:p>
            <a:pPr indent="0" marL="0">
              <a:buNone/>
            </a:pPr>
            <a:r>
              <a:rPr lang="en-US" sz="1000" dirty="0">
                <a:solidFill>
                  <a:srgbClr val="334155"/>
                </a:solidFill>
              </a:rPr>
              <a:t>(agency model)</a:t>
            </a:r>
            <a:endParaRPr lang="en-US" sz="1000" dirty="0"/>
          </a:p>
        </p:txBody>
      </p:sp>
      <p:sp>
        <p:nvSpPr>
          <p:cNvPr id="19" name="Shape 17"/>
          <p:cNvSpPr/>
          <p:nvPr/>
        </p:nvSpPr>
        <p:spPr>
          <a:xfrm>
            <a:off x="365760" y="2761488"/>
            <a:ext cx="3566160" cy="786384"/>
          </a:xfrm>
          <a:prstGeom prst="rect">
            <a:avLst/>
          </a:prstGeom>
          <a:solidFill>
            <a:srgbClr val="F7F8FD"/>
          </a:solidFill>
          <a:ln w="12700">
            <a:solidFill>
              <a:srgbClr val="E2E8F0"/>
            </a:solidFill>
            <a:prstDash val="solid"/>
          </a:ln>
        </p:spPr>
      </p:sp>
      <p:sp>
        <p:nvSpPr>
          <p:cNvPr id="20" name="Text 18"/>
          <p:cNvSpPr/>
          <p:nvPr/>
        </p:nvSpPr>
        <p:spPr>
          <a:xfrm>
            <a:off x="457200" y="2761488"/>
            <a:ext cx="3383280" cy="786384"/>
          </a:xfrm>
          <a:prstGeom prst="rect">
            <a:avLst/>
          </a:prstGeom>
          <a:noFill/>
          <a:ln/>
        </p:spPr>
        <p:txBody>
          <a:bodyPr wrap="square" lIns="0" tIns="0" rIns="0" bIns="0" rtlCol="0" anchor="ctr"/>
          <a:lstStyle/>
          <a:p>
            <a:pPr indent="0" marL="0">
              <a:buNone/>
            </a:pPr>
            <a:r>
              <a:rPr lang="en-US" sz="1000" b="1" dirty="0">
                <a:solidFill>
                  <a:srgbClr val="1E2A3A"/>
                </a:solidFill>
              </a:rPr>
              <a:t>Cost to centre</a:t>
            </a:r>
            <a:endParaRPr lang="en-US" sz="1000" dirty="0"/>
          </a:p>
        </p:txBody>
      </p:sp>
      <p:sp>
        <p:nvSpPr>
          <p:cNvPr id="21" name="Shape 19"/>
          <p:cNvSpPr/>
          <p:nvPr/>
        </p:nvSpPr>
        <p:spPr>
          <a:xfrm>
            <a:off x="4114800" y="2761488"/>
            <a:ext cx="2606040" cy="786384"/>
          </a:xfrm>
          <a:prstGeom prst="rect">
            <a:avLst/>
          </a:prstGeom>
          <a:solidFill>
            <a:srgbClr val="FFF8F8"/>
          </a:solidFill>
          <a:ln w="12700">
            <a:solidFill>
              <a:srgbClr val="E2E8F0"/>
            </a:solidFill>
            <a:prstDash val="solid"/>
          </a:ln>
        </p:spPr>
      </p:sp>
      <p:sp>
        <p:nvSpPr>
          <p:cNvPr id="22" name="Text 20"/>
          <p:cNvSpPr/>
          <p:nvPr/>
        </p:nvSpPr>
        <p:spPr>
          <a:xfrm>
            <a:off x="4206240" y="2761488"/>
            <a:ext cx="2423160" cy="786384"/>
          </a:xfrm>
          <a:prstGeom prst="rect">
            <a:avLst/>
          </a:prstGeom>
          <a:noFill/>
          <a:ln/>
        </p:spPr>
        <p:txBody>
          <a:bodyPr wrap="square" lIns="0" tIns="0" rIns="0" bIns="0" rtlCol="0" anchor="ctr"/>
          <a:lstStyle/>
          <a:p>
            <a:pPr indent="0" marL="0">
              <a:buNone/>
            </a:pPr>
            <a:r>
              <a:rPr lang="en-US" sz="1000" dirty="0">
                <a:solidFill>
                  <a:srgbClr val="334155"/>
                </a:solidFill>
              </a:rPr>
              <a:t>$30 flat fee per shift</a:t>
            </a:r>
            <a:endParaRPr lang="en-US" sz="1000" dirty="0"/>
          </a:p>
          <a:p>
            <a:pPr indent="0" marL="0">
              <a:buNone/>
            </a:pPr>
            <a:r>
              <a:rPr lang="en-US" sz="1000" dirty="0">
                <a:solidFill>
                  <a:srgbClr val="334155"/>
                </a:solidFill>
              </a:rPr>
              <a:t>(any qualification, any duration)</a:t>
            </a:r>
            <a:endParaRPr lang="en-US" sz="1000" dirty="0"/>
          </a:p>
        </p:txBody>
      </p:sp>
      <p:sp>
        <p:nvSpPr>
          <p:cNvPr id="23" name="Shape 21"/>
          <p:cNvSpPr/>
          <p:nvPr/>
        </p:nvSpPr>
        <p:spPr>
          <a:xfrm>
            <a:off x="6766560" y="2761488"/>
            <a:ext cx="2606040" cy="786384"/>
          </a:xfrm>
          <a:prstGeom prst="rect">
            <a:avLst/>
          </a:prstGeom>
          <a:solidFill>
            <a:srgbClr val="F5F9FF"/>
          </a:solidFill>
          <a:ln w="12700">
            <a:solidFill>
              <a:srgbClr val="E2E8F0"/>
            </a:solidFill>
            <a:prstDash val="solid"/>
          </a:ln>
        </p:spPr>
      </p:sp>
      <p:sp>
        <p:nvSpPr>
          <p:cNvPr id="24" name="Text 22"/>
          <p:cNvSpPr/>
          <p:nvPr/>
        </p:nvSpPr>
        <p:spPr>
          <a:xfrm>
            <a:off x="6858000" y="2761488"/>
            <a:ext cx="2423160" cy="786384"/>
          </a:xfrm>
          <a:prstGeom prst="rect">
            <a:avLst/>
          </a:prstGeom>
          <a:noFill/>
          <a:ln/>
        </p:spPr>
        <p:txBody>
          <a:bodyPr wrap="square" lIns="0" tIns="0" rIns="0" bIns="0" rtlCol="0" anchor="ctr"/>
          <a:lstStyle/>
          <a:p>
            <a:pPr indent="0" marL="0">
              <a:buNone/>
            </a:pPr>
            <a:r>
              <a:rPr lang="en-US" sz="1000" dirty="0">
                <a:solidFill>
                  <a:srgbClr val="334155"/>
                </a:solidFill>
              </a:rPr>
              <a:t>Agency charge rate</a:t>
            </a:r>
            <a:endParaRPr lang="en-US" sz="1000" dirty="0"/>
          </a:p>
          <a:p>
            <a:pPr indent="0" marL="0">
              <a:buNone/>
            </a:pPr>
            <a:r>
              <a:rPr lang="en-US" sz="1000" dirty="0">
                <a:solidFill>
                  <a:srgbClr val="334155"/>
                </a:solidFill>
              </a:rPr>
              <a:t>(educator pay + margin)</a:t>
            </a:r>
            <a:endParaRPr lang="en-US" sz="1000" dirty="0"/>
          </a:p>
        </p:txBody>
      </p:sp>
      <p:sp>
        <p:nvSpPr>
          <p:cNvPr id="25" name="Shape 23"/>
          <p:cNvSpPr/>
          <p:nvPr/>
        </p:nvSpPr>
        <p:spPr>
          <a:xfrm>
            <a:off x="9418320" y="2761488"/>
            <a:ext cx="2606040" cy="786384"/>
          </a:xfrm>
          <a:prstGeom prst="rect">
            <a:avLst/>
          </a:prstGeom>
          <a:solidFill>
            <a:srgbClr val="F5FFF8"/>
          </a:solidFill>
          <a:ln w="12700">
            <a:solidFill>
              <a:srgbClr val="E2E8F0"/>
            </a:solidFill>
            <a:prstDash val="solid"/>
          </a:ln>
        </p:spPr>
      </p:sp>
      <p:sp>
        <p:nvSpPr>
          <p:cNvPr id="26" name="Text 24"/>
          <p:cNvSpPr/>
          <p:nvPr/>
        </p:nvSpPr>
        <p:spPr>
          <a:xfrm>
            <a:off x="9509760" y="2761488"/>
            <a:ext cx="2423160" cy="786384"/>
          </a:xfrm>
          <a:prstGeom prst="rect">
            <a:avLst/>
          </a:prstGeom>
          <a:noFill/>
          <a:ln/>
        </p:spPr>
        <p:txBody>
          <a:bodyPr wrap="square" lIns="0" tIns="0" rIns="0" bIns="0" rtlCol="0" anchor="ctr"/>
          <a:lstStyle/>
          <a:p>
            <a:pPr indent="0" marL="0">
              <a:buNone/>
            </a:pPr>
            <a:r>
              <a:rPr lang="en-US" sz="1000" dirty="0">
                <a:solidFill>
                  <a:srgbClr val="334155"/>
                </a:solidFill>
              </a:rPr>
              <a:t>Agency charge rate</a:t>
            </a:r>
            <a:endParaRPr lang="en-US" sz="1000" dirty="0"/>
          </a:p>
          <a:p>
            <a:pPr indent="0" marL="0">
              <a:buNone/>
            </a:pPr>
            <a:r>
              <a:rPr lang="en-US" sz="1000" dirty="0">
                <a:solidFill>
                  <a:srgbClr val="334155"/>
                </a:solidFill>
              </a:rPr>
              <a:t>(educator pay + margin)</a:t>
            </a:r>
            <a:endParaRPr lang="en-US" sz="1000" dirty="0"/>
          </a:p>
        </p:txBody>
      </p:sp>
      <p:sp>
        <p:nvSpPr>
          <p:cNvPr id="27" name="Shape 25"/>
          <p:cNvSpPr/>
          <p:nvPr/>
        </p:nvSpPr>
        <p:spPr>
          <a:xfrm>
            <a:off x="365760" y="3602736"/>
            <a:ext cx="3566160" cy="786384"/>
          </a:xfrm>
          <a:prstGeom prst="rect">
            <a:avLst/>
          </a:prstGeom>
          <a:solidFill>
            <a:srgbClr val="FFFFFF"/>
          </a:solidFill>
          <a:ln w="12700">
            <a:solidFill>
              <a:srgbClr val="E2E8F0"/>
            </a:solidFill>
            <a:prstDash val="solid"/>
          </a:ln>
        </p:spPr>
      </p:sp>
      <p:sp>
        <p:nvSpPr>
          <p:cNvPr id="28" name="Text 26"/>
          <p:cNvSpPr/>
          <p:nvPr/>
        </p:nvSpPr>
        <p:spPr>
          <a:xfrm>
            <a:off x="457200" y="3602736"/>
            <a:ext cx="3383280" cy="786384"/>
          </a:xfrm>
          <a:prstGeom prst="rect">
            <a:avLst/>
          </a:prstGeom>
          <a:noFill/>
          <a:ln/>
        </p:spPr>
        <p:txBody>
          <a:bodyPr wrap="square" lIns="0" tIns="0" rIns="0" bIns="0" rtlCol="0" anchor="ctr"/>
          <a:lstStyle/>
          <a:p>
            <a:pPr indent="0" marL="0">
              <a:buNone/>
            </a:pPr>
            <a:r>
              <a:rPr lang="en-US" sz="1000" b="1" dirty="0">
                <a:solidFill>
                  <a:srgbClr val="1E2A3A"/>
                </a:solidFill>
              </a:rPr>
              <a:t>WRP eligible?</a:t>
            </a:r>
            <a:endParaRPr lang="en-US" sz="1000" dirty="0"/>
          </a:p>
        </p:txBody>
      </p:sp>
      <p:sp>
        <p:nvSpPr>
          <p:cNvPr id="29" name="Shape 27"/>
          <p:cNvSpPr/>
          <p:nvPr/>
        </p:nvSpPr>
        <p:spPr>
          <a:xfrm>
            <a:off x="4114800" y="3602736"/>
            <a:ext cx="2606040" cy="786384"/>
          </a:xfrm>
          <a:prstGeom prst="rect">
            <a:avLst/>
          </a:prstGeom>
          <a:solidFill>
            <a:srgbClr val="FFF8F8"/>
          </a:solidFill>
          <a:ln w="12700">
            <a:solidFill>
              <a:srgbClr val="E2E8F0"/>
            </a:solidFill>
            <a:prstDash val="solid"/>
          </a:ln>
        </p:spPr>
      </p:sp>
      <p:sp>
        <p:nvSpPr>
          <p:cNvPr id="30" name="Text 28"/>
          <p:cNvSpPr/>
          <p:nvPr/>
        </p:nvSpPr>
        <p:spPr>
          <a:xfrm>
            <a:off x="4206240" y="3602736"/>
            <a:ext cx="2423160" cy="786384"/>
          </a:xfrm>
          <a:prstGeom prst="rect">
            <a:avLst/>
          </a:prstGeom>
          <a:noFill/>
          <a:ln/>
        </p:spPr>
        <p:txBody>
          <a:bodyPr wrap="square" lIns="0" tIns="0" rIns="0" bIns="0" rtlCol="0" anchor="ctr"/>
          <a:lstStyle/>
          <a:p>
            <a:pPr indent="0" marL="0">
              <a:buNone/>
            </a:pPr>
            <a:r>
              <a:rPr lang="en-US" sz="1000" dirty="0">
                <a:solidFill>
                  <a:srgbClr val="334155"/>
                </a:solidFill>
              </a:rPr>
              <a:t>YES — centre accesses</a:t>
            </a:r>
            <a:endParaRPr lang="en-US" sz="1000" dirty="0"/>
          </a:p>
          <a:p>
            <a:pPr indent="0" marL="0">
              <a:buNone/>
            </a:pPr>
            <a:r>
              <a:rPr lang="en-US" sz="1000" dirty="0">
                <a:solidFill>
                  <a:srgbClr val="334155"/>
                </a:solidFill>
              </a:rPr>
              <a:t>government WRP grant directly</a:t>
            </a:r>
            <a:endParaRPr lang="en-US" sz="1000" dirty="0"/>
          </a:p>
        </p:txBody>
      </p:sp>
      <p:sp>
        <p:nvSpPr>
          <p:cNvPr id="31" name="Shape 29"/>
          <p:cNvSpPr/>
          <p:nvPr/>
        </p:nvSpPr>
        <p:spPr>
          <a:xfrm>
            <a:off x="6766560" y="3602736"/>
            <a:ext cx="2606040" cy="786384"/>
          </a:xfrm>
          <a:prstGeom prst="rect">
            <a:avLst/>
          </a:prstGeom>
          <a:solidFill>
            <a:srgbClr val="F5F9FF"/>
          </a:solidFill>
          <a:ln w="12700">
            <a:solidFill>
              <a:srgbClr val="E2E8F0"/>
            </a:solidFill>
            <a:prstDash val="solid"/>
          </a:ln>
        </p:spPr>
      </p:sp>
      <p:sp>
        <p:nvSpPr>
          <p:cNvPr id="32" name="Text 30"/>
          <p:cNvSpPr/>
          <p:nvPr/>
        </p:nvSpPr>
        <p:spPr>
          <a:xfrm>
            <a:off x="6858000" y="3602736"/>
            <a:ext cx="2423160" cy="786384"/>
          </a:xfrm>
          <a:prstGeom prst="rect">
            <a:avLst/>
          </a:prstGeom>
          <a:noFill/>
          <a:ln/>
        </p:spPr>
        <p:txBody>
          <a:bodyPr wrap="square" lIns="0" tIns="0" rIns="0" bIns="0" rtlCol="0" anchor="ctr"/>
          <a:lstStyle/>
          <a:p>
            <a:pPr indent="0" marL="0">
              <a:buNone/>
            </a:pPr>
            <a:r>
              <a:rPr lang="en-US" sz="1000" dirty="0">
                <a:solidFill>
                  <a:srgbClr val="334155"/>
                </a:solidFill>
              </a:rPr>
              <a:t>Complex — agency</a:t>
            </a:r>
            <a:endParaRPr lang="en-US" sz="1000" dirty="0"/>
          </a:p>
          <a:p>
            <a:pPr indent="0" marL="0">
              <a:buNone/>
            </a:pPr>
            <a:r>
              <a:rPr lang="en-US" sz="1000" dirty="0">
                <a:solidFill>
                  <a:srgbClr val="334155"/>
                </a:solidFill>
              </a:rPr>
              <a:t>must enrol separately</a:t>
            </a:r>
            <a:endParaRPr lang="en-US" sz="1000" dirty="0"/>
          </a:p>
        </p:txBody>
      </p:sp>
      <p:sp>
        <p:nvSpPr>
          <p:cNvPr id="33" name="Shape 31"/>
          <p:cNvSpPr/>
          <p:nvPr/>
        </p:nvSpPr>
        <p:spPr>
          <a:xfrm>
            <a:off x="9418320" y="3602736"/>
            <a:ext cx="2606040" cy="786384"/>
          </a:xfrm>
          <a:prstGeom prst="rect">
            <a:avLst/>
          </a:prstGeom>
          <a:solidFill>
            <a:srgbClr val="F5FFF8"/>
          </a:solidFill>
          <a:ln w="12700">
            <a:solidFill>
              <a:srgbClr val="E2E8F0"/>
            </a:solidFill>
            <a:prstDash val="solid"/>
          </a:ln>
        </p:spPr>
      </p:sp>
      <p:sp>
        <p:nvSpPr>
          <p:cNvPr id="34" name="Text 32"/>
          <p:cNvSpPr/>
          <p:nvPr/>
        </p:nvSpPr>
        <p:spPr>
          <a:xfrm>
            <a:off x="9509760" y="3602736"/>
            <a:ext cx="2423160" cy="786384"/>
          </a:xfrm>
          <a:prstGeom prst="rect">
            <a:avLst/>
          </a:prstGeom>
          <a:noFill/>
          <a:ln/>
        </p:spPr>
        <p:txBody>
          <a:bodyPr wrap="square" lIns="0" tIns="0" rIns="0" bIns="0" rtlCol="0" anchor="ctr"/>
          <a:lstStyle/>
          <a:p>
            <a:pPr indent="0" marL="0">
              <a:buNone/>
            </a:pPr>
            <a:r>
              <a:rPr lang="en-US" sz="1000" dirty="0">
                <a:solidFill>
                  <a:srgbClr val="334155"/>
                </a:solidFill>
              </a:rPr>
              <a:t>Via WRP toggle</a:t>
            </a:r>
            <a:endParaRPr lang="en-US" sz="1000" dirty="0"/>
          </a:p>
          <a:p>
            <a:pPr indent="0" marL="0">
              <a:buNone/>
            </a:pPr>
            <a:r>
              <a:rPr lang="en-US" sz="1000" dirty="0">
                <a:solidFill>
                  <a:srgbClr val="334155"/>
                </a:solidFill>
              </a:rPr>
              <a:t>for enrolled centres</a:t>
            </a:r>
            <a:endParaRPr lang="en-US" sz="1000" dirty="0"/>
          </a:p>
        </p:txBody>
      </p:sp>
      <p:sp>
        <p:nvSpPr>
          <p:cNvPr id="35" name="Shape 33"/>
          <p:cNvSpPr/>
          <p:nvPr/>
        </p:nvSpPr>
        <p:spPr>
          <a:xfrm>
            <a:off x="365760" y="4443984"/>
            <a:ext cx="3566160" cy="786384"/>
          </a:xfrm>
          <a:prstGeom prst="rect">
            <a:avLst/>
          </a:prstGeom>
          <a:solidFill>
            <a:srgbClr val="F7F8FD"/>
          </a:solidFill>
          <a:ln w="12700">
            <a:solidFill>
              <a:srgbClr val="E2E8F0"/>
            </a:solidFill>
            <a:prstDash val="solid"/>
          </a:ln>
        </p:spPr>
      </p:sp>
      <p:sp>
        <p:nvSpPr>
          <p:cNvPr id="36" name="Text 34"/>
          <p:cNvSpPr/>
          <p:nvPr/>
        </p:nvSpPr>
        <p:spPr>
          <a:xfrm>
            <a:off x="457200" y="4443984"/>
            <a:ext cx="3383280" cy="786384"/>
          </a:xfrm>
          <a:prstGeom prst="rect">
            <a:avLst/>
          </a:prstGeom>
          <a:noFill/>
          <a:ln/>
        </p:spPr>
        <p:txBody>
          <a:bodyPr wrap="square" lIns="0" tIns="0" rIns="0" bIns="0" rtlCol="0" anchor="ctr"/>
          <a:lstStyle/>
          <a:p>
            <a:pPr indent="0" marL="0">
              <a:buNone/>
            </a:pPr>
            <a:r>
              <a:rPr lang="en-US" sz="1000" b="1" dirty="0">
                <a:solidFill>
                  <a:srgbClr val="1E2A3A"/>
                </a:solidFill>
              </a:rPr>
              <a:t>Payroll managed by</a:t>
            </a:r>
            <a:endParaRPr lang="en-US" sz="1000" dirty="0"/>
          </a:p>
        </p:txBody>
      </p:sp>
      <p:sp>
        <p:nvSpPr>
          <p:cNvPr id="37" name="Shape 35"/>
          <p:cNvSpPr/>
          <p:nvPr/>
        </p:nvSpPr>
        <p:spPr>
          <a:xfrm>
            <a:off x="4114800" y="4443984"/>
            <a:ext cx="2606040" cy="786384"/>
          </a:xfrm>
          <a:prstGeom prst="rect">
            <a:avLst/>
          </a:prstGeom>
          <a:solidFill>
            <a:srgbClr val="FFF8F8"/>
          </a:solidFill>
          <a:ln w="12700">
            <a:solidFill>
              <a:srgbClr val="E2E8F0"/>
            </a:solidFill>
            <a:prstDash val="solid"/>
          </a:ln>
        </p:spPr>
      </p:sp>
      <p:sp>
        <p:nvSpPr>
          <p:cNvPr id="38" name="Text 36"/>
          <p:cNvSpPr/>
          <p:nvPr/>
        </p:nvSpPr>
        <p:spPr>
          <a:xfrm>
            <a:off x="4206240" y="4443984"/>
            <a:ext cx="2423160" cy="786384"/>
          </a:xfrm>
          <a:prstGeom prst="rect">
            <a:avLst/>
          </a:prstGeom>
          <a:noFill/>
          <a:ln/>
        </p:spPr>
        <p:txBody>
          <a:bodyPr wrap="square" lIns="0" tIns="0" rIns="0" bIns="0" rtlCol="0" anchor="ctr"/>
          <a:lstStyle/>
          <a:p>
            <a:pPr indent="0" marL="0">
              <a:buNone/>
            </a:pPr>
            <a:r>
              <a:rPr lang="en-US" sz="1000" dirty="0">
                <a:solidFill>
                  <a:srgbClr val="334155"/>
                </a:solidFill>
              </a:rPr>
              <a:t>Centre</a:t>
            </a:r>
            <a:endParaRPr lang="en-US" sz="1000" dirty="0"/>
          </a:p>
          <a:p>
            <a:pPr indent="0" marL="0">
              <a:buNone/>
            </a:pPr>
            <a:r>
              <a:rPr lang="en-US" sz="1000" dirty="0">
                <a:solidFill>
                  <a:srgbClr val="334155"/>
                </a:solidFill>
              </a:rPr>
              <a:t>(Employment Hero automates setup)</a:t>
            </a:r>
            <a:endParaRPr lang="en-US" sz="1000" dirty="0"/>
          </a:p>
        </p:txBody>
      </p:sp>
      <p:sp>
        <p:nvSpPr>
          <p:cNvPr id="39" name="Shape 37"/>
          <p:cNvSpPr/>
          <p:nvPr/>
        </p:nvSpPr>
        <p:spPr>
          <a:xfrm>
            <a:off x="6766560" y="4443984"/>
            <a:ext cx="2606040" cy="786384"/>
          </a:xfrm>
          <a:prstGeom prst="rect">
            <a:avLst/>
          </a:prstGeom>
          <a:solidFill>
            <a:srgbClr val="F5F9FF"/>
          </a:solidFill>
          <a:ln w="12700">
            <a:solidFill>
              <a:srgbClr val="E2E8F0"/>
            </a:solidFill>
            <a:prstDash val="solid"/>
          </a:ln>
        </p:spPr>
      </p:sp>
      <p:sp>
        <p:nvSpPr>
          <p:cNvPr id="40" name="Text 38"/>
          <p:cNvSpPr/>
          <p:nvPr/>
        </p:nvSpPr>
        <p:spPr>
          <a:xfrm>
            <a:off x="6858000" y="4443984"/>
            <a:ext cx="2423160" cy="786384"/>
          </a:xfrm>
          <a:prstGeom prst="rect">
            <a:avLst/>
          </a:prstGeom>
          <a:noFill/>
          <a:ln/>
        </p:spPr>
        <p:txBody>
          <a:bodyPr wrap="square" lIns="0" tIns="0" rIns="0" bIns="0" rtlCol="0" anchor="ctr"/>
          <a:lstStyle/>
          <a:p>
            <a:pPr indent="0" marL="0">
              <a:buNone/>
            </a:pPr>
            <a:r>
              <a:rPr lang="en-US" sz="1000" dirty="0">
                <a:solidFill>
                  <a:srgbClr val="334155"/>
                </a:solidFill>
              </a:rPr>
              <a:t>TalentNow</a:t>
            </a:r>
            <a:endParaRPr lang="en-US" sz="1000" dirty="0"/>
          </a:p>
        </p:txBody>
      </p:sp>
      <p:sp>
        <p:nvSpPr>
          <p:cNvPr id="41" name="Shape 39"/>
          <p:cNvSpPr/>
          <p:nvPr/>
        </p:nvSpPr>
        <p:spPr>
          <a:xfrm>
            <a:off x="9418320" y="4443984"/>
            <a:ext cx="2606040" cy="786384"/>
          </a:xfrm>
          <a:prstGeom prst="rect">
            <a:avLst/>
          </a:prstGeom>
          <a:solidFill>
            <a:srgbClr val="F5FFF8"/>
          </a:solidFill>
          <a:ln w="12700">
            <a:solidFill>
              <a:srgbClr val="E2E8F0"/>
            </a:solidFill>
            <a:prstDash val="solid"/>
          </a:ln>
        </p:spPr>
      </p:sp>
      <p:sp>
        <p:nvSpPr>
          <p:cNvPr id="42" name="Text 40"/>
          <p:cNvSpPr/>
          <p:nvPr/>
        </p:nvSpPr>
        <p:spPr>
          <a:xfrm>
            <a:off x="9509760" y="4443984"/>
            <a:ext cx="2423160" cy="786384"/>
          </a:xfrm>
          <a:prstGeom prst="rect">
            <a:avLst/>
          </a:prstGeom>
          <a:noFill/>
          <a:ln/>
        </p:spPr>
        <p:txBody>
          <a:bodyPr wrap="square" lIns="0" tIns="0" rIns="0" bIns="0" rtlCol="0" anchor="ctr"/>
          <a:lstStyle/>
          <a:p>
            <a:pPr indent="0" marL="0">
              <a:buNone/>
            </a:pPr>
            <a:r>
              <a:rPr lang="en-US" sz="1000" dirty="0">
                <a:solidFill>
                  <a:srgbClr val="334155"/>
                </a:solidFill>
              </a:rPr>
              <a:t>Raw Talent</a:t>
            </a:r>
            <a:endParaRPr lang="en-US" sz="1000" dirty="0"/>
          </a:p>
          <a:p>
            <a:pPr indent="0" marL="0">
              <a:buNone/>
            </a:pPr>
            <a:r>
              <a:rPr lang="en-US" sz="1000" dirty="0">
                <a:solidFill>
                  <a:srgbClr val="334155"/>
                </a:solidFill>
              </a:rPr>
              <a:t>(via bookkeeper Nancy)</a:t>
            </a:r>
            <a:endParaRPr lang="en-US" sz="1000" dirty="0"/>
          </a:p>
        </p:txBody>
      </p:sp>
      <p:sp>
        <p:nvSpPr>
          <p:cNvPr id="43" name="Shape 41"/>
          <p:cNvSpPr/>
          <p:nvPr/>
        </p:nvSpPr>
        <p:spPr>
          <a:xfrm>
            <a:off x="365760" y="5285232"/>
            <a:ext cx="3566160" cy="786384"/>
          </a:xfrm>
          <a:prstGeom prst="rect">
            <a:avLst/>
          </a:prstGeom>
          <a:solidFill>
            <a:srgbClr val="FFFFFF"/>
          </a:solidFill>
          <a:ln w="12700">
            <a:solidFill>
              <a:srgbClr val="E2E8F0"/>
            </a:solidFill>
            <a:prstDash val="solid"/>
          </a:ln>
        </p:spPr>
      </p:sp>
      <p:sp>
        <p:nvSpPr>
          <p:cNvPr id="44" name="Text 42"/>
          <p:cNvSpPr/>
          <p:nvPr/>
        </p:nvSpPr>
        <p:spPr>
          <a:xfrm>
            <a:off x="457200" y="5285232"/>
            <a:ext cx="3383280" cy="786384"/>
          </a:xfrm>
          <a:prstGeom prst="rect">
            <a:avLst/>
          </a:prstGeom>
          <a:noFill/>
          <a:ln/>
        </p:spPr>
        <p:txBody>
          <a:bodyPr wrap="square" lIns="0" tIns="0" rIns="0" bIns="0" rtlCol="0" anchor="ctr"/>
          <a:lstStyle/>
          <a:p>
            <a:pPr indent="0" marL="0">
              <a:buNone/>
            </a:pPr>
            <a:r>
              <a:rPr lang="en-US" sz="1000" b="1" dirty="0">
                <a:solidFill>
                  <a:srgbClr val="1E2A3A"/>
                </a:solidFill>
              </a:rPr>
              <a:t>Admin for centre</a:t>
            </a:r>
            <a:endParaRPr lang="en-US" sz="1000" dirty="0"/>
          </a:p>
        </p:txBody>
      </p:sp>
      <p:sp>
        <p:nvSpPr>
          <p:cNvPr id="45" name="Shape 43"/>
          <p:cNvSpPr/>
          <p:nvPr/>
        </p:nvSpPr>
        <p:spPr>
          <a:xfrm>
            <a:off x="4114800" y="5285232"/>
            <a:ext cx="2606040" cy="786384"/>
          </a:xfrm>
          <a:prstGeom prst="rect">
            <a:avLst/>
          </a:prstGeom>
          <a:solidFill>
            <a:srgbClr val="FFF8F8"/>
          </a:solidFill>
          <a:ln w="12700">
            <a:solidFill>
              <a:srgbClr val="E2E8F0"/>
            </a:solidFill>
            <a:prstDash val="solid"/>
          </a:ln>
        </p:spPr>
      </p:sp>
      <p:sp>
        <p:nvSpPr>
          <p:cNvPr id="46" name="Text 44"/>
          <p:cNvSpPr/>
          <p:nvPr/>
        </p:nvSpPr>
        <p:spPr>
          <a:xfrm>
            <a:off x="4206240" y="5285232"/>
            <a:ext cx="2423160" cy="786384"/>
          </a:xfrm>
          <a:prstGeom prst="rect">
            <a:avLst/>
          </a:prstGeom>
          <a:noFill/>
          <a:ln/>
        </p:spPr>
        <p:txBody>
          <a:bodyPr wrap="square" lIns="0" tIns="0" rIns="0" bIns="0" rtlCol="0" anchor="ctr"/>
          <a:lstStyle/>
          <a:p>
            <a:pPr indent="0" marL="0">
              <a:buNone/>
            </a:pPr>
            <a:r>
              <a:rPr lang="en-US" sz="1000" dirty="0">
                <a:solidFill>
                  <a:srgbClr val="334155"/>
                </a:solidFill>
              </a:rPr>
              <a:t>Medium — centre manages</a:t>
            </a:r>
            <a:endParaRPr lang="en-US" sz="1000" dirty="0"/>
          </a:p>
          <a:p>
            <a:pPr indent="0" marL="0">
              <a:buNone/>
            </a:pPr>
            <a:r>
              <a:rPr lang="en-US" sz="1000" dirty="0">
                <a:solidFill>
                  <a:srgbClr val="334155"/>
                </a:solidFill>
              </a:rPr>
              <a:t>educator payroll</a:t>
            </a:r>
            <a:endParaRPr lang="en-US" sz="1000" dirty="0"/>
          </a:p>
        </p:txBody>
      </p:sp>
      <p:sp>
        <p:nvSpPr>
          <p:cNvPr id="47" name="Shape 45"/>
          <p:cNvSpPr/>
          <p:nvPr/>
        </p:nvSpPr>
        <p:spPr>
          <a:xfrm>
            <a:off x="6766560" y="5285232"/>
            <a:ext cx="2606040" cy="786384"/>
          </a:xfrm>
          <a:prstGeom prst="rect">
            <a:avLst/>
          </a:prstGeom>
          <a:solidFill>
            <a:srgbClr val="F5F9FF"/>
          </a:solidFill>
          <a:ln w="12700">
            <a:solidFill>
              <a:srgbClr val="E2E8F0"/>
            </a:solidFill>
            <a:prstDash val="solid"/>
          </a:ln>
        </p:spPr>
      </p:sp>
      <p:sp>
        <p:nvSpPr>
          <p:cNvPr id="48" name="Text 46"/>
          <p:cNvSpPr/>
          <p:nvPr/>
        </p:nvSpPr>
        <p:spPr>
          <a:xfrm>
            <a:off x="6858000" y="5285232"/>
            <a:ext cx="2423160" cy="786384"/>
          </a:xfrm>
          <a:prstGeom prst="rect">
            <a:avLst/>
          </a:prstGeom>
          <a:noFill/>
          <a:ln/>
        </p:spPr>
        <p:txBody>
          <a:bodyPr wrap="square" lIns="0" tIns="0" rIns="0" bIns="0" rtlCol="0" anchor="ctr"/>
          <a:lstStyle/>
          <a:p>
            <a:pPr indent="0" marL="0">
              <a:buNone/>
            </a:pPr>
            <a:r>
              <a:rPr lang="en-US" sz="1000" dirty="0">
                <a:solidFill>
                  <a:srgbClr val="334155"/>
                </a:solidFill>
              </a:rPr>
              <a:t>Very Low — TN</a:t>
            </a:r>
            <a:endParaRPr lang="en-US" sz="1000" dirty="0"/>
          </a:p>
          <a:p>
            <a:pPr indent="0" marL="0">
              <a:buNone/>
            </a:pPr>
            <a:r>
              <a:rPr lang="en-US" sz="1000" dirty="0">
                <a:solidFill>
                  <a:srgbClr val="334155"/>
                </a:solidFill>
              </a:rPr>
              <a:t>handles everything</a:t>
            </a:r>
            <a:endParaRPr lang="en-US" sz="1000" dirty="0"/>
          </a:p>
        </p:txBody>
      </p:sp>
      <p:sp>
        <p:nvSpPr>
          <p:cNvPr id="49" name="Shape 47"/>
          <p:cNvSpPr/>
          <p:nvPr/>
        </p:nvSpPr>
        <p:spPr>
          <a:xfrm>
            <a:off x="9418320" y="5285232"/>
            <a:ext cx="2606040" cy="786384"/>
          </a:xfrm>
          <a:prstGeom prst="rect">
            <a:avLst/>
          </a:prstGeom>
          <a:solidFill>
            <a:srgbClr val="F5FFF8"/>
          </a:solidFill>
          <a:ln w="12700">
            <a:solidFill>
              <a:srgbClr val="E2E8F0"/>
            </a:solidFill>
            <a:prstDash val="solid"/>
          </a:ln>
        </p:spPr>
      </p:sp>
      <p:sp>
        <p:nvSpPr>
          <p:cNvPr id="50" name="Text 48"/>
          <p:cNvSpPr/>
          <p:nvPr/>
        </p:nvSpPr>
        <p:spPr>
          <a:xfrm>
            <a:off x="9509760" y="5285232"/>
            <a:ext cx="2423160" cy="786384"/>
          </a:xfrm>
          <a:prstGeom prst="rect">
            <a:avLst/>
          </a:prstGeom>
          <a:noFill/>
          <a:ln/>
        </p:spPr>
        <p:txBody>
          <a:bodyPr wrap="square" lIns="0" tIns="0" rIns="0" bIns="0" rtlCol="0" anchor="ctr"/>
          <a:lstStyle/>
          <a:p>
            <a:pPr indent="0" marL="0">
              <a:buNone/>
            </a:pPr>
            <a:r>
              <a:rPr lang="en-US" sz="1000" dirty="0">
                <a:solidFill>
                  <a:srgbClr val="334155"/>
                </a:solidFill>
              </a:rPr>
              <a:t>Very Low — RT</a:t>
            </a:r>
            <a:endParaRPr lang="en-US" sz="1000" dirty="0"/>
          </a:p>
          <a:p>
            <a:pPr indent="0" marL="0">
              <a:buNone/>
            </a:pPr>
            <a:r>
              <a:rPr lang="en-US" sz="1000" dirty="0">
                <a:solidFill>
                  <a:srgbClr val="334155"/>
                </a:solidFill>
              </a:rPr>
              <a:t>handles everything</a:t>
            </a:r>
            <a:endParaRPr lang="en-US" sz="1000" dirty="0"/>
          </a:p>
        </p:txBody>
      </p:sp>
      <p:sp>
        <p:nvSpPr>
          <p:cNvPr id="51" name="Shape 49"/>
          <p:cNvSpPr/>
          <p:nvPr/>
        </p:nvSpPr>
        <p:spPr>
          <a:xfrm>
            <a:off x="4114800" y="6080760"/>
            <a:ext cx="2606040" cy="347472"/>
          </a:xfrm>
          <a:prstGeom prst="roundRect">
            <a:avLst>
              <a:gd name="adj" fmla="val 15789"/>
            </a:avLst>
          </a:prstGeom>
          <a:solidFill>
            <a:srgbClr val="E14B4B"/>
          </a:solidFill>
          <a:ln/>
        </p:spPr>
      </p:sp>
      <p:sp>
        <p:nvSpPr>
          <p:cNvPr id="52" name="Text 50"/>
          <p:cNvSpPr/>
          <p:nvPr/>
        </p:nvSpPr>
        <p:spPr>
          <a:xfrm>
            <a:off x="4114800" y="6080760"/>
            <a:ext cx="2606040" cy="347472"/>
          </a:xfrm>
          <a:prstGeom prst="rect">
            <a:avLst/>
          </a:prstGeom>
          <a:noFill/>
          <a:ln/>
        </p:spPr>
        <p:txBody>
          <a:bodyPr wrap="square" lIns="0" tIns="0" rIns="0" bIns="0" rtlCol="0" anchor="ctr"/>
          <a:lstStyle/>
          <a:p>
            <a:pPr algn="ctr" indent="0" marL="0">
              <a:buNone/>
            </a:pPr>
            <a:r>
              <a:rPr lang="en-US" sz="900" b="1" dirty="0">
                <a:solidFill>
                  <a:srgbClr val="FFFFFF"/>
                </a:solidFill>
              </a:rPr>
              <a:t>⚠ Biggest competitive threat</a:t>
            </a:r>
            <a:endParaRPr lang="en-US" sz="900" dirty="0"/>
          </a:p>
        </p:txBody>
      </p:sp>
      <p:sp>
        <p:nvSpPr>
          <p:cNvPr id="53" name="Text 51"/>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TalentNow.com.au/early-childhood-centres | TheSector.com.au (Feb 2025) | ACA Worker Retention Payment FAQ | TalentNow Employment Hero integration (pilot Feb 2025) | Joy Victoria analysis, June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F2A93B"/>
          </a:solidFill>
          <a:ln w="12700">
            <a:solidFill>
              <a:srgbClr val="F2A93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PAY RATE ANALYSIS</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SA Pay Gap — Why Educators Are Choosing Competitors</a:t>
            </a:r>
            <a:endParaRPr lang="en-US" sz="3000" dirty="0"/>
          </a:p>
        </p:txBody>
      </p:sp>
      <p:graphicFrame>
        <p:nvGraphicFramePr>
          <p:cNvPr id="5" name="Chart 0" descr=""/>
          <p:cNvGraphicFramePr/>
          <p:nvPr/>
        </p:nvGraphicFramePr>
        <p:xfrm>
          <a:off x="457200" y="137160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89520" y="1371600"/>
            <a:ext cx="4206240" cy="960120"/>
          </a:xfrm>
          <a:prstGeom prst="roundRect">
            <a:avLst>
              <a:gd name="adj" fmla="val 7619"/>
            </a:avLst>
          </a:prstGeom>
          <a:solidFill>
            <a:srgbClr val="F7F8FD"/>
          </a:solidFill>
          <a:ln/>
          <a:effectLst>
            <a:outerShdw sx="100000" sy="100000" kx="0" ky="0" algn="bl" rotWithShape="0" blurRad="101600" dist="25400" dir="2700000">
              <a:srgbClr val="000000">
                <a:alpha val="8000"/>
              </a:srgbClr>
            </a:outerShdw>
          </a:effectLst>
        </p:spPr>
      </p:sp>
      <p:sp>
        <p:nvSpPr>
          <p:cNvPr id="7" name="Text 4"/>
          <p:cNvSpPr/>
          <p:nvPr/>
        </p:nvSpPr>
        <p:spPr>
          <a:xfrm>
            <a:off x="7772400" y="1417320"/>
            <a:ext cx="3840480" cy="256032"/>
          </a:xfrm>
          <a:prstGeom prst="rect">
            <a:avLst/>
          </a:prstGeom>
          <a:noFill/>
          <a:ln/>
        </p:spPr>
        <p:txBody>
          <a:bodyPr wrap="square" lIns="0" tIns="0" rIns="0" bIns="0" rtlCol="0" anchor="ctr"/>
          <a:lstStyle/>
          <a:p>
            <a:pPr indent="0" marL="0">
              <a:buNone/>
            </a:pPr>
            <a:r>
              <a:rPr lang="en-US" sz="900" b="1" dirty="0">
                <a:solidFill>
                  <a:srgbClr val="64748B"/>
                </a:solidFill>
              </a:rPr>
              <a:t>Current Pay Gap</a:t>
            </a:r>
            <a:endParaRPr lang="en-US" sz="900" dirty="0"/>
          </a:p>
        </p:txBody>
      </p:sp>
      <p:sp>
        <p:nvSpPr>
          <p:cNvPr id="8" name="Text 5"/>
          <p:cNvSpPr/>
          <p:nvPr/>
        </p:nvSpPr>
        <p:spPr>
          <a:xfrm>
            <a:off x="7772400" y="1627632"/>
            <a:ext cx="2194560" cy="457200"/>
          </a:xfrm>
          <a:prstGeom prst="rect">
            <a:avLst/>
          </a:prstGeom>
          <a:noFill/>
          <a:ln/>
        </p:spPr>
        <p:txBody>
          <a:bodyPr wrap="square" lIns="0" tIns="0" rIns="0" bIns="0" rtlCol="0" anchor="ctr"/>
          <a:lstStyle/>
          <a:p>
            <a:pPr indent="0" marL="0">
              <a:buNone/>
            </a:pPr>
            <a:r>
              <a:rPr lang="en-US" sz="2600" b="1" dirty="0">
                <a:solidFill>
                  <a:srgbClr val="E14B4B"/>
                </a:solidFill>
                <a:latin typeface="Cambria" pitchFamily="34" charset="0"/>
                <a:ea typeface="Cambria" pitchFamily="34" charset="-122"/>
                <a:cs typeface="Cambria" pitchFamily="34" charset="-120"/>
              </a:rPr>
              <a:t>~$4–5/hr</a:t>
            </a:r>
            <a:endParaRPr lang="en-US" sz="2600" dirty="0"/>
          </a:p>
        </p:txBody>
      </p:sp>
      <p:sp>
        <p:nvSpPr>
          <p:cNvPr id="9" name="Text 6"/>
          <p:cNvSpPr/>
          <p:nvPr/>
        </p:nvSpPr>
        <p:spPr>
          <a:xfrm>
            <a:off x="7772400" y="1993392"/>
            <a:ext cx="3840480" cy="256032"/>
          </a:xfrm>
          <a:prstGeom prst="rect">
            <a:avLst/>
          </a:prstGeom>
          <a:noFill/>
          <a:ln/>
        </p:spPr>
        <p:txBody>
          <a:bodyPr wrap="square" lIns="0" tIns="0" rIns="0" bIns="0" rtlCol="0" anchor="ctr"/>
          <a:lstStyle/>
          <a:p>
            <a:pPr indent="0" marL="0">
              <a:buNone/>
            </a:pPr>
            <a:r>
              <a:rPr lang="en-US" sz="900" dirty="0">
                <a:solidFill>
                  <a:srgbClr val="64748B"/>
                </a:solidFill>
              </a:rPr>
              <a:t>RT vs Entrée in SA</a:t>
            </a:r>
            <a:endParaRPr lang="en-US" sz="900" dirty="0"/>
          </a:p>
        </p:txBody>
      </p:sp>
      <p:sp>
        <p:nvSpPr>
          <p:cNvPr id="10" name="Shape 7"/>
          <p:cNvSpPr/>
          <p:nvPr/>
        </p:nvSpPr>
        <p:spPr>
          <a:xfrm>
            <a:off x="7589520" y="2423160"/>
            <a:ext cx="4206240" cy="960120"/>
          </a:xfrm>
          <a:prstGeom prst="roundRect">
            <a:avLst>
              <a:gd name="adj" fmla="val 7619"/>
            </a:avLst>
          </a:prstGeom>
          <a:solidFill>
            <a:srgbClr val="F7F8FD"/>
          </a:solidFill>
          <a:ln/>
          <a:effectLst>
            <a:outerShdw sx="100000" sy="100000" kx="0" ky="0" algn="bl" rotWithShape="0" blurRad="101600" dist="25400" dir="2700000">
              <a:srgbClr val="000000">
                <a:alpha val="8000"/>
              </a:srgbClr>
            </a:outerShdw>
          </a:effectLst>
        </p:spPr>
      </p:sp>
      <p:sp>
        <p:nvSpPr>
          <p:cNvPr id="11" name="Text 8"/>
          <p:cNvSpPr/>
          <p:nvPr/>
        </p:nvSpPr>
        <p:spPr>
          <a:xfrm>
            <a:off x="7772400" y="2468880"/>
            <a:ext cx="3840480" cy="256032"/>
          </a:xfrm>
          <a:prstGeom prst="rect">
            <a:avLst/>
          </a:prstGeom>
          <a:noFill/>
          <a:ln/>
        </p:spPr>
        <p:txBody>
          <a:bodyPr wrap="square" lIns="0" tIns="0" rIns="0" bIns="0" rtlCol="0" anchor="ctr"/>
          <a:lstStyle/>
          <a:p>
            <a:pPr indent="0" marL="0">
              <a:buNone/>
            </a:pPr>
            <a:r>
              <a:rPr lang="en-US" sz="900" b="1" dirty="0">
                <a:solidFill>
                  <a:srgbClr val="64748B"/>
                </a:solidFill>
              </a:rPr>
              <a:t>WRP Uplift (Year 1)</a:t>
            </a:r>
            <a:endParaRPr lang="en-US" sz="900" dirty="0"/>
          </a:p>
        </p:txBody>
      </p:sp>
      <p:sp>
        <p:nvSpPr>
          <p:cNvPr id="12" name="Text 9"/>
          <p:cNvSpPr/>
          <p:nvPr/>
        </p:nvSpPr>
        <p:spPr>
          <a:xfrm>
            <a:off x="7772400" y="2679192"/>
            <a:ext cx="2194560" cy="457200"/>
          </a:xfrm>
          <a:prstGeom prst="rect">
            <a:avLst/>
          </a:prstGeom>
          <a:noFill/>
          <a:ln/>
        </p:spPr>
        <p:txBody>
          <a:bodyPr wrap="square" lIns="0" tIns="0" rIns="0" bIns="0" rtlCol="0" anchor="ctr"/>
          <a:lstStyle/>
          <a:p>
            <a:pPr indent="0" marL="0">
              <a:buNone/>
            </a:pPr>
            <a:r>
              <a:rPr lang="en-US" sz="2600" b="1" dirty="0">
                <a:solidFill>
                  <a:srgbClr val="F2A93B"/>
                </a:solidFill>
                <a:latin typeface="Cambria" pitchFamily="34" charset="0"/>
                <a:ea typeface="Cambria" pitchFamily="34" charset="-122"/>
                <a:cs typeface="Cambria" pitchFamily="34" charset="-120"/>
              </a:rPr>
              <a:t>+10%</a:t>
            </a:r>
            <a:endParaRPr lang="en-US" sz="2600" dirty="0"/>
          </a:p>
        </p:txBody>
      </p:sp>
      <p:sp>
        <p:nvSpPr>
          <p:cNvPr id="13" name="Text 10"/>
          <p:cNvSpPr/>
          <p:nvPr/>
        </p:nvSpPr>
        <p:spPr>
          <a:xfrm>
            <a:off x="7772400" y="3044952"/>
            <a:ext cx="3840480" cy="256032"/>
          </a:xfrm>
          <a:prstGeom prst="rect">
            <a:avLst/>
          </a:prstGeom>
          <a:noFill/>
          <a:ln/>
        </p:spPr>
        <p:txBody>
          <a:bodyPr wrap="square" lIns="0" tIns="0" rIns="0" bIns="0" rtlCol="0" anchor="ctr"/>
          <a:lstStyle/>
          <a:p>
            <a:pPr indent="0" marL="0">
              <a:buNone/>
            </a:pPr>
            <a:r>
              <a:rPr lang="en-US" sz="900" dirty="0">
                <a:solidFill>
                  <a:srgbClr val="64748B"/>
                </a:solidFill>
              </a:rPr>
              <a:t>from 2 December 2024</a:t>
            </a:r>
            <a:endParaRPr lang="en-US" sz="900" dirty="0"/>
          </a:p>
        </p:txBody>
      </p:sp>
      <p:sp>
        <p:nvSpPr>
          <p:cNvPr id="14" name="Shape 11"/>
          <p:cNvSpPr/>
          <p:nvPr/>
        </p:nvSpPr>
        <p:spPr>
          <a:xfrm>
            <a:off x="7589520" y="3474720"/>
            <a:ext cx="4206240" cy="960120"/>
          </a:xfrm>
          <a:prstGeom prst="roundRect">
            <a:avLst>
              <a:gd name="adj" fmla="val 7619"/>
            </a:avLst>
          </a:prstGeom>
          <a:solidFill>
            <a:srgbClr val="F7F8FD"/>
          </a:solidFill>
          <a:ln/>
          <a:effectLst>
            <a:outerShdw sx="100000" sy="100000" kx="0" ky="0" algn="bl" rotWithShape="0" blurRad="101600" dist="25400" dir="2700000">
              <a:srgbClr val="000000">
                <a:alpha val="8000"/>
              </a:srgbClr>
            </a:outerShdw>
          </a:effectLst>
        </p:spPr>
      </p:sp>
      <p:sp>
        <p:nvSpPr>
          <p:cNvPr id="15" name="Text 12"/>
          <p:cNvSpPr/>
          <p:nvPr/>
        </p:nvSpPr>
        <p:spPr>
          <a:xfrm>
            <a:off x="7772400" y="3520440"/>
            <a:ext cx="3840480" cy="256032"/>
          </a:xfrm>
          <a:prstGeom prst="rect">
            <a:avLst/>
          </a:prstGeom>
          <a:noFill/>
          <a:ln/>
        </p:spPr>
        <p:txBody>
          <a:bodyPr wrap="square" lIns="0" tIns="0" rIns="0" bIns="0" rtlCol="0" anchor="ctr"/>
          <a:lstStyle/>
          <a:p>
            <a:pPr indent="0" marL="0">
              <a:buNone/>
            </a:pPr>
            <a:r>
              <a:rPr lang="en-US" sz="900" b="1" dirty="0">
                <a:solidFill>
                  <a:srgbClr val="64748B"/>
                </a:solidFill>
              </a:rPr>
              <a:t>RT Diploma + WRP</a:t>
            </a:r>
            <a:endParaRPr lang="en-US" sz="900" dirty="0"/>
          </a:p>
        </p:txBody>
      </p:sp>
      <p:sp>
        <p:nvSpPr>
          <p:cNvPr id="16" name="Text 13"/>
          <p:cNvSpPr/>
          <p:nvPr/>
        </p:nvSpPr>
        <p:spPr>
          <a:xfrm>
            <a:off x="7772400" y="3730752"/>
            <a:ext cx="2194560" cy="457200"/>
          </a:xfrm>
          <a:prstGeom prst="rect">
            <a:avLst/>
          </a:prstGeom>
          <a:noFill/>
          <a:ln/>
        </p:spPr>
        <p:txBody>
          <a:bodyPr wrap="square" lIns="0" tIns="0" rIns="0" bIns="0" rtlCol="0" anchor="ctr"/>
          <a:lstStyle/>
          <a:p>
            <a:pPr indent="0" marL="0">
              <a:buNone/>
            </a:pPr>
            <a:r>
              <a:rPr lang="en-US" sz="2600" b="1" dirty="0">
                <a:solidFill>
                  <a:srgbClr val="27AE60"/>
                </a:solidFill>
                <a:latin typeface="Cambria" pitchFamily="34" charset="0"/>
                <a:ea typeface="Cambria" pitchFamily="34" charset="-122"/>
                <a:cs typeface="Cambria" pitchFamily="34" charset="-120"/>
              </a:rPr>
              <a:t>$45.70</a:t>
            </a:r>
            <a:endParaRPr lang="en-US" sz="2600" dirty="0"/>
          </a:p>
        </p:txBody>
      </p:sp>
      <p:sp>
        <p:nvSpPr>
          <p:cNvPr id="17" name="Text 14"/>
          <p:cNvSpPr/>
          <p:nvPr/>
        </p:nvSpPr>
        <p:spPr>
          <a:xfrm>
            <a:off x="7772400" y="4096512"/>
            <a:ext cx="3840480" cy="256032"/>
          </a:xfrm>
          <a:prstGeom prst="rect">
            <a:avLst/>
          </a:prstGeom>
          <a:noFill/>
          <a:ln/>
        </p:spPr>
        <p:txBody>
          <a:bodyPr wrap="square" lIns="0" tIns="0" rIns="0" bIns="0" rtlCol="0" anchor="ctr"/>
          <a:lstStyle/>
          <a:p>
            <a:pPr indent="0" marL="0">
              <a:buNone/>
            </a:pPr>
            <a:r>
              <a:rPr lang="en-US" sz="900" dirty="0">
                <a:solidFill>
                  <a:srgbClr val="64748B"/>
                </a:solidFill>
              </a:rPr>
              <a:t>Highest rate RT currently offers</a:t>
            </a:r>
            <a:endParaRPr lang="en-US" sz="900" dirty="0"/>
          </a:p>
        </p:txBody>
      </p:sp>
      <p:sp>
        <p:nvSpPr>
          <p:cNvPr id="18" name="Shape 15"/>
          <p:cNvSpPr/>
          <p:nvPr/>
        </p:nvSpPr>
        <p:spPr>
          <a:xfrm>
            <a:off x="7589520" y="4526280"/>
            <a:ext cx="4206240" cy="960120"/>
          </a:xfrm>
          <a:prstGeom prst="roundRect">
            <a:avLst>
              <a:gd name="adj" fmla="val 7619"/>
            </a:avLst>
          </a:prstGeom>
          <a:solidFill>
            <a:srgbClr val="F7F8FD"/>
          </a:solidFill>
          <a:ln/>
          <a:effectLst>
            <a:outerShdw sx="100000" sy="100000" kx="0" ky="0" algn="bl" rotWithShape="0" blurRad="101600" dist="25400" dir="2700000">
              <a:srgbClr val="000000">
                <a:alpha val="8000"/>
              </a:srgbClr>
            </a:outerShdw>
          </a:effectLst>
        </p:spPr>
      </p:sp>
      <p:sp>
        <p:nvSpPr>
          <p:cNvPr id="19" name="Text 16"/>
          <p:cNvSpPr/>
          <p:nvPr/>
        </p:nvSpPr>
        <p:spPr>
          <a:xfrm>
            <a:off x="7772400" y="4572000"/>
            <a:ext cx="3840480" cy="256032"/>
          </a:xfrm>
          <a:prstGeom prst="rect">
            <a:avLst/>
          </a:prstGeom>
          <a:noFill/>
          <a:ln/>
        </p:spPr>
        <p:txBody>
          <a:bodyPr wrap="square" lIns="0" tIns="0" rIns="0" bIns="0" rtlCol="0" anchor="ctr"/>
          <a:lstStyle/>
          <a:p>
            <a:pPr indent="0" marL="0">
              <a:buNone/>
            </a:pPr>
            <a:r>
              <a:rPr lang="en-US" sz="900" b="1" dirty="0">
                <a:solidFill>
                  <a:srgbClr val="64748B"/>
                </a:solidFill>
              </a:rPr>
              <a:t>RT Cert III + WRP</a:t>
            </a:r>
            <a:endParaRPr lang="en-US" sz="900" dirty="0"/>
          </a:p>
        </p:txBody>
      </p:sp>
      <p:sp>
        <p:nvSpPr>
          <p:cNvPr id="20" name="Text 17"/>
          <p:cNvSpPr/>
          <p:nvPr/>
        </p:nvSpPr>
        <p:spPr>
          <a:xfrm>
            <a:off x="7772400" y="4782312"/>
            <a:ext cx="2194560" cy="457200"/>
          </a:xfrm>
          <a:prstGeom prst="rect">
            <a:avLst/>
          </a:prstGeom>
          <a:noFill/>
          <a:ln/>
        </p:spPr>
        <p:txBody>
          <a:bodyPr wrap="square" lIns="0" tIns="0" rIns="0" bIns="0" rtlCol="0" anchor="ctr"/>
          <a:lstStyle/>
          <a:p>
            <a:pPr indent="0" marL="0">
              <a:buNone/>
            </a:pPr>
            <a:r>
              <a:rPr lang="en-US" sz="2600" b="1" dirty="0">
                <a:solidFill>
                  <a:srgbClr val="3A6FF8"/>
                </a:solidFill>
                <a:latin typeface="Cambria" pitchFamily="34" charset="0"/>
                <a:ea typeface="Cambria" pitchFamily="34" charset="-122"/>
                <a:cs typeface="Cambria" pitchFamily="34" charset="-120"/>
              </a:rPr>
              <a:t>$40.57</a:t>
            </a:r>
            <a:endParaRPr lang="en-US" sz="2600" dirty="0"/>
          </a:p>
        </p:txBody>
      </p:sp>
      <p:sp>
        <p:nvSpPr>
          <p:cNvPr id="21" name="Text 18"/>
          <p:cNvSpPr/>
          <p:nvPr/>
        </p:nvSpPr>
        <p:spPr>
          <a:xfrm>
            <a:off x="7772400" y="5148072"/>
            <a:ext cx="3840480" cy="256032"/>
          </a:xfrm>
          <a:prstGeom prst="rect">
            <a:avLst/>
          </a:prstGeom>
          <a:noFill/>
          <a:ln/>
        </p:spPr>
        <p:txBody>
          <a:bodyPr wrap="square" lIns="0" tIns="0" rIns="0" bIns="0" rtlCol="0" anchor="ctr"/>
          <a:lstStyle/>
          <a:p>
            <a:pPr indent="0" marL="0">
              <a:buNone/>
            </a:pPr>
            <a:r>
              <a:rPr lang="en-US" sz="900" dirty="0">
                <a:solidFill>
                  <a:srgbClr val="64748B"/>
                </a:solidFill>
              </a:rPr>
              <a:t>Cert III rate with WRP enabled</a:t>
            </a:r>
            <a:endParaRPr lang="en-US" sz="900" dirty="0"/>
          </a:p>
        </p:txBody>
      </p:sp>
      <p:sp>
        <p:nvSpPr>
          <p:cNvPr id="22" name="Text 19"/>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Sources: Children's Services Award 2010 [MA000120] | ACA WRP Wage Calculator (aca-worker-retention-payment.org.au) | WRP rates confirmed by Sophia Arwae, June 2026: Diploma + WRP = $45.70, Cert III + WRP = $40.57 | Competitor intel from SA educator re-engagement calls, June 2026 | Note: TalentNow Casual Hire rate is estimated; exact rate not publicly disclosed.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3A6FF8"/>
          </a:solidFill>
          <a:ln w="12700">
            <a:solidFill>
              <a:srgbClr val="3A6FF8"/>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REGULATORY</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Worker Retention Payment (WRP) — What It Is &amp; Why It Matters</a:t>
            </a:r>
            <a:endParaRPr lang="en-US" sz="3000" dirty="0"/>
          </a:p>
        </p:txBody>
      </p:sp>
      <p:sp>
        <p:nvSpPr>
          <p:cNvPr id="5" name="Text 3"/>
          <p:cNvSpPr/>
          <p:nvPr/>
        </p:nvSpPr>
        <p:spPr>
          <a:xfrm>
            <a:off x="457200" y="1417320"/>
            <a:ext cx="5303520" cy="347472"/>
          </a:xfrm>
          <a:prstGeom prst="rect">
            <a:avLst/>
          </a:prstGeom>
          <a:noFill/>
          <a:ln/>
        </p:spPr>
        <p:txBody>
          <a:bodyPr wrap="square" lIns="0" tIns="0" rIns="0" bIns="0" rtlCol="0" anchor="ctr"/>
          <a:lstStyle/>
          <a:p>
            <a:pPr indent="0" marL="0">
              <a:buNone/>
            </a:pPr>
            <a:r>
              <a:rPr lang="en-US" sz="1400" b="1" dirty="0">
                <a:solidFill>
                  <a:srgbClr val="1E2A3A"/>
                </a:solidFill>
              </a:rPr>
              <a:t>What is the WRP?</a:t>
            </a:r>
            <a:endParaRPr lang="en-US" sz="1400" dirty="0"/>
          </a:p>
        </p:txBody>
      </p:sp>
      <p:sp>
        <p:nvSpPr>
          <p:cNvPr id="6" name="Text 4"/>
          <p:cNvSpPr/>
          <p:nvPr/>
        </p:nvSpPr>
        <p:spPr>
          <a:xfrm>
            <a:off x="457200" y="1783080"/>
            <a:ext cx="5303520" cy="1463040"/>
          </a:xfrm>
          <a:prstGeom prst="rect">
            <a:avLst/>
          </a:prstGeom>
          <a:noFill/>
          <a:ln/>
        </p:spPr>
        <p:txBody>
          <a:bodyPr wrap="square" lIns="0" tIns="0" rIns="0" bIns="0" rtlCol="0" anchor="ctr"/>
          <a:lstStyle/>
          <a:p>
            <a:pPr indent="0" marL="0">
              <a:buNone/>
            </a:pPr>
            <a:r>
              <a:rPr lang="en-US" sz="1100" dirty="0">
                <a:solidFill>
                  <a:srgbClr val="334155"/>
                </a:solidFill>
              </a:rPr>
              <a:t>The WRP is a Federal Government grant running </a:t>
            </a:r>
            <a:pPr indent="0" marL="0">
              <a:buNone/>
            </a:pPr>
            <a:r>
              <a:rPr lang="en-US" sz="1100" b="1" dirty="0">
                <a:solidFill>
                  <a:srgbClr val="334155"/>
                </a:solidFill>
              </a:rPr>
              <a:t>2 December 2024 — 30 November 2026. </a:t>
            </a:r>
            <a:pPr indent="0" marL="0">
              <a:buNone/>
            </a:pPr>
            <a:r>
              <a:rPr lang="en-US" sz="1100" dirty="0">
                <a:solidFill>
                  <a:srgbClr val="334155"/>
                </a:solidFill>
              </a:rPr>
              <a:t>It funds a </a:t>
            </a:r>
            <a:pPr indent="0" marL="0">
              <a:buNone/>
            </a:pPr>
            <a:r>
              <a:rPr lang="en-US" sz="1100" b="1" dirty="0">
                <a:solidFill>
                  <a:srgbClr val="27AE60"/>
                </a:solidFill>
              </a:rPr>
              <a:t>+10% wage increase in Year 1 </a:t>
            </a:r>
            <a:pPr indent="0" marL="0">
              <a:buNone/>
            </a:pPr>
            <a:r>
              <a:rPr lang="en-US" sz="1100" dirty="0">
                <a:solidFill>
                  <a:srgbClr val="334155"/>
                </a:solidFill>
              </a:rPr>
              <a:t>for eligible ECEC workers. The grant goes to approved centres, who must pass it on to eligible employees. Further increases are legislated for Dec 2026 (+10%), Jul 2028 (+5%), and Jul 2029 (TBD).</a:t>
            </a:r>
            <a:endParaRPr lang="en-US" sz="1100" dirty="0"/>
          </a:p>
        </p:txBody>
      </p:sp>
      <p:sp>
        <p:nvSpPr>
          <p:cNvPr id="7" name="Shape 5"/>
          <p:cNvSpPr/>
          <p:nvPr/>
        </p:nvSpPr>
        <p:spPr>
          <a:xfrm>
            <a:off x="457200" y="3474720"/>
            <a:ext cx="1920240" cy="822960"/>
          </a:xfrm>
          <a:prstGeom prst="roundRect">
            <a:avLst>
              <a:gd name="adj" fmla="val 8889"/>
            </a:avLst>
          </a:prstGeom>
          <a:solidFill>
            <a:srgbClr val="1E2A3A"/>
          </a:solidFill>
          <a:ln/>
        </p:spPr>
      </p:sp>
      <p:sp>
        <p:nvSpPr>
          <p:cNvPr id="8" name="Text 6"/>
          <p:cNvSpPr/>
          <p:nvPr/>
        </p:nvSpPr>
        <p:spPr>
          <a:xfrm>
            <a:off x="457200" y="3474720"/>
            <a:ext cx="1920240" cy="822960"/>
          </a:xfrm>
          <a:prstGeom prst="rect">
            <a:avLst/>
          </a:prstGeom>
          <a:noFill/>
          <a:ln/>
        </p:spPr>
        <p:txBody>
          <a:bodyPr wrap="square" lIns="0" tIns="0" rIns="0" bIns="0" rtlCol="0" anchor="ctr"/>
          <a:lstStyle/>
          <a:p>
            <a:pPr algn="ctr" indent="0" marL="0">
              <a:buNone/>
            </a:pPr>
            <a:r>
              <a:rPr lang="en-US" sz="1000" b="1" dirty="0">
                <a:solidFill>
                  <a:srgbClr val="FFFFFF"/>
                </a:solidFill>
              </a:rPr>
              <a:t>Australian</a:t>
            </a:r>
            <a:endParaRPr lang="en-US" sz="1000" dirty="0"/>
          </a:p>
          <a:p>
            <a:pPr algn="ctr" indent="0" marL="0">
              <a:buNone/>
            </a:pPr>
            <a:r>
              <a:rPr lang="en-US" sz="1000" b="1" dirty="0">
                <a:solidFill>
                  <a:srgbClr val="FFFFFF"/>
                </a:solidFill>
              </a:rPr>
              <a:t>Government</a:t>
            </a:r>
            <a:endParaRPr lang="en-US" sz="1000" dirty="0"/>
          </a:p>
        </p:txBody>
      </p:sp>
      <p:sp>
        <p:nvSpPr>
          <p:cNvPr id="9" name="Shape 7"/>
          <p:cNvSpPr/>
          <p:nvPr/>
        </p:nvSpPr>
        <p:spPr>
          <a:xfrm>
            <a:off x="2395728" y="3886200"/>
            <a:ext cx="512064" cy="0"/>
          </a:xfrm>
          <a:prstGeom prst="line">
            <a:avLst/>
          </a:prstGeom>
          <a:noFill/>
          <a:ln w="19050">
            <a:solidFill>
              <a:srgbClr val="64748B"/>
            </a:solidFill>
            <a:prstDash val="solid"/>
          </a:ln>
        </p:spPr>
      </p:sp>
      <p:sp>
        <p:nvSpPr>
          <p:cNvPr id="10" name="Text 8"/>
          <p:cNvSpPr/>
          <p:nvPr/>
        </p:nvSpPr>
        <p:spPr>
          <a:xfrm>
            <a:off x="2423160" y="3749040"/>
            <a:ext cx="45720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1" name="Shape 9"/>
          <p:cNvSpPr/>
          <p:nvPr/>
        </p:nvSpPr>
        <p:spPr>
          <a:xfrm>
            <a:off x="2560320" y="3474720"/>
            <a:ext cx="1920240" cy="822960"/>
          </a:xfrm>
          <a:prstGeom prst="roundRect">
            <a:avLst>
              <a:gd name="adj" fmla="val 8889"/>
            </a:avLst>
          </a:prstGeom>
          <a:solidFill>
            <a:srgbClr val="3A6FF8"/>
          </a:solidFill>
          <a:ln/>
        </p:spPr>
      </p:sp>
      <p:sp>
        <p:nvSpPr>
          <p:cNvPr id="12" name="Text 10"/>
          <p:cNvSpPr/>
          <p:nvPr/>
        </p:nvSpPr>
        <p:spPr>
          <a:xfrm>
            <a:off x="2560320" y="3474720"/>
            <a:ext cx="1920240" cy="822960"/>
          </a:xfrm>
          <a:prstGeom prst="rect">
            <a:avLst/>
          </a:prstGeom>
          <a:noFill/>
          <a:ln/>
        </p:spPr>
        <p:txBody>
          <a:bodyPr wrap="square" lIns="0" tIns="0" rIns="0" bIns="0" rtlCol="0" anchor="ctr"/>
          <a:lstStyle/>
          <a:p>
            <a:pPr algn="ctr" indent="0" marL="0">
              <a:buNone/>
            </a:pPr>
            <a:r>
              <a:rPr lang="en-US" sz="1000" b="1" dirty="0">
                <a:solidFill>
                  <a:srgbClr val="FFFFFF"/>
                </a:solidFill>
              </a:rPr>
              <a:t>WRP Grant</a:t>
            </a:r>
            <a:endParaRPr lang="en-US" sz="1000" dirty="0"/>
          </a:p>
          <a:p>
            <a:pPr algn="ctr" indent="0" marL="0">
              <a:buNone/>
            </a:pPr>
            <a:r>
              <a:rPr lang="en-US" sz="1000" b="1" dirty="0">
                <a:solidFill>
                  <a:srgbClr val="FFFFFF"/>
                </a:solidFill>
              </a:rPr>
              <a:t>Funding</a:t>
            </a:r>
            <a:endParaRPr lang="en-US" sz="1000" dirty="0"/>
          </a:p>
        </p:txBody>
      </p:sp>
      <p:sp>
        <p:nvSpPr>
          <p:cNvPr id="13" name="Shape 11"/>
          <p:cNvSpPr/>
          <p:nvPr/>
        </p:nvSpPr>
        <p:spPr>
          <a:xfrm>
            <a:off x="4498848" y="3886200"/>
            <a:ext cx="512064" cy="0"/>
          </a:xfrm>
          <a:prstGeom prst="line">
            <a:avLst/>
          </a:prstGeom>
          <a:noFill/>
          <a:ln w="19050">
            <a:solidFill>
              <a:srgbClr val="64748B"/>
            </a:solidFill>
            <a:prstDash val="solid"/>
          </a:ln>
        </p:spPr>
      </p:sp>
      <p:sp>
        <p:nvSpPr>
          <p:cNvPr id="14" name="Text 12"/>
          <p:cNvSpPr/>
          <p:nvPr/>
        </p:nvSpPr>
        <p:spPr>
          <a:xfrm>
            <a:off x="4526280" y="3749040"/>
            <a:ext cx="45720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5" name="Shape 13"/>
          <p:cNvSpPr/>
          <p:nvPr/>
        </p:nvSpPr>
        <p:spPr>
          <a:xfrm>
            <a:off x="4663440" y="3474720"/>
            <a:ext cx="1920240" cy="822960"/>
          </a:xfrm>
          <a:prstGeom prst="roundRect">
            <a:avLst>
              <a:gd name="adj" fmla="val 8889"/>
            </a:avLst>
          </a:prstGeom>
          <a:solidFill>
            <a:srgbClr val="F2A93B"/>
          </a:solidFill>
          <a:ln/>
        </p:spPr>
      </p:sp>
      <p:sp>
        <p:nvSpPr>
          <p:cNvPr id="16" name="Text 14"/>
          <p:cNvSpPr/>
          <p:nvPr/>
        </p:nvSpPr>
        <p:spPr>
          <a:xfrm>
            <a:off x="4663440" y="3474720"/>
            <a:ext cx="1920240" cy="822960"/>
          </a:xfrm>
          <a:prstGeom prst="rect">
            <a:avLst/>
          </a:prstGeom>
          <a:noFill/>
          <a:ln/>
        </p:spPr>
        <p:txBody>
          <a:bodyPr wrap="square" lIns="0" tIns="0" rIns="0" bIns="0" rtlCol="0" anchor="ctr"/>
          <a:lstStyle/>
          <a:p>
            <a:pPr algn="ctr" indent="0" marL="0">
              <a:buNone/>
            </a:pPr>
            <a:r>
              <a:rPr lang="en-US" sz="1000" b="1" dirty="0">
                <a:solidFill>
                  <a:srgbClr val="FFFFFF"/>
                </a:solidFill>
              </a:rPr>
              <a:t>Approved</a:t>
            </a:r>
            <a:endParaRPr lang="en-US" sz="1000" dirty="0"/>
          </a:p>
          <a:p>
            <a:pPr algn="ctr" indent="0" marL="0">
              <a:buNone/>
            </a:pPr>
            <a:r>
              <a:rPr lang="en-US" sz="1000" b="1" dirty="0">
                <a:solidFill>
                  <a:srgbClr val="FFFFFF"/>
                </a:solidFill>
              </a:rPr>
              <a:t>ECEC Centre</a:t>
            </a:r>
            <a:endParaRPr lang="en-US" sz="1000" dirty="0"/>
          </a:p>
        </p:txBody>
      </p:sp>
      <p:sp>
        <p:nvSpPr>
          <p:cNvPr id="17" name="Shape 15"/>
          <p:cNvSpPr/>
          <p:nvPr/>
        </p:nvSpPr>
        <p:spPr>
          <a:xfrm>
            <a:off x="6601968" y="3886200"/>
            <a:ext cx="512064" cy="0"/>
          </a:xfrm>
          <a:prstGeom prst="line">
            <a:avLst/>
          </a:prstGeom>
          <a:noFill/>
          <a:ln w="19050">
            <a:solidFill>
              <a:srgbClr val="64748B"/>
            </a:solidFill>
            <a:prstDash val="solid"/>
          </a:ln>
        </p:spPr>
      </p:sp>
      <p:sp>
        <p:nvSpPr>
          <p:cNvPr id="18" name="Text 16"/>
          <p:cNvSpPr/>
          <p:nvPr/>
        </p:nvSpPr>
        <p:spPr>
          <a:xfrm>
            <a:off x="6629400" y="3749040"/>
            <a:ext cx="45720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9" name="Shape 17"/>
          <p:cNvSpPr/>
          <p:nvPr/>
        </p:nvSpPr>
        <p:spPr>
          <a:xfrm>
            <a:off x="6766560" y="3474720"/>
            <a:ext cx="1920240" cy="822960"/>
          </a:xfrm>
          <a:prstGeom prst="roundRect">
            <a:avLst>
              <a:gd name="adj" fmla="val 8889"/>
            </a:avLst>
          </a:prstGeom>
          <a:solidFill>
            <a:srgbClr val="27AE60"/>
          </a:solidFill>
          <a:ln/>
        </p:spPr>
      </p:sp>
      <p:sp>
        <p:nvSpPr>
          <p:cNvPr id="20" name="Text 18"/>
          <p:cNvSpPr/>
          <p:nvPr/>
        </p:nvSpPr>
        <p:spPr>
          <a:xfrm>
            <a:off x="6766560" y="3474720"/>
            <a:ext cx="1920240" cy="822960"/>
          </a:xfrm>
          <a:prstGeom prst="rect">
            <a:avLst/>
          </a:prstGeom>
          <a:noFill/>
          <a:ln/>
        </p:spPr>
        <p:txBody>
          <a:bodyPr wrap="square" lIns="0" tIns="0" rIns="0" bIns="0" rtlCol="0" anchor="ctr"/>
          <a:lstStyle/>
          <a:p>
            <a:pPr algn="ctr" indent="0" marL="0">
              <a:buNone/>
            </a:pPr>
            <a:r>
              <a:rPr lang="en-US" sz="1000" b="1" dirty="0">
                <a:solidFill>
                  <a:srgbClr val="FFFFFF"/>
                </a:solidFill>
              </a:rPr>
              <a:t>Eligible</a:t>
            </a:r>
            <a:endParaRPr lang="en-US" sz="1000" dirty="0"/>
          </a:p>
          <a:p>
            <a:pPr algn="ctr" indent="0" marL="0">
              <a:buNone/>
            </a:pPr>
            <a:r>
              <a:rPr lang="en-US" sz="1000" b="1" dirty="0">
                <a:solidFill>
                  <a:srgbClr val="FFFFFF"/>
                </a:solidFill>
              </a:rPr>
              <a:t>Educator</a:t>
            </a:r>
            <a:endParaRPr lang="en-US" sz="1000" dirty="0"/>
          </a:p>
        </p:txBody>
      </p:sp>
      <p:sp>
        <p:nvSpPr>
          <p:cNvPr id="21" name="Text 19"/>
          <p:cNvSpPr/>
          <p:nvPr/>
        </p:nvSpPr>
        <p:spPr>
          <a:xfrm>
            <a:off x="457200" y="4434840"/>
            <a:ext cx="8229600" cy="274320"/>
          </a:xfrm>
          <a:prstGeom prst="rect">
            <a:avLst/>
          </a:prstGeom>
          <a:noFill/>
          <a:ln/>
        </p:spPr>
        <p:txBody>
          <a:bodyPr wrap="square" lIns="0" tIns="0" rIns="0" bIns="0" rtlCol="0" anchor="ctr"/>
          <a:lstStyle/>
          <a:p>
            <a:pPr algn="ctr" indent="0" marL="0">
              <a:buNone/>
            </a:pPr>
            <a:r>
              <a:rPr lang="en-US" sz="900" i="1" dirty="0">
                <a:solidFill>
                  <a:srgbClr val="64748B"/>
                </a:solidFill>
              </a:rPr>
              <a:t>Grant flows to centres → centres pass increase to educators</a:t>
            </a:r>
            <a:endParaRPr lang="en-US" sz="900" dirty="0"/>
          </a:p>
        </p:txBody>
      </p:sp>
      <p:sp>
        <p:nvSpPr>
          <p:cNvPr id="22" name="Shape 20"/>
          <p:cNvSpPr/>
          <p:nvPr/>
        </p:nvSpPr>
        <p:spPr>
          <a:xfrm>
            <a:off x="8778240" y="1371600"/>
            <a:ext cx="3017520" cy="1828800"/>
          </a:xfrm>
          <a:prstGeom prst="roundRect">
            <a:avLst>
              <a:gd name="adj" fmla="val 5000"/>
            </a:avLst>
          </a:prstGeom>
          <a:solidFill>
            <a:srgbClr val="FFF5F5"/>
          </a:solidFill>
          <a:ln/>
          <a:effectLst>
            <a:outerShdw sx="100000" sy="100000" kx="0" ky="0" algn="bl" rotWithShape="0" blurRad="101600" dist="25400" dir="2700000">
              <a:srgbClr val="000000">
                <a:alpha val="8000"/>
              </a:srgbClr>
            </a:outerShdw>
          </a:effectLst>
        </p:spPr>
      </p:sp>
      <p:sp>
        <p:nvSpPr>
          <p:cNvPr id="23" name="Text 21"/>
          <p:cNvSpPr/>
          <p:nvPr/>
        </p:nvSpPr>
        <p:spPr>
          <a:xfrm>
            <a:off x="8869680" y="1463040"/>
            <a:ext cx="2834640" cy="292608"/>
          </a:xfrm>
          <a:prstGeom prst="rect">
            <a:avLst/>
          </a:prstGeom>
          <a:noFill/>
          <a:ln/>
        </p:spPr>
        <p:txBody>
          <a:bodyPr wrap="square" lIns="0" tIns="0" rIns="0" bIns="0" rtlCol="0" anchor="ctr"/>
          <a:lstStyle/>
          <a:p>
            <a:pPr indent="0" marL="0">
              <a:buNone/>
            </a:pPr>
            <a:r>
              <a:rPr lang="en-US" sz="1000" b="1" dirty="0">
                <a:solidFill>
                  <a:srgbClr val="E14B4B"/>
                </a:solidFill>
              </a:rPr>
              <a:t>TalentNow CONNECT</a:t>
            </a:r>
            <a:endParaRPr lang="en-US" sz="1000" dirty="0"/>
          </a:p>
        </p:txBody>
      </p:sp>
      <p:sp>
        <p:nvSpPr>
          <p:cNvPr id="24" name="Text 22"/>
          <p:cNvSpPr/>
          <p:nvPr/>
        </p:nvSpPr>
        <p:spPr>
          <a:xfrm>
            <a:off x="8869680" y="1783080"/>
            <a:ext cx="2834640" cy="1325880"/>
          </a:xfrm>
          <a:prstGeom prst="rect">
            <a:avLst/>
          </a:prstGeom>
          <a:noFill/>
          <a:ln/>
        </p:spPr>
        <p:txBody>
          <a:bodyPr wrap="square" lIns="0" tIns="0" rIns="0" bIns="0" rtlCol="0" anchor="ctr"/>
          <a:lstStyle/>
          <a:p>
            <a:pPr indent="0" marL="0">
              <a:buNone/>
            </a:pPr>
            <a:r>
              <a:rPr lang="en-US" sz="1000" dirty="0">
                <a:solidFill>
                  <a:srgbClr val="334155"/>
                </a:solidFill>
              </a:rPr>
              <a:t>Educators employed BY the centre → WRP flows directly from centre's own grant → educators get full WRP automatically. Centre pays educator directly.</a:t>
            </a:r>
            <a:endParaRPr lang="en-US" sz="1000" dirty="0"/>
          </a:p>
        </p:txBody>
      </p:sp>
      <p:sp>
        <p:nvSpPr>
          <p:cNvPr id="25" name="Shape 23"/>
          <p:cNvSpPr/>
          <p:nvPr/>
        </p:nvSpPr>
        <p:spPr>
          <a:xfrm>
            <a:off x="8778240" y="3337560"/>
            <a:ext cx="3017520" cy="1828800"/>
          </a:xfrm>
          <a:prstGeom prst="roundRect">
            <a:avLst>
              <a:gd name="adj" fmla="val 5000"/>
            </a:avLst>
          </a:prstGeom>
          <a:solidFill>
            <a:srgbClr val="F0FFF4"/>
          </a:solidFill>
          <a:ln/>
          <a:effectLst>
            <a:outerShdw sx="100000" sy="100000" kx="0" ky="0" algn="bl" rotWithShape="0" blurRad="101600" dist="25400" dir="2700000">
              <a:srgbClr val="000000">
                <a:alpha val="8000"/>
              </a:srgbClr>
            </a:outerShdw>
          </a:effectLst>
        </p:spPr>
      </p:sp>
      <p:sp>
        <p:nvSpPr>
          <p:cNvPr id="26" name="Text 24"/>
          <p:cNvSpPr/>
          <p:nvPr/>
        </p:nvSpPr>
        <p:spPr>
          <a:xfrm>
            <a:off x="8869680" y="3429000"/>
            <a:ext cx="2834640" cy="292608"/>
          </a:xfrm>
          <a:prstGeom prst="rect">
            <a:avLst/>
          </a:prstGeom>
          <a:noFill/>
          <a:ln/>
        </p:spPr>
        <p:txBody>
          <a:bodyPr wrap="square" lIns="0" tIns="0" rIns="0" bIns="0" rtlCol="0" anchor="ctr"/>
          <a:lstStyle/>
          <a:p>
            <a:pPr indent="0" marL="0">
              <a:buNone/>
            </a:pPr>
            <a:r>
              <a:rPr lang="en-US" sz="1000" b="1" dirty="0">
                <a:solidFill>
                  <a:srgbClr val="27AE60"/>
                </a:solidFill>
              </a:rPr>
              <a:t>Raw Talent (Agency Model)</a:t>
            </a:r>
            <a:endParaRPr lang="en-US" sz="1000" dirty="0"/>
          </a:p>
        </p:txBody>
      </p:sp>
      <p:sp>
        <p:nvSpPr>
          <p:cNvPr id="27" name="Text 25"/>
          <p:cNvSpPr/>
          <p:nvPr/>
        </p:nvSpPr>
        <p:spPr>
          <a:xfrm>
            <a:off x="8869680" y="3749040"/>
            <a:ext cx="2834640" cy="1325880"/>
          </a:xfrm>
          <a:prstGeom prst="rect">
            <a:avLst/>
          </a:prstGeom>
          <a:noFill/>
          <a:ln/>
        </p:spPr>
        <p:txBody>
          <a:bodyPr wrap="square" lIns="0" tIns="0" rIns="0" bIns="0" rtlCol="0" anchor="ctr"/>
          <a:lstStyle/>
          <a:p>
            <a:pPr indent="0" marL="0">
              <a:buNone/>
            </a:pPr>
            <a:r>
              <a:rPr lang="en-US" sz="1000" dirty="0">
                <a:solidFill>
                  <a:srgbClr val="334155"/>
                </a:solidFill>
              </a:rPr>
              <a:t>RT employs educator → WRP toggle available for WRP-enrolled Edge SA centres. Joy to confirm RT's WRP enrolment status with Liam and activate toggle for eligible centres.</a:t>
            </a:r>
            <a:endParaRPr lang="en-US" sz="1000" dirty="0"/>
          </a:p>
        </p:txBody>
      </p:sp>
      <p:sp>
        <p:nvSpPr>
          <p:cNvPr id="28" name="Text 26"/>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Sources: ACA Worker Retention Payment Support Service (aca-worker-retention-payment.org.au) | Department of Education WRP program | ACA WRP Wage Calculator | TheSector.com.au (Feb 2025) | WRP applications close 30 September 2026 | WRP runs until 30 November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E14B4B"/>
          </a:solidFill>
          <a:ln w="12700">
            <a:solidFill>
              <a:srgbClr val="E14B4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COMPLIANCE 2026</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Australian ECEC Regulatory Changes — What Agencies Must Track</a:t>
            </a:r>
            <a:endParaRPr lang="en-US" sz="3000" dirty="0"/>
          </a:p>
        </p:txBody>
      </p:sp>
      <p:sp>
        <p:nvSpPr>
          <p:cNvPr id="5" name="Shape 3"/>
          <p:cNvSpPr/>
          <p:nvPr/>
        </p:nvSpPr>
        <p:spPr>
          <a:xfrm>
            <a:off x="457200" y="1463040"/>
            <a:ext cx="5577840" cy="1508760"/>
          </a:xfrm>
          <a:prstGeom prst="roundRect">
            <a:avLst>
              <a:gd name="adj" fmla="val 6061"/>
            </a:avLst>
          </a:prstGeom>
          <a:solidFill>
            <a:srgbClr val="F7F8FD"/>
          </a:solidFill>
          <a:ln/>
          <a:effectLst>
            <a:outerShdw sx="100000" sy="100000" kx="0" ky="0" algn="bl" rotWithShape="0" blurRad="101600" dist="25400" dir="2700000">
              <a:srgbClr val="000000">
                <a:alpha val="8000"/>
              </a:srgbClr>
            </a:outerShdw>
          </a:effectLst>
        </p:spPr>
      </p:sp>
      <p:sp>
        <p:nvSpPr>
          <p:cNvPr id="6" name="Shape 4"/>
          <p:cNvSpPr/>
          <p:nvPr/>
        </p:nvSpPr>
        <p:spPr>
          <a:xfrm>
            <a:off x="566928" y="1572768"/>
            <a:ext cx="1005840" cy="292608"/>
          </a:xfrm>
          <a:prstGeom prst="roundRect">
            <a:avLst>
              <a:gd name="adj" fmla="val 18750"/>
            </a:avLst>
          </a:prstGeom>
          <a:solidFill>
            <a:srgbClr val="E14B4B"/>
          </a:solidFill>
          <a:ln/>
        </p:spPr>
      </p:sp>
      <p:sp>
        <p:nvSpPr>
          <p:cNvPr id="7" name="Text 5"/>
          <p:cNvSpPr/>
          <p:nvPr/>
        </p:nvSpPr>
        <p:spPr>
          <a:xfrm>
            <a:off x="566928" y="1572768"/>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URGENT</a:t>
            </a:r>
            <a:endParaRPr lang="en-US" sz="750" dirty="0"/>
          </a:p>
        </p:txBody>
      </p:sp>
      <p:sp>
        <p:nvSpPr>
          <p:cNvPr id="8" name="Text 6"/>
          <p:cNvSpPr/>
          <p:nvPr/>
        </p:nvSpPr>
        <p:spPr>
          <a:xfrm>
            <a:off x="1691640" y="1600200"/>
            <a:ext cx="4206240" cy="256032"/>
          </a:xfrm>
          <a:prstGeom prst="rect">
            <a:avLst/>
          </a:prstGeom>
          <a:noFill/>
          <a:ln/>
        </p:spPr>
        <p:txBody>
          <a:bodyPr wrap="square" lIns="0" tIns="0" rIns="0" bIns="0" rtlCol="0" anchor="ctr"/>
          <a:lstStyle/>
          <a:p>
            <a:pPr indent="0" marL="0">
              <a:buNone/>
            </a:pPr>
            <a:r>
              <a:rPr lang="en-US" sz="900" b="1" dirty="0">
                <a:solidFill>
                  <a:srgbClr val="E14B4B"/>
                </a:solidFill>
              </a:rPr>
              <a:t>Late August 2026</a:t>
            </a:r>
            <a:endParaRPr lang="en-US" sz="900" dirty="0"/>
          </a:p>
        </p:txBody>
      </p:sp>
      <p:sp>
        <p:nvSpPr>
          <p:cNvPr id="9" name="Text 7"/>
          <p:cNvSpPr/>
          <p:nvPr/>
        </p:nvSpPr>
        <p:spPr>
          <a:xfrm>
            <a:off x="594360" y="1901952"/>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National Child Safety Training</a:t>
            </a:r>
            <a:endParaRPr lang="en-US" sz="1100" dirty="0"/>
          </a:p>
        </p:txBody>
      </p:sp>
      <p:sp>
        <p:nvSpPr>
          <p:cNvPr id="10" name="Text 8"/>
          <p:cNvSpPr/>
          <p:nvPr/>
        </p:nvSpPr>
        <p:spPr>
          <a:xfrm>
            <a:off x="594360" y="2176272"/>
            <a:ext cx="5303520" cy="713232"/>
          </a:xfrm>
          <a:prstGeom prst="rect">
            <a:avLst/>
          </a:prstGeom>
          <a:noFill/>
          <a:ln/>
        </p:spPr>
        <p:txBody>
          <a:bodyPr wrap="square" lIns="0" tIns="0" rIns="0" bIns="0" rtlCol="0" anchor="ctr"/>
          <a:lstStyle/>
          <a:p>
            <a:pPr indent="0" marL="0">
              <a:buNone/>
            </a:pPr>
            <a:r>
              <a:rPr lang="en-US" sz="950" dirty="0">
                <a:solidFill>
                  <a:srgbClr val="334155"/>
                </a:solidFill>
              </a:rPr>
              <a:t>Mandatory for ALL ECEC workers, volunteers and students from 27 Feb 2026. Does NOT replace SA state Child Protection training or RAN Training. Approved providers face risk if educators are not compliant.</a:t>
            </a:r>
            <a:endParaRPr lang="en-US" sz="950" dirty="0"/>
          </a:p>
        </p:txBody>
      </p:sp>
      <p:sp>
        <p:nvSpPr>
          <p:cNvPr id="11" name="Shape 9"/>
          <p:cNvSpPr/>
          <p:nvPr/>
        </p:nvSpPr>
        <p:spPr>
          <a:xfrm>
            <a:off x="6309360" y="1463040"/>
            <a:ext cx="5577840" cy="1508760"/>
          </a:xfrm>
          <a:prstGeom prst="roundRect">
            <a:avLst>
              <a:gd name="adj" fmla="val 6061"/>
            </a:avLst>
          </a:prstGeom>
          <a:solidFill>
            <a:srgbClr val="F7F8FD"/>
          </a:solidFill>
          <a:ln/>
          <a:effectLst>
            <a:outerShdw sx="100000" sy="100000" kx="0" ky="0" algn="bl" rotWithShape="0" blurRad="101600" dist="25400" dir="2700000">
              <a:srgbClr val="000000">
                <a:alpha val="8000"/>
              </a:srgbClr>
            </a:outerShdw>
          </a:effectLst>
        </p:spPr>
      </p:sp>
      <p:sp>
        <p:nvSpPr>
          <p:cNvPr id="12" name="Shape 10"/>
          <p:cNvSpPr/>
          <p:nvPr/>
        </p:nvSpPr>
        <p:spPr>
          <a:xfrm>
            <a:off x="6419088" y="1572768"/>
            <a:ext cx="1005840" cy="292608"/>
          </a:xfrm>
          <a:prstGeom prst="roundRect">
            <a:avLst>
              <a:gd name="adj" fmla="val 18750"/>
            </a:avLst>
          </a:prstGeom>
          <a:solidFill>
            <a:srgbClr val="E14B4B"/>
          </a:solidFill>
          <a:ln/>
        </p:spPr>
      </p:sp>
      <p:sp>
        <p:nvSpPr>
          <p:cNvPr id="13" name="Text 11"/>
          <p:cNvSpPr/>
          <p:nvPr/>
        </p:nvSpPr>
        <p:spPr>
          <a:xfrm>
            <a:off x="6419088" y="1572768"/>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URGENT</a:t>
            </a:r>
            <a:endParaRPr lang="en-US" sz="750" dirty="0"/>
          </a:p>
        </p:txBody>
      </p:sp>
      <p:sp>
        <p:nvSpPr>
          <p:cNvPr id="14" name="Text 12"/>
          <p:cNvSpPr/>
          <p:nvPr/>
        </p:nvSpPr>
        <p:spPr>
          <a:xfrm>
            <a:off x="7543800" y="1600200"/>
            <a:ext cx="4206240" cy="256032"/>
          </a:xfrm>
          <a:prstGeom prst="rect">
            <a:avLst/>
          </a:prstGeom>
          <a:noFill/>
          <a:ln/>
        </p:spPr>
        <p:txBody>
          <a:bodyPr wrap="square" lIns="0" tIns="0" rIns="0" bIns="0" rtlCol="0" anchor="ctr"/>
          <a:lstStyle/>
          <a:p>
            <a:pPr indent="0" marL="0">
              <a:buNone/>
            </a:pPr>
            <a:r>
              <a:rPr lang="en-US" sz="900" b="1" dirty="0">
                <a:solidFill>
                  <a:srgbClr val="E14B4B"/>
                </a:solidFill>
              </a:rPr>
              <a:t>Late March 2026</a:t>
            </a:r>
            <a:endParaRPr lang="en-US" sz="900" dirty="0"/>
          </a:p>
        </p:txBody>
      </p:sp>
      <p:sp>
        <p:nvSpPr>
          <p:cNvPr id="15" name="Text 13"/>
          <p:cNvSpPr/>
          <p:nvPr/>
        </p:nvSpPr>
        <p:spPr>
          <a:xfrm>
            <a:off x="6446520" y="1901952"/>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National Early Childhood Worker Register</a:t>
            </a:r>
            <a:endParaRPr lang="en-US" sz="1100" dirty="0"/>
          </a:p>
        </p:txBody>
      </p:sp>
      <p:sp>
        <p:nvSpPr>
          <p:cNvPr id="16" name="Text 14"/>
          <p:cNvSpPr/>
          <p:nvPr/>
        </p:nvSpPr>
        <p:spPr>
          <a:xfrm>
            <a:off x="6446520" y="2176272"/>
            <a:ext cx="5303520" cy="713232"/>
          </a:xfrm>
          <a:prstGeom prst="rect">
            <a:avLst/>
          </a:prstGeom>
          <a:noFill/>
          <a:ln/>
        </p:spPr>
        <p:txBody>
          <a:bodyPr wrap="square" lIns="0" tIns="0" rIns="0" bIns="0" rtlCol="0" anchor="ctr"/>
          <a:lstStyle/>
          <a:p>
            <a:pPr indent="0" marL="0">
              <a:buNone/>
            </a:pPr>
            <a:r>
              <a:rPr lang="en-US" sz="950" dirty="0">
                <a:solidFill>
                  <a:srgbClr val="334155"/>
                </a:solidFill>
              </a:rPr>
              <a:t>Approved providers must enter all workforce information into the new national register. RT must confirm this is in place for all SA educators.</a:t>
            </a:r>
            <a:endParaRPr lang="en-US" sz="950" dirty="0"/>
          </a:p>
        </p:txBody>
      </p:sp>
      <p:sp>
        <p:nvSpPr>
          <p:cNvPr id="17" name="Shape 15"/>
          <p:cNvSpPr/>
          <p:nvPr/>
        </p:nvSpPr>
        <p:spPr>
          <a:xfrm>
            <a:off x="457200" y="3090672"/>
            <a:ext cx="5577840" cy="1508760"/>
          </a:xfrm>
          <a:prstGeom prst="roundRect">
            <a:avLst>
              <a:gd name="adj" fmla="val 6061"/>
            </a:avLst>
          </a:prstGeom>
          <a:solidFill>
            <a:srgbClr val="F7F8FD"/>
          </a:solidFill>
          <a:ln/>
          <a:effectLst>
            <a:outerShdw sx="100000" sy="100000" kx="0" ky="0" algn="bl" rotWithShape="0" blurRad="101600" dist="25400" dir="2700000">
              <a:srgbClr val="000000">
                <a:alpha val="8000"/>
              </a:srgbClr>
            </a:outerShdw>
          </a:effectLst>
        </p:spPr>
      </p:sp>
      <p:sp>
        <p:nvSpPr>
          <p:cNvPr id="18" name="Shape 16"/>
          <p:cNvSpPr/>
          <p:nvPr/>
        </p:nvSpPr>
        <p:spPr>
          <a:xfrm>
            <a:off x="566928" y="3200400"/>
            <a:ext cx="1005840" cy="292608"/>
          </a:xfrm>
          <a:prstGeom prst="roundRect">
            <a:avLst>
              <a:gd name="adj" fmla="val 18750"/>
            </a:avLst>
          </a:prstGeom>
          <a:solidFill>
            <a:srgbClr val="F2A93B"/>
          </a:solidFill>
          <a:ln/>
        </p:spPr>
      </p:sp>
      <p:sp>
        <p:nvSpPr>
          <p:cNvPr id="19" name="Text 17"/>
          <p:cNvSpPr/>
          <p:nvPr/>
        </p:nvSpPr>
        <p:spPr>
          <a:xfrm>
            <a:off x="566928" y="3200400"/>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ACTION</a:t>
            </a:r>
            <a:endParaRPr lang="en-US" sz="750" dirty="0"/>
          </a:p>
        </p:txBody>
      </p:sp>
      <p:sp>
        <p:nvSpPr>
          <p:cNvPr id="20" name="Text 18"/>
          <p:cNvSpPr/>
          <p:nvPr/>
        </p:nvSpPr>
        <p:spPr>
          <a:xfrm>
            <a:off x="1691640" y="3227832"/>
            <a:ext cx="4206240" cy="256032"/>
          </a:xfrm>
          <a:prstGeom prst="rect">
            <a:avLst/>
          </a:prstGeom>
          <a:noFill/>
          <a:ln/>
        </p:spPr>
        <p:txBody>
          <a:bodyPr wrap="square" lIns="0" tIns="0" rIns="0" bIns="0" rtlCol="0" anchor="ctr"/>
          <a:lstStyle/>
          <a:p>
            <a:pPr indent="0" marL="0">
              <a:buNone/>
            </a:pPr>
            <a:r>
              <a:rPr lang="en-US" sz="900" b="1" dirty="0">
                <a:solidFill>
                  <a:srgbClr val="F2A93B"/>
                </a:solidFill>
              </a:rPr>
              <a:t>30 September 2026</a:t>
            </a:r>
            <a:endParaRPr lang="en-US" sz="900" dirty="0"/>
          </a:p>
        </p:txBody>
      </p:sp>
      <p:sp>
        <p:nvSpPr>
          <p:cNvPr id="21" name="Text 19"/>
          <p:cNvSpPr/>
          <p:nvPr/>
        </p:nvSpPr>
        <p:spPr>
          <a:xfrm>
            <a:off x="594360" y="3529584"/>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WRP Application Deadline</a:t>
            </a:r>
            <a:endParaRPr lang="en-US" sz="1100" dirty="0"/>
          </a:p>
        </p:txBody>
      </p:sp>
      <p:sp>
        <p:nvSpPr>
          <p:cNvPr id="22" name="Text 20"/>
          <p:cNvSpPr/>
          <p:nvPr/>
        </p:nvSpPr>
        <p:spPr>
          <a:xfrm>
            <a:off x="594360" y="3803904"/>
            <a:ext cx="5303520" cy="713232"/>
          </a:xfrm>
          <a:prstGeom prst="rect">
            <a:avLst/>
          </a:prstGeom>
          <a:noFill/>
          <a:ln/>
        </p:spPr>
        <p:txBody>
          <a:bodyPr wrap="square" lIns="0" tIns="0" rIns="0" bIns="0" rtlCol="0" anchor="ctr"/>
          <a:lstStyle/>
          <a:p>
            <a:pPr indent="0" marL="0">
              <a:buNone/>
            </a:pPr>
            <a:r>
              <a:rPr lang="en-US" sz="950" dirty="0">
                <a:solidFill>
                  <a:srgbClr val="334155"/>
                </a:solidFill>
              </a:rPr>
              <a:t>Final deadline to apply. Backdating to 2 December 2024 required applications by 30 September 2025. WRP payments run until 30 November 2026, with further increases legislated from December 2026.</a:t>
            </a:r>
            <a:endParaRPr lang="en-US" sz="950" dirty="0"/>
          </a:p>
        </p:txBody>
      </p:sp>
      <p:sp>
        <p:nvSpPr>
          <p:cNvPr id="23" name="Shape 21"/>
          <p:cNvSpPr/>
          <p:nvPr/>
        </p:nvSpPr>
        <p:spPr>
          <a:xfrm>
            <a:off x="6309360" y="3090672"/>
            <a:ext cx="5577840" cy="1508760"/>
          </a:xfrm>
          <a:prstGeom prst="roundRect">
            <a:avLst>
              <a:gd name="adj" fmla="val 6061"/>
            </a:avLst>
          </a:prstGeom>
          <a:solidFill>
            <a:srgbClr val="F7F8FD"/>
          </a:solidFill>
          <a:ln/>
          <a:effectLst>
            <a:outerShdw sx="100000" sy="100000" kx="0" ky="0" algn="bl" rotWithShape="0" blurRad="101600" dist="25400" dir="2700000">
              <a:srgbClr val="000000">
                <a:alpha val="8000"/>
              </a:srgbClr>
            </a:outerShdw>
          </a:effectLst>
        </p:spPr>
      </p:sp>
      <p:sp>
        <p:nvSpPr>
          <p:cNvPr id="24" name="Shape 22"/>
          <p:cNvSpPr/>
          <p:nvPr/>
        </p:nvSpPr>
        <p:spPr>
          <a:xfrm>
            <a:off x="6419088" y="3200400"/>
            <a:ext cx="1005840" cy="292608"/>
          </a:xfrm>
          <a:prstGeom prst="roundRect">
            <a:avLst>
              <a:gd name="adj" fmla="val 18750"/>
            </a:avLst>
          </a:prstGeom>
          <a:solidFill>
            <a:srgbClr val="F2A93B"/>
          </a:solidFill>
          <a:ln/>
        </p:spPr>
      </p:sp>
      <p:sp>
        <p:nvSpPr>
          <p:cNvPr id="25" name="Text 23"/>
          <p:cNvSpPr/>
          <p:nvPr/>
        </p:nvSpPr>
        <p:spPr>
          <a:xfrm>
            <a:off x="6419088" y="3200400"/>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SA SPECIFIC</a:t>
            </a:r>
            <a:endParaRPr lang="en-US" sz="750" dirty="0"/>
          </a:p>
        </p:txBody>
      </p:sp>
      <p:sp>
        <p:nvSpPr>
          <p:cNvPr id="26" name="Text 24"/>
          <p:cNvSpPr/>
          <p:nvPr/>
        </p:nvSpPr>
        <p:spPr>
          <a:xfrm>
            <a:off x="7543800" y="3227832"/>
            <a:ext cx="4206240" cy="256032"/>
          </a:xfrm>
          <a:prstGeom prst="rect">
            <a:avLst/>
          </a:prstGeom>
          <a:noFill/>
          <a:ln/>
        </p:spPr>
        <p:txBody>
          <a:bodyPr wrap="square" lIns="0" tIns="0" rIns="0" bIns="0" rtlCol="0" anchor="ctr"/>
          <a:lstStyle/>
          <a:p>
            <a:pPr indent="0" marL="0">
              <a:buNone/>
            </a:pPr>
            <a:r>
              <a:rPr lang="en-US" sz="900" b="1" dirty="0">
                <a:solidFill>
                  <a:srgbClr val="F2A93B"/>
                </a:solidFill>
              </a:rPr>
              <a:t>Ongoing — check expiry</a:t>
            </a:r>
            <a:endParaRPr lang="en-US" sz="900" dirty="0"/>
          </a:p>
        </p:txBody>
      </p:sp>
      <p:sp>
        <p:nvSpPr>
          <p:cNvPr id="27" name="Text 25"/>
          <p:cNvSpPr/>
          <p:nvPr/>
        </p:nvSpPr>
        <p:spPr>
          <a:xfrm>
            <a:off x="6446520" y="3529584"/>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SA DCSI Screening (SA Only)</a:t>
            </a:r>
            <a:endParaRPr lang="en-US" sz="1100" dirty="0"/>
          </a:p>
        </p:txBody>
      </p:sp>
      <p:sp>
        <p:nvSpPr>
          <p:cNvPr id="28" name="Text 26"/>
          <p:cNvSpPr/>
          <p:nvPr/>
        </p:nvSpPr>
        <p:spPr>
          <a:xfrm>
            <a:off x="6446520" y="3803904"/>
            <a:ext cx="5303520" cy="713232"/>
          </a:xfrm>
          <a:prstGeom prst="rect">
            <a:avLst/>
          </a:prstGeom>
          <a:noFill/>
          <a:ln/>
        </p:spPr>
        <p:txBody>
          <a:bodyPr wrap="square" lIns="0" tIns="0" rIns="0" bIns="0" rtlCol="0" anchor="ctr"/>
          <a:lstStyle/>
          <a:p>
            <a:pPr indent="0" marL="0">
              <a:buNone/>
            </a:pPr>
            <a:r>
              <a:rPr lang="en-US" sz="950" dirty="0">
                <a:solidFill>
                  <a:srgbClr val="334155"/>
                </a:solidFill>
              </a:rPr>
              <a:t>South Australia's Working with Children equivalent. NOT the same as VIC WWCC. Educators cannot work across both SA and VIC without BOTH checks. Raw Talent must track separately.</a:t>
            </a:r>
            <a:endParaRPr lang="en-US" sz="950" dirty="0"/>
          </a:p>
        </p:txBody>
      </p:sp>
      <p:sp>
        <p:nvSpPr>
          <p:cNvPr id="29" name="Shape 27"/>
          <p:cNvSpPr/>
          <p:nvPr/>
        </p:nvSpPr>
        <p:spPr>
          <a:xfrm>
            <a:off x="457200" y="4718304"/>
            <a:ext cx="5577840" cy="1508760"/>
          </a:xfrm>
          <a:prstGeom prst="roundRect">
            <a:avLst>
              <a:gd name="adj" fmla="val 6061"/>
            </a:avLst>
          </a:prstGeom>
          <a:solidFill>
            <a:srgbClr val="F7F8FD"/>
          </a:solidFill>
          <a:ln/>
          <a:effectLst>
            <a:outerShdw sx="100000" sy="100000" kx="0" ky="0" algn="bl" rotWithShape="0" blurRad="101600" dist="25400" dir="2700000">
              <a:srgbClr val="000000">
                <a:alpha val="8000"/>
              </a:srgbClr>
            </a:outerShdw>
          </a:effectLst>
        </p:spPr>
      </p:sp>
      <p:sp>
        <p:nvSpPr>
          <p:cNvPr id="30" name="Shape 28"/>
          <p:cNvSpPr/>
          <p:nvPr/>
        </p:nvSpPr>
        <p:spPr>
          <a:xfrm>
            <a:off x="566928" y="4828032"/>
            <a:ext cx="1005840" cy="292608"/>
          </a:xfrm>
          <a:prstGeom prst="roundRect">
            <a:avLst>
              <a:gd name="adj" fmla="val 18750"/>
            </a:avLst>
          </a:prstGeom>
          <a:solidFill>
            <a:srgbClr val="3A6FF8"/>
          </a:solidFill>
          <a:ln/>
        </p:spPr>
      </p:sp>
      <p:sp>
        <p:nvSpPr>
          <p:cNvPr id="31" name="Text 29"/>
          <p:cNvSpPr/>
          <p:nvPr/>
        </p:nvSpPr>
        <p:spPr>
          <a:xfrm>
            <a:off x="566928" y="4828032"/>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SA SPECIFIC</a:t>
            </a:r>
            <a:endParaRPr lang="en-US" sz="750" dirty="0"/>
          </a:p>
        </p:txBody>
      </p:sp>
      <p:sp>
        <p:nvSpPr>
          <p:cNvPr id="32" name="Text 30"/>
          <p:cNvSpPr/>
          <p:nvPr/>
        </p:nvSpPr>
        <p:spPr>
          <a:xfrm>
            <a:off x="1691640" y="4855464"/>
            <a:ext cx="4206240" cy="256032"/>
          </a:xfrm>
          <a:prstGeom prst="rect">
            <a:avLst/>
          </a:prstGeom>
          <a:noFill/>
          <a:ln/>
        </p:spPr>
        <p:txBody>
          <a:bodyPr wrap="square" lIns="0" tIns="0" rIns="0" bIns="0" rtlCol="0" anchor="ctr"/>
          <a:lstStyle/>
          <a:p>
            <a:pPr indent="0" marL="0">
              <a:buNone/>
            </a:pPr>
            <a:r>
              <a:rPr lang="en-US" sz="900" b="1" dirty="0">
                <a:solidFill>
                  <a:srgbClr val="3A6FF8"/>
                </a:solidFill>
              </a:rPr>
              <a:t>Ongoing — check renewal</a:t>
            </a:r>
            <a:endParaRPr lang="en-US" sz="900" dirty="0"/>
          </a:p>
        </p:txBody>
      </p:sp>
      <p:sp>
        <p:nvSpPr>
          <p:cNvPr id="33" name="Text 31"/>
          <p:cNvSpPr/>
          <p:nvPr/>
        </p:nvSpPr>
        <p:spPr>
          <a:xfrm>
            <a:off x="594360" y="5157216"/>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RAN Training (SA Only)</a:t>
            </a:r>
            <a:endParaRPr lang="en-US" sz="1100" dirty="0"/>
          </a:p>
        </p:txBody>
      </p:sp>
      <p:sp>
        <p:nvSpPr>
          <p:cNvPr id="34" name="Text 32"/>
          <p:cNvSpPr/>
          <p:nvPr/>
        </p:nvSpPr>
        <p:spPr>
          <a:xfrm>
            <a:off x="594360" y="5431536"/>
            <a:ext cx="5303520" cy="713232"/>
          </a:xfrm>
          <a:prstGeom prst="rect">
            <a:avLst/>
          </a:prstGeom>
          <a:noFill/>
          <a:ln/>
        </p:spPr>
        <p:txBody>
          <a:bodyPr wrap="square" lIns="0" tIns="0" rIns="0" bIns="0" rtlCol="0" anchor="ctr"/>
          <a:lstStyle/>
          <a:p>
            <a:pPr indent="0" marL="0">
              <a:buNone/>
            </a:pPr>
            <a:r>
              <a:rPr lang="en-US" sz="950" dirty="0">
                <a:solidFill>
                  <a:srgbClr val="334155"/>
                </a:solidFill>
              </a:rPr>
              <a:t>Responding to Abuse and Neglect — SA legislative requirement separate from national NCS Training. Must be verified for every SA educator before deployment.</a:t>
            </a:r>
            <a:endParaRPr lang="en-US" sz="950" dirty="0"/>
          </a:p>
        </p:txBody>
      </p:sp>
      <p:sp>
        <p:nvSpPr>
          <p:cNvPr id="35" name="Shape 33"/>
          <p:cNvSpPr/>
          <p:nvPr/>
        </p:nvSpPr>
        <p:spPr>
          <a:xfrm>
            <a:off x="6309360" y="4718304"/>
            <a:ext cx="5577840" cy="1508760"/>
          </a:xfrm>
          <a:prstGeom prst="roundRect">
            <a:avLst>
              <a:gd name="adj" fmla="val 6061"/>
            </a:avLst>
          </a:prstGeom>
          <a:solidFill>
            <a:srgbClr val="F7F8FD"/>
          </a:solidFill>
          <a:ln/>
          <a:effectLst>
            <a:outerShdw sx="100000" sy="100000" kx="0" ky="0" algn="bl" rotWithShape="0" blurRad="101600" dist="25400" dir="2700000">
              <a:srgbClr val="000000">
                <a:alpha val="8000"/>
              </a:srgbClr>
            </a:outerShdw>
          </a:effectLst>
        </p:spPr>
      </p:sp>
      <p:sp>
        <p:nvSpPr>
          <p:cNvPr id="36" name="Shape 34"/>
          <p:cNvSpPr/>
          <p:nvPr/>
        </p:nvSpPr>
        <p:spPr>
          <a:xfrm>
            <a:off x="6419088" y="4828032"/>
            <a:ext cx="1005840" cy="292608"/>
          </a:xfrm>
          <a:prstGeom prst="roundRect">
            <a:avLst>
              <a:gd name="adj" fmla="val 18750"/>
            </a:avLst>
          </a:prstGeom>
          <a:solidFill>
            <a:srgbClr val="3A6FF8"/>
          </a:solidFill>
          <a:ln/>
        </p:spPr>
      </p:sp>
      <p:sp>
        <p:nvSpPr>
          <p:cNvPr id="37" name="Text 35"/>
          <p:cNvSpPr/>
          <p:nvPr/>
        </p:nvSpPr>
        <p:spPr>
          <a:xfrm>
            <a:off x="6419088" y="4828032"/>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WAGE REFORM</a:t>
            </a:r>
            <a:endParaRPr lang="en-US" sz="750" dirty="0"/>
          </a:p>
        </p:txBody>
      </p:sp>
      <p:sp>
        <p:nvSpPr>
          <p:cNvPr id="38" name="Text 36"/>
          <p:cNvSpPr/>
          <p:nvPr/>
        </p:nvSpPr>
        <p:spPr>
          <a:xfrm>
            <a:off x="7543800" y="4855464"/>
            <a:ext cx="4206240" cy="256032"/>
          </a:xfrm>
          <a:prstGeom prst="rect">
            <a:avLst/>
          </a:prstGeom>
          <a:noFill/>
          <a:ln/>
        </p:spPr>
        <p:txBody>
          <a:bodyPr wrap="square" lIns="0" tIns="0" rIns="0" bIns="0" rtlCol="0" anchor="ctr"/>
          <a:lstStyle/>
          <a:p>
            <a:pPr indent="0" marL="0">
              <a:buNone/>
            </a:pPr>
            <a:r>
              <a:rPr lang="en-US" sz="900" b="1" dirty="0">
                <a:solidFill>
                  <a:srgbClr val="3A6FF8"/>
                </a:solidFill>
              </a:rPr>
              <a:t>From January 2026 (est.)</a:t>
            </a:r>
            <a:endParaRPr lang="en-US" sz="900" dirty="0"/>
          </a:p>
        </p:txBody>
      </p:sp>
      <p:sp>
        <p:nvSpPr>
          <p:cNvPr id="39" name="Text 37"/>
          <p:cNvSpPr/>
          <p:nvPr/>
        </p:nvSpPr>
        <p:spPr>
          <a:xfrm>
            <a:off x="6446520" y="5157216"/>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FWC Gender Undervaluation Increase</a:t>
            </a:r>
            <a:endParaRPr lang="en-US" sz="1100" dirty="0"/>
          </a:p>
        </p:txBody>
      </p:sp>
      <p:sp>
        <p:nvSpPr>
          <p:cNvPr id="40" name="Text 38"/>
          <p:cNvSpPr/>
          <p:nvPr/>
        </p:nvSpPr>
        <p:spPr>
          <a:xfrm>
            <a:off x="6446520" y="5431536"/>
            <a:ext cx="5303520" cy="713232"/>
          </a:xfrm>
          <a:prstGeom prst="rect">
            <a:avLst/>
          </a:prstGeom>
          <a:noFill/>
          <a:ln/>
        </p:spPr>
        <p:txBody>
          <a:bodyPr wrap="square" lIns="0" tIns="0" rIns="0" bIns="0" rtlCol="0" anchor="ctr"/>
          <a:lstStyle/>
          <a:p>
            <a:pPr indent="0" marL="0">
              <a:buNone/>
            </a:pPr>
            <a:r>
              <a:rPr lang="en-US" sz="950" dirty="0">
                <a:solidFill>
                  <a:srgbClr val="334155"/>
                </a:solidFill>
              </a:rPr>
              <a:t>Fair Work Commission provisional decision: 9–28% uplift for Children's Services Award classifications. Affects charge rates and educator pay calculations for both RT and TalentNow.</a:t>
            </a:r>
            <a:endParaRPr lang="en-US" sz="950" dirty="0"/>
          </a:p>
        </p:txBody>
      </p:sp>
      <p:sp>
        <p:nvSpPr>
          <p:cNvPr id="41" name="Text 39"/>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Sources: ACECQA.gov.au (May 2026) | TalentNow 2026 Reform Update — Child Safety Training | ACA WRP Support Service FAQ | Education and Care Services National Regulations | SA Department for Child Protection (DCSI) | SA Department for Human Services (RAN Training) | FWC Children's Services Award provisional determination 2025</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1E2A3A"/>
          </a:solidFill>
          <a:ln w="12700">
            <a:solidFill>
              <a:srgbClr val="1E2A3A"/>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FEATURE COMPARISON</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Raw Talent vs TalentNow — Head to Head</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560320"/>
                <a:gridCol w="3108960"/>
                <a:gridCol w="3108960"/>
                <a:gridCol w="2468880"/>
              </a:tblGrid>
              <a:tr h="38404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Raw Talent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Advantage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Founded / Experience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2018 — 8 years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2016 — 10 years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7AE60"/>
                          </a:solidFill>
                          <a:latin typeface="Calibri" pitchFamily="34" charset="0"/>
                          <a:ea typeface="Calibri" pitchFamily="34" charset="-122"/>
                          <a:cs typeface="Calibri" pitchFamily="34" charset="-120"/>
                        </a:rPr>
                        <a:t>Raw Talent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Business model</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2 models: Connect + Casual Hire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1 model: Agency only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National reach</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All states and territories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SA and VIC only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SA market depth</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Limited — based in NSW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Strong — Edge partnership</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7AE60"/>
                          </a:solidFill>
                          <a:latin typeface="Calibri" pitchFamily="34" charset="0"/>
                          <a:ea typeface="Calibri" pitchFamily="34" charset="-122"/>
                          <a:cs typeface="Calibri" pitchFamily="34" charset="-120"/>
                        </a:rPr>
                        <a:t>Raw Talent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WRP optimisation</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Connect model built around WRP</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Toggle available, activation pending</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Flat fee option</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$30/shift (Connect model)</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No — agency rate only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Payroll automation</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Employment Hero (centre-side)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Employment Hero via bookkeeper — centres don't manage payroll</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7AE60"/>
                          </a:solidFill>
                          <a:latin typeface="Calibri" pitchFamily="34" charset="0"/>
                          <a:ea typeface="Calibri" pitchFamily="34" charset="-122"/>
                          <a:cs typeface="Calibri" pitchFamily="34" charset="-120"/>
                        </a:rPr>
                        <a:t>Raw Talent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Compliance tracking</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Automated real-time alerts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Manual review process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Personal relationships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Remote, national scale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Liam's SA centre visits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7AE60"/>
                          </a:solidFill>
                          <a:latin typeface="Calibri" pitchFamily="34" charset="0"/>
                          <a:ea typeface="Calibri" pitchFamily="34" charset="-122"/>
                          <a:cs typeface="Calibri" pitchFamily="34" charset="-120"/>
                        </a:rPr>
                        <a:t>Raw Talent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Edge SA partnership</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No known partnership</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CONFIRMED primary agency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7AE60"/>
                          </a:solidFill>
                          <a:latin typeface="Calibri" pitchFamily="34" charset="0"/>
                          <a:ea typeface="Calibri" pitchFamily="34" charset="-122"/>
                          <a:cs typeface="Calibri" pitchFamily="34" charset="-120"/>
                        </a:rPr>
                        <a:t>Raw Talent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Pay rate competitiveness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~$44/hr est. (Casual Hire)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~$42/hr (gap vs Entrée)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6" name="Text 3"/>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Sources: TalentNow.com.au | LinkedIn (Talent Now) | Raw Talent internal data | ABN Register — Raw Talent founded 2016, confirmed by Sophia Arwae June 2026 | Edge SA confirmation June 2026 | Payroll: RT uses Employment Hero via bookkeeper Nancy, confirmed June 2026 | Educator ratings row removed — RT also has this feature (confirmed June 2026)</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E14B4B"/>
          </a:solidFill>
          <a:ln w="12700">
            <a:solidFill>
              <a:srgbClr val="E14B4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COMPETITIVE INTEL</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TalentNow's Online Cost Calculator — A Smart Marketing Edge</a:t>
            </a:r>
            <a:endParaRPr lang="en-US" sz="3000" dirty="0"/>
          </a:p>
        </p:txBody>
      </p:sp>
      <p:sp>
        <p:nvSpPr>
          <p:cNvPr id="5" name="Text 3"/>
          <p:cNvSpPr/>
          <p:nvPr/>
        </p:nvSpPr>
        <p:spPr>
          <a:xfrm>
            <a:off x="457200" y="1417320"/>
            <a:ext cx="5486400" cy="320040"/>
          </a:xfrm>
          <a:prstGeom prst="rect">
            <a:avLst/>
          </a:prstGeom>
          <a:noFill/>
          <a:ln/>
        </p:spPr>
        <p:txBody>
          <a:bodyPr wrap="square" lIns="0" tIns="0" rIns="0" bIns="0" rtlCol="0" anchor="ctr"/>
          <a:lstStyle/>
          <a:p>
            <a:pPr indent="0" marL="0">
              <a:buNone/>
            </a:pPr>
            <a:r>
              <a:rPr lang="en-US" sz="1400" b="1" dirty="0">
                <a:solidFill>
                  <a:srgbClr val="1E2A3A"/>
                </a:solidFill>
              </a:rPr>
              <a:t>What It Is</a:t>
            </a:r>
            <a:endParaRPr lang="en-US" sz="1400" dirty="0"/>
          </a:p>
        </p:txBody>
      </p:sp>
      <p:sp>
        <p:nvSpPr>
          <p:cNvPr id="6" name="Text 4"/>
          <p:cNvSpPr/>
          <p:nvPr/>
        </p:nvSpPr>
        <p:spPr>
          <a:xfrm>
            <a:off x="457200" y="1783080"/>
            <a:ext cx="5486400" cy="1280160"/>
          </a:xfrm>
          <a:prstGeom prst="rect">
            <a:avLst/>
          </a:prstGeom>
          <a:noFill/>
          <a:ln/>
        </p:spPr>
        <p:txBody>
          <a:bodyPr wrap="square" lIns="0" tIns="0" rIns="0" bIns="0" rtlCol="0" anchor="ctr"/>
          <a:lstStyle/>
          <a:p>
            <a:pPr indent="0" marL="0">
              <a:buNone/>
            </a:pPr>
            <a:r>
              <a:rPr lang="en-US" sz="1100" dirty="0">
                <a:solidFill>
                  <a:srgbClr val="334155"/>
                </a:solidFill>
              </a:rPr>
              <a:t>TalentNow has an online savings calculator on their website that allows centre directors to see exactly how much they would save by switching from their current agency to TalentNow. The centre inputs their current agency charge rate, qualification level (Cert III or Diploma), and shift hours — and the calculator instantly shows their potential savings per shift.</a:t>
            </a:r>
            <a:endParaRPr lang="en-US" sz="1100" dirty="0"/>
          </a:p>
        </p:txBody>
      </p:sp>
      <p:sp>
        <p:nvSpPr>
          <p:cNvPr id="7" name="Text 5"/>
          <p:cNvSpPr/>
          <p:nvPr/>
        </p:nvSpPr>
        <p:spPr>
          <a:xfrm>
            <a:off x="457200" y="3154680"/>
            <a:ext cx="5486400" cy="320040"/>
          </a:xfrm>
          <a:prstGeom prst="rect">
            <a:avLst/>
          </a:prstGeom>
          <a:noFill/>
          <a:ln/>
        </p:spPr>
        <p:txBody>
          <a:bodyPr wrap="square" lIns="0" tIns="0" rIns="0" bIns="0" rtlCol="0" anchor="ctr"/>
          <a:lstStyle/>
          <a:p>
            <a:pPr indent="0" marL="0">
              <a:buNone/>
            </a:pPr>
            <a:r>
              <a:rPr lang="en-US" sz="1400" b="1" dirty="0">
                <a:solidFill>
                  <a:srgbClr val="1E2A3A"/>
                </a:solidFill>
              </a:rPr>
              <a:t>How It Works</a:t>
            </a:r>
            <a:endParaRPr lang="en-US" sz="1400" dirty="0"/>
          </a:p>
        </p:txBody>
      </p:sp>
      <p:sp>
        <p:nvSpPr>
          <p:cNvPr id="8" name="Shape 6"/>
          <p:cNvSpPr/>
          <p:nvPr/>
        </p:nvSpPr>
        <p:spPr>
          <a:xfrm>
            <a:off x="457200" y="3566160"/>
            <a:ext cx="438912" cy="438912"/>
          </a:xfrm>
          <a:prstGeom prst="ellipse">
            <a:avLst/>
          </a:prstGeom>
          <a:solidFill>
            <a:srgbClr val="E14B4B"/>
          </a:solidFill>
          <a:ln/>
        </p:spPr>
      </p:sp>
      <p:sp>
        <p:nvSpPr>
          <p:cNvPr id="9" name="Text 7"/>
          <p:cNvSpPr/>
          <p:nvPr/>
        </p:nvSpPr>
        <p:spPr>
          <a:xfrm>
            <a:off x="457200" y="356616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8"/>
          <p:cNvSpPr/>
          <p:nvPr/>
        </p:nvSpPr>
        <p:spPr>
          <a:xfrm>
            <a:off x="1005840" y="3520440"/>
            <a:ext cx="4846320" cy="530352"/>
          </a:xfrm>
          <a:prstGeom prst="rect">
            <a:avLst/>
          </a:prstGeom>
          <a:noFill/>
          <a:ln/>
        </p:spPr>
        <p:txBody>
          <a:bodyPr wrap="square" lIns="0" tIns="0" rIns="0" bIns="0" rtlCol="0" anchor="ctr"/>
          <a:lstStyle/>
          <a:p>
            <a:pPr indent="0" marL="0">
              <a:buNone/>
            </a:pPr>
            <a:r>
              <a:rPr lang="en-US" sz="1100" dirty="0">
                <a:solidFill>
                  <a:srgbClr val="334155"/>
                </a:solidFill>
              </a:rPr>
              <a:t>Centre inputs their current agency hourly charge rate</a:t>
            </a:r>
            <a:endParaRPr lang="en-US" sz="1100" dirty="0"/>
          </a:p>
        </p:txBody>
      </p:sp>
      <p:sp>
        <p:nvSpPr>
          <p:cNvPr id="11" name="Shape 9"/>
          <p:cNvSpPr/>
          <p:nvPr/>
        </p:nvSpPr>
        <p:spPr>
          <a:xfrm>
            <a:off x="457200" y="4160520"/>
            <a:ext cx="438912" cy="438912"/>
          </a:xfrm>
          <a:prstGeom prst="ellipse">
            <a:avLst/>
          </a:prstGeom>
          <a:solidFill>
            <a:srgbClr val="E14B4B"/>
          </a:solidFill>
          <a:ln/>
        </p:spPr>
      </p:sp>
      <p:sp>
        <p:nvSpPr>
          <p:cNvPr id="12" name="Text 10"/>
          <p:cNvSpPr/>
          <p:nvPr/>
        </p:nvSpPr>
        <p:spPr>
          <a:xfrm>
            <a:off x="457200" y="416052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p:nvPr/>
        </p:nvSpPr>
        <p:spPr>
          <a:xfrm>
            <a:off x="1005840" y="4114800"/>
            <a:ext cx="4846320" cy="530352"/>
          </a:xfrm>
          <a:prstGeom prst="rect">
            <a:avLst/>
          </a:prstGeom>
          <a:noFill/>
          <a:ln/>
        </p:spPr>
        <p:txBody>
          <a:bodyPr wrap="square" lIns="0" tIns="0" rIns="0" bIns="0" rtlCol="0" anchor="ctr"/>
          <a:lstStyle/>
          <a:p>
            <a:pPr indent="0" marL="0">
              <a:buNone/>
            </a:pPr>
            <a:r>
              <a:rPr lang="en-US" sz="1100" dirty="0">
                <a:solidFill>
                  <a:srgbClr val="334155"/>
                </a:solidFill>
              </a:rPr>
              <a:t>Selects qualification level: Cert III or Diploma</a:t>
            </a:r>
            <a:endParaRPr lang="en-US" sz="1100" dirty="0"/>
          </a:p>
        </p:txBody>
      </p:sp>
      <p:sp>
        <p:nvSpPr>
          <p:cNvPr id="14" name="Shape 12"/>
          <p:cNvSpPr/>
          <p:nvPr/>
        </p:nvSpPr>
        <p:spPr>
          <a:xfrm>
            <a:off x="457200" y="4754880"/>
            <a:ext cx="438912" cy="438912"/>
          </a:xfrm>
          <a:prstGeom prst="ellipse">
            <a:avLst/>
          </a:prstGeom>
          <a:solidFill>
            <a:srgbClr val="E14B4B"/>
          </a:solidFill>
          <a:ln/>
        </p:spPr>
      </p:sp>
      <p:sp>
        <p:nvSpPr>
          <p:cNvPr id="15" name="Text 13"/>
          <p:cNvSpPr/>
          <p:nvPr/>
        </p:nvSpPr>
        <p:spPr>
          <a:xfrm>
            <a:off x="457200" y="475488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p:nvPr/>
        </p:nvSpPr>
        <p:spPr>
          <a:xfrm>
            <a:off x="1005840" y="4709160"/>
            <a:ext cx="4846320" cy="530352"/>
          </a:xfrm>
          <a:prstGeom prst="rect">
            <a:avLst/>
          </a:prstGeom>
          <a:noFill/>
          <a:ln/>
        </p:spPr>
        <p:txBody>
          <a:bodyPr wrap="square" lIns="0" tIns="0" rIns="0" bIns="0" rtlCol="0" anchor="ctr"/>
          <a:lstStyle/>
          <a:p>
            <a:pPr indent="0" marL="0">
              <a:buNone/>
            </a:pPr>
            <a:r>
              <a:rPr lang="en-US" sz="1100" dirty="0">
                <a:solidFill>
                  <a:srgbClr val="334155"/>
                </a:solidFill>
              </a:rPr>
              <a:t>Enters number of hours and frequency of shifts</a:t>
            </a:r>
            <a:endParaRPr lang="en-US" sz="1100" dirty="0"/>
          </a:p>
        </p:txBody>
      </p:sp>
      <p:sp>
        <p:nvSpPr>
          <p:cNvPr id="17" name="Shape 15"/>
          <p:cNvSpPr/>
          <p:nvPr/>
        </p:nvSpPr>
        <p:spPr>
          <a:xfrm>
            <a:off x="457200" y="5349240"/>
            <a:ext cx="438912" cy="438912"/>
          </a:xfrm>
          <a:prstGeom prst="ellipse">
            <a:avLst/>
          </a:prstGeom>
          <a:solidFill>
            <a:srgbClr val="E14B4B"/>
          </a:solidFill>
          <a:ln/>
        </p:spPr>
      </p:sp>
      <p:sp>
        <p:nvSpPr>
          <p:cNvPr id="18" name="Text 16"/>
          <p:cNvSpPr/>
          <p:nvPr/>
        </p:nvSpPr>
        <p:spPr>
          <a:xfrm>
            <a:off x="457200" y="534924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9" name="Text 17"/>
          <p:cNvSpPr/>
          <p:nvPr/>
        </p:nvSpPr>
        <p:spPr>
          <a:xfrm>
            <a:off x="1005840" y="5303520"/>
            <a:ext cx="4846320" cy="530352"/>
          </a:xfrm>
          <a:prstGeom prst="rect">
            <a:avLst/>
          </a:prstGeom>
          <a:noFill/>
          <a:ln/>
        </p:spPr>
        <p:txBody>
          <a:bodyPr wrap="square" lIns="0" tIns="0" rIns="0" bIns="0" rtlCol="0" anchor="ctr"/>
          <a:lstStyle/>
          <a:p>
            <a:pPr indent="0" marL="0">
              <a:buNone/>
            </a:pPr>
            <a:r>
              <a:rPr lang="en-US" sz="1100" dirty="0">
                <a:solidFill>
                  <a:srgbClr val="334155"/>
                </a:solidFill>
              </a:rPr>
              <a:t>Calculator shows: "You could save $X per shift by switching to TalentNow"</a:t>
            </a:r>
            <a:endParaRPr lang="en-US" sz="1100" dirty="0"/>
          </a:p>
        </p:txBody>
      </p:sp>
      <p:sp>
        <p:nvSpPr>
          <p:cNvPr id="20" name="Shape 18"/>
          <p:cNvSpPr/>
          <p:nvPr/>
        </p:nvSpPr>
        <p:spPr>
          <a:xfrm>
            <a:off x="6400800" y="1371600"/>
            <a:ext cx="5394960" cy="2377440"/>
          </a:xfrm>
          <a:prstGeom prst="roundRect">
            <a:avLst>
              <a:gd name="adj" fmla="val 3846"/>
            </a:avLst>
          </a:prstGeom>
          <a:solidFill>
            <a:srgbClr val="FFF5F5"/>
          </a:solidFill>
          <a:ln/>
          <a:effectLst>
            <a:outerShdw sx="100000" sy="100000" kx="0" ky="0" algn="bl" rotWithShape="0" blurRad="101600" dist="25400" dir="2700000">
              <a:srgbClr val="000000">
                <a:alpha val="8000"/>
              </a:srgbClr>
            </a:outerShdw>
          </a:effectLst>
        </p:spPr>
      </p:sp>
      <p:sp>
        <p:nvSpPr>
          <p:cNvPr id="21" name="Text 19"/>
          <p:cNvSpPr/>
          <p:nvPr/>
        </p:nvSpPr>
        <p:spPr>
          <a:xfrm>
            <a:off x="6583680" y="1508760"/>
            <a:ext cx="5029200" cy="320040"/>
          </a:xfrm>
          <a:prstGeom prst="rect">
            <a:avLst/>
          </a:prstGeom>
          <a:noFill/>
          <a:ln/>
        </p:spPr>
        <p:txBody>
          <a:bodyPr wrap="square" lIns="0" tIns="0" rIns="0" bIns="0" rtlCol="0" anchor="ctr"/>
          <a:lstStyle/>
          <a:p>
            <a:pPr indent="0" marL="0">
              <a:buNone/>
            </a:pPr>
            <a:r>
              <a:rPr lang="en-US" sz="1200" b="1" dirty="0">
                <a:solidFill>
                  <a:srgbClr val="E14B4B"/>
                </a:solidFill>
              </a:rPr>
              <a:t>Example Output</a:t>
            </a:r>
            <a:endParaRPr lang="en-US" sz="1200" dirty="0"/>
          </a:p>
        </p:txBody>
      </p:sp>
      <p:sp>
        <p:nvSpPr>
          <p:cNvPr id="22" name="Text 20"/>
          <p:cNvSpPr/>
          <p:nvPr/>
        </p:nvSpPr>
        <p:spPr>
          <a:xfrm>
            <a:off x="6583680" y="1874520"/>
            <a:ext cx="5029200" cy="1691640"/>
          </a:xfrm>
          <a:prstGeom prst="rect">
            <a:avLst/>
          </a:prstGeom>
          <a:noFill/>
          <a:ln/>
        </p:spPr>
        <p:txBody>
          <a:bodyPr wrap="square" lIns="0" tIns="0" rIns="0" bIns="0" rtlCol="0" anchor="ctr"/>
          <a:lstStyle/>
          <a:p>
            <a:pPr indent="0" marL="0">
              <a:buNone/>
            </a:pPr>
            <a:r>
              <a:rPr lang="en-US" sz="1100" dirty="0">
                <a:solidFill>
                  <a:srgbClr val="334155"/>
                </a:solidFill>
              </a:rPr>
              <a:t>Based on a standard agency markup of ~$3/hr over educator pay, the calculator shows centres they could save approximately $34 per shift by using TalentNow Connect instead.</a:t>
            </a:r>
            <a:endParaRPr lang="en-US" sz="1100" dirty="0"/>
          </a:p>
          <a:p>
            <a:pPr indent="0" marL="0">
              <a:buNone/>
            </a:pPr>
            <a:endParaRPr lang="en-US" sz="1100" dirty="0"/>
          </a:p>
          <a:p>
            <a:pPr indent="0" marL="0">
              <a:buNone/>
            </a:pPr>
            <a:r>
              <a:rPr lang="en-US" sz="1100" dirty="0">
                <a:solidFill>
                  <a:srgbClr val="334155"/>
                </a:solidFill>
              </a:rPr>
              <a:t>For a centre booking 10 shifts per week, that's ~$340/week or ~$17,000/year in potential savings — a compelling number for any centre director.</a:t>
            </a:r>
            <a:endParaRPr lang="en-US" sz="1100" dirty="0"/>
          </a:p>
        </p:txBody>
      </p:sp>
      <p:sp>
        <p:nvSpPr>
          <p:cNvPr id="23" name="Shape 21"/>
          <p:cNvSpPr/>
          <p:nvPr/>
        </p:nvSpPr>
        <p:spPr>
          <a:xfrm>
            <a:off x="6400800" y="3886200"/>
            <a:ext cx="5394960" cy="2606040"/>
          </a:xfrm>
          <a:prstGeom prst="roundRect">
            <a:avLst>
              <a:gd name="adj" fmla="val 3509"/>
            </a:avLst>
          </a:prstGeom>
          <a:solidFill>
            <a:srgbClr val="F0FFF4"/>
          </a:solidFill>
          <a:ln/>
          <a:effectLst>
            <a:outerShdw sx="100000" sy="100000" kx="0" ky="0" algn="bl" rotWithShape="0" blurRad="101600" dist="25400" dir="2700000">
              <a:srgbClr val="000000">
                <a:alpha val="8000"/>
              </a:srgbClr>
            </a:outerShdw>
          </a:effectLst>
        </p:spPr>
      </p:sp>
      <p:sp>
        <p:nvSpPr>
          <p:cNvPr id="24" name="Text 22"/>
          <p:cNvSpPr/>
          <p:nvPr/>
        </p:nvSpPr>
        <p:spPr>
          <a:xfrm>
            <a:off x="6583680" y="4023360"/>
            <a:ext cx="5029200" cy="320040"/>
          </a:xfrm>
          <a:prstGeom prst="rect">
            <a:avLst/>
          </a:prstGeom>
          <a:noFill/>
          <a:ln/>
        </p:spPr>
        <p:txBody>
          <a:bodyPr wrap="square" lIns="0" tIns="0" rIns="0" bIns="0" rtlCol="0" anchor="ctr"/>
          <a:lstStyle/>
          <a:p>
            <a:pPr indent="0" marL="0">
              <a:buNone/>
            </a:pPr>
            <a:r>
              <a:rPr lang="en-US" sz="1200" b="1" dirty="0">
                <a:solidFill>
                  <a:srgbClr val="27AE60"/>
                </a:solidFill>
              </a:rPr>
              <a:t>Raw Talent's Position</a:t>
            </a:r>
            <a:endParaRPr lang="en-US" sz="1200" dirty="0"/>
          </a:p>
        </p:txBody>
      </p:sp>
      <p:sp>
        <p:nvSpPr>
          <p:cNvPr id="25" name="Text 23"/>
          <p:cNvSpPr/>
          <p:nvPr/>
        </p:nvSpPr>
        <p:spPr>
          <a:xfrm>
            <a:off x="6583680" y="4389120"/>
            <a:ext cx="5029200" cy="1920240"/>
          </a:xfrm>
          <a:prstGeom prst="rect">
            <a:avLst/>
          </a:prstGeom>
          <a:noFill/>
          <a:ln/>
        </p:spPr>
        <p:txBody>
          <a:bodyPr wrap="square" lIns="0" tIns="0" rIns="0" bIns="0" rtlCol="0" anchor="ctr"/>
          <a:lstStyle/>
          <a:p>
            <a:pPr indent="0" marL="0">
              <a:buNone/>
            </a:pPr>
            <a:r>
              <a:rPr lang="en-US" sz="1100" dirty="0">
                <a:solidFill>
                  <a:srgbClr val="334155"/>
                </a:solidFill>
              </a:rPr>
              <a:t>RT currently requires centres to make contact to receive pricing. There is no self-service pricing tool. This gives TalentNow a first-mover marketing advantage — a centre director can evaluate savings from TalentNow in 60 seconds, without speaking to anyone.</a:t>
            </a:r>
            <a:endParaRPr lang="en-US" sz="1100" dirty="0"/>
          </a:p>
          <a:p>
            <a:pPr indent="0" marL="0">
              <a:buNone/>
            </a:pPr>
            <a:endParaRPr lang="en-US" sz="1100" dirty="0"/>
          </a:p>
          <a:p>
            <a:pPr indent="0" marL="0">
              <a:buNone/>
            </a:pPr>
            <a:r>
              <a:rPr lang="en-US" sz="1100" dirty="0">
                <a:solidFill>
                  <a:srgbClr val="334155"/>
                </a:solidFill>
              </a:rPr>
              <a:t>Action required: Assess whether RT should build an equivalent transparent pricing tool or cost comparison calculator for SA centres.</a:t>
            </a:r>
            <a:endParaRPr lang="en-US" sz="1100" dirty="0"/>
          </a:p>
        </p:txBody>
      </p:sp>
      <p:sp>
        <p:nvSpPr>
          <p:cNvPr id="26" name="Text 24"/>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TalentNow.com.au online calculator — observed and documented by Joy Victoria and Sophia Arwae, June 2026 meeting | Savings estimate of ~$3/hr markup based on TalentNow's calculator output vs standard agency rates | Note: exact calculator output varies by centre inputs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E14B4B"/>
          </a:solidFill>
          <a:ln w="12700">
            <a:solidFill>
              <a:srgbClr val="E14B4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COMPETITIVE ANALYSIS</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Where TalentNow Beats Raw Talent — Right Now</a:t>
            </a:r>
            <a:endParaRPr lang="en-US" sz="3000" dirty="0"/>
          </a:p>
        </p:txBody>
      </p:sp>
      <p:sp>
        <p:nvSpPr>
          <p:cNvPr id="5" name="Shape 3"/>
          <p:cNvSpPr/>
          <p:nvPr/>
        </p:nvSpPr>
        <p:spPr>
          <a:xfrm>
            <a:off x="457200" y="1417320"/>
            <a:ext cx="3566160" cy="1874520"/>
          </a:xfrm>
          <a:prstGeom prst="roundRect">
            <a:avLst>
              <a:gd name="adj" fmla="val 4878"/>
            </a:avLst>
          </a:prstGeom>
          <a:solidFill>
            <a:srgbClr val="FFF5F5"/>
          </a:solidFill>
          <a:ln/>
          <a:effectLst>
            <a:outerShdw sx="100000" sy="100000" kx="0" ky="0" algn="bl" rotWithShape="0" blurRad="101600" dist="25400" dir="2700000">
              <a:srgbClr val="000000">
                <a:alpha val="8000"/>
              </a:srgbClr>
            </a:outerShdw>
          </a:effectLst>
        </p:spPr>
      </p:sp>
      <p:sp>
        <p:nvSpPr>
          <p:cNvPr id="6" name="Text 4"/>
          <p:cNvSpPr/>
          <p:nvPr/>
        </p:nvSpPr>
        <p:spPr>
          <a:xfrm>
            <a:off x="621792" y="152704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17043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WRP-Native Connect Model</a:t>
            </a:r>
            <a:endParaRPr lang="en-US" sz="1100" dirty="0"/>
          </a:p>
        </p:txBody>
      </p:sp>
      <p:sp>
        <p:nvSpPr>
          <p:cNvPr id="8" name="Text 6"/>
          <p:cNvSpPr/>
          <p:nvPr/>
        </p:nvSpPr>
        <p:spPr>
          <a:xfrm>
            <a:off x="62179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$30/shift flat fee with centre as employer. Educators get WRP without agency involvement. Unbeatable cost structure for price-sensitive centres.</a:t>
            </a:r>
            <a:endParaRPr lang="en-US" sz="1000" dirty="0"/>
          </a:p>
        </p:txBody>
      </p:sp>
      <p:sp>
        <p:nvSpPr>
          <p:cNvPr id="9" name="Shape 7"/>
          <p:cNvSpPr/>
          <p:nvPr/>
        </p:nvSpPr>
        <p:spPr>
          <a:xfrm>
            <a:off x="4297680" y="1417320"/>
            <a:ext cx="3566160" cy="1874520"/>
          </a:xfrm>
          <a:prstGeom prst="roundRect">
            <a:avLst>
              <a:gd name="adj" fmla="val 4878"/>
            </a:avLst>
          </a:prstGeom>
          <a:solidFill>
            <a:srgbClr val="FFF5F5"/>
          </a:solidFill>
          <a:ln/>
          <a:effectLst>
            <a:outerShdw sx="100000" sy="100000" kx="0" ky="0" algn="bl" rotWithShape="0" blurRad="101600" dist="25400" dir="2700000">
              <a:srgbClr val="000000">
                <a:alpha val="8000"/>
              </a:srgbClr>
            </a:outerShdw>
          </a:effectLst>
        </p:spPr>
      </p:sp>
      <p:sp>
        <p:nvSpPr>
          <p:cNvPr id="10" name="Text 8"/>
          <p:cNvSpPr/>
          <p:nvPr/>
        </p:nvSpPr>
        <p:spPr>
          <a:xfrm>
            <a:off x="4462272" y="152704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501091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8 Years of Technology</a:t>
            </a:r>
            <a:endParaRPr lang="en-US" sz="1100" dirty="0"/>
          </a:p>
        </p:txBody>
      </p:sp>
      <p:sp>
        <p:nvSpPr>
          <p:cNvPr id="12" name="Text 10"/>
          <p:cNvSpPr/>
          <p:nvPr/>
        </p:nvSpPr>
        <p:spPr>
          <a:xfrm>
            <a:off x="446227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Automated compliance tracking, Employment Hero centre-side integration, real-time shift matching. RT has a 4–5 year platform maturity gap to close.</a:t>
            </a:r>
            <a:endParaRPr lang="en-US" sz="1000" dirty="0"/>
          </a:p>
        </p:txBody>
      </p:sp>
      <p:sp>
        <p:nvSpPr>
          <p:cNvPr id="13" name="Shape 11"/>
          <p:cNvSpPr/>
          <p:nvPr/>
        </p:nvSpPr>
        <p:spPr>
          <a:xfrm>
            <a:off x="8138160" y="1417320"/>
            <a:ext cx="3566160" cy="1874520"/>
          </a:xfrm>
          <a:prstGeom prst="roundRect">
            <a:avLst>
              <a:gd name="adj" fmla="val 4878"/>
            </a:avLst>
          </a:prstGeom>
          <a:solidFill>
            <a:srgbClr val="FFF5F5"/>
          </a:solidFill>
          <a:ln/>
          <a:effectLst>
            <a:outerShdw sx="100000" sy="100000" kx="0" ky="0" algn="bl" rotWithShape="0" blurRad="101600" dist="25400" dir="2700000">
              <a:srgbClr val="000000">
                <a:alpha val="8000"/>
              </a:srgbClr>
            </a:outerShdw>
          </a:effectLst>
        </p:spPr>
      </p:sp>
      <p:sp>
        <p:nvSpPr>
          <p:cNvPr id="14" name="Text 12"/>
          <p:cNvSpPr/>
          <p:nvPr/>
        </p:nvSpPr>
        <p:spPr>
          <a:xfrm>
            <a:off x="8302752" y="152704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885139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National Educator Pool</a:t>
            </a:r>
            <a:endParaRPr lang="en-US" sz="1100" dirty="0"/>
          </a:p>
        </p:txBody>
      </p:sp>
      <p:sp>
        <p:nvSpPr>
          <p:cNvPr id="16" name="Text 14"/>
          <p:cNvSpPr/>
          <p:nvPr/>
        </p:nvSpPr>
        <p:spPr>
          <a:xfrm>
            <a:off x="830275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Thousands of screened educators across all states. RT's pool is limited to SA and VIC — a vulnerability if Edge expands interstate.</a:t>
            </a:r>
            <a:endParaRPr lang="en-US" sz="1000" dirty="0"/>
          </a:p>
        </p:txBody>
      </p:sp>
      <p:sp>
        <p:nvSpPr>
          <p:cNvPr id="17" name="Shape 15"/>
          <p:cNvSpPr/>
          <p:nvPr/>
        </p:nvSpPr>
        <p:spPr>
          <a:xfrm>
            <a:off x="457200" y="3429000"/>
            <a:ext cx="3566160" cy="1874520"/>
          </a:xfrm>
          <a:prstGeom prst="roundRect">
            <a:avLst>
              <a:gd name="adj" fmla="val 4878"/>
            </a:avLst>
          </a:prstGeom>
          <a:solidFill>
            <a:srgbClr val="FFF5F5"/>
          </a:solidFill>
          <a:ln/>
          <a:effectLst>
            <a:outerShdw sx="100000" sy="100000" kx="0" ky="0" algn="bl" rotWithShape="0" blurRad="101600" dist="25400" dir="2700000">
              <a:srgbClr val="000000">
                <a:alpha val="8000"/>
              </a:srgbClr>
            </a:outerShdw>
          </a:effectLst>
        </p:spPr>
      </p:sp>
      <p:sp>
        <p:nvSpPr>
          <p:cNvPr id="18" name="Text 16"/>
          <p:cNvSpPr/>
          <p:nvPr/>
        </p:nvSpPr>
        <p:spPr>
          <a:xfrm>
            <a:off x="621792" y="353872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117043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Automated Compliance Tracking</a:t>
            </a:r>
            <a:endParaRPr lang="en-US" sz="1100" dirty="0"/>
          </a:p>
        </p:txBody>
      </p:sp>
      <p:sp>
        <p:nvSpPr>
          <p:cNvPr id="20" name="Text 18"/>
          <p:cNvSpPr/>
          <p:nvPr/>
        </p:nvSpPr>
        <p:spPr>
          <a:xfrm>
            <a:off x="62179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TalentNow tracks document expiry dates in real-time and alerts educators automatically. RT does this manually — creating deployment risk.</a:t>
            </a:r>
            <a:endParaRPr lang="en-US" sz="1000" dirty="0"/>
          </a:p>
        </p:txBody>
      </p:sp>
      <p:sp>
        <p:nvSpPr>
          <p:cNvPr id="21" name="Shape 19"/>
          <p:cNvSpPr/>
          <p:nvPr/>
        </p:nvSpPr>
        <p:spPr>
          <a:xfrm>
            <a:off x="4297680" y="3429000"/>
            <a:ext cx="3566160" cy="1874520"/>
          </a:xfrm>
          <a:prstGeom prst="roundRect">
            <a:avLst>
              <a:gd name="adj" fmla="val 4878"/>
            </a:avLst>
          </a:prstGeom>
          <a:solidFill>
            <a:srgbClr val="FFF5F5"/>
          </a:solidFill>
          <a:ln/>
          <a:effectLst>
            <a:outerShdw sx="100000" sy="100000" kx="0" ky="0" algn="bl" rotWithShape="0" blurRad="101600" dist="25400" dir="2700000">
              <a:srgbClr val="000000">
                <a:alpha val="8000"/>
              </a:srgbClr>
            </a:outerShdw>
          </a:effectLst>
        </p:spPr>
      </p:sp>
      <p:sp>
        <p:nvSpPr>
          <p:cNvPr id="22" name="Text 20"/>
          <p:cNvSpPr/>
          <p:nvPr/>
        </p:nvSpPr>
        <p:spPr>
          <a:xfrm>
            <a:off x="4462272" y="353872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05</a:t>
            </a:r>
            <a:endParaRPr lang="en-US" sz="2200" dirty="0"/>
          </a:p>
        </p:txBody>
      </p:sp>
      <p:sp>
        <p:nvSpPr>
          <p:cNvPr id="23" name="Text 21"/>
          <p:cNvSpPr/>
          <p:nvPr/>
        </p:nvSpPr>
        <p:spPr>
          <a:xfrm>
            <a:off x="501091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Regulatory Thought Leadership</a:t>
            </a:r>
            <a:endParaRPr lang="en-US" sz="1100" dirty="0"/>
          </a:p>
        </p:txBody>
      </p:sp>
      <p:sp>
        <p:nvSpPr>
          <p:cNvPr id="24" name="Text 22"/>
          <p:cNvSpPr/>
          <p:nvPr/>
        </p:nvSpPr>
        <p:spPr>
          <a:xfrm>
            <a:off x="446227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Dedicated NCS Training 2026 guide, WRP wage change explainer published months ahead. RT has no equivalent. Centres see TalentNow as the compliance authority.</a:t>
            </a:r>
            <a:endParaRPr lang="en-US" sz="1000" dirty="0"/>
          </a:p>
        </p:txBody>
      </p:sp>
      <p:sp>
        <p:nvSpPr>
          <p:cNvPr id="25" name="Shape 23"/>
          <p:cNvSpPr/>
          <p:nvPr/>
        </p:nvSpPr>
        <p:spPr>
          <a:xfrm>
            <a:off x="8138160" y="3429000"/>
            <a:ext cx="3566160" cy="1874520"/>
          </a:xfrm>
          <a:prstGeom prst="roundRect">
            <a:avLst>
              <a:gd name="adj" fmla="val 4878"/>
            </a:avLst>
          </a:prstGeom>
          <a:solidFill>
            <a:srgbClr val="FFF5F5"/>
          </a:solidFill>
          <a:ln/>
          <a:effectLst>
            <a:outerShdw sx="100000" sy="100000" kx="0" ky="0" algn="bl" rotWithShape="0" blurRad="101600" dist="25400" dir="2700000">
              <a:srgbClr val="000000">
                <a:alpha val="8000"/>
              </a:srgbClr>
            </a:outerShdw>
          </a:effectLst>
        </p:spPr>
      </p:sp>
      <p:sp>
        <p:nvSpPr>
          <p:cNvPr id="26" name="Text 24"/>
          <p:cNvSpPr/>
          <p:nvPr/>
        </p:nvSpPr>
        <p:spPr>
          <a:xfrm>
            <a:off x="8302752" y="353872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06</a:t>
            </a:r>
            <a:endParaRPr lang="en-US" sz="2200" dirty="0"/>
          </a:p>
        </p:txBody>
      </p:sp>
      <p:sp>
        <p:nvSpPr>
          <p:cNvPr id="27" name="Text 25"/>
          <p:cNvSpPr/>
          <p:nvPr/>
        </p:nvSpPr>
        <p:spPr>
          <a:xfrm>
            <a:off x="885139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Online Pricing Calculator</a:t>
            </a:r>
            <a:endParaRPr lang="en-US" sz="1100" dirty="0"/>
          </a:p>
        </p:txBody>
      </p:sp>
      <p:sp>
        <p:nvSpPr>
          <p:cNvPr id="28" name="Text 26"/>
          <p:cNvSpPr/>
          <p:nvPr/>
        </p:nvSpPr>
        <p:spPr>
          <a:xfrm>
            <a:off x="830275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Centres can calculate savings vs their current agency in 60 seconds. No contact required. RT currently requires centres to enquire for pricing — less transparent.</a:t>
            </a:r>
            <a:endParaRPr lang="en-US" sz="1000" dirty="0"/>
          </a:p>
        </p:txBody>
      </p:sp>
      <p:sp>
        <p:nvSpPr>
          <p:cNvPr id="29" name="Text 27"/>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TalentNow.com.au | TheSector.com.au (Feb 2025) | ACECQA.gov.au | Employment Hero integration (pilot Feb 2025) | TalentNow online calculator observed June 2026 | Joy Victoria competitive analysis, June 2026</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27AE60"/>
          </a:solidFill>
          <a:ln w="12700">
            <a:solidFill>
              <a:srgbClr val="27AE60"/>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COMPETITIVE ANALYSIS</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Where Raw Talent Has the Edge — SA Specific Advantages</a:t>
            </a:r>
            <a:endParaRPr lang="en-US" sz="3000" dirty="0"/>
          </a:p>
        </p:txBody>
      </p:sp>
      <p:sp>
        <p:nvSpPr>
          <p:cNvPr id="5" name="Shape 3"/>
          <p:cNvSpPr/>
          <p:nvPr/>
        </p:nvSpPr>
        <p:spPr>
          <a:xfrm>
            <a:off x="457200" y="1417320"/>
            <a:ext cx="3566160" cy="1874520"/>
          </a:xfrm>
          <a:prstGeom prst="roundRect">
            <a:avLst>
              <a:gd name="adj" fmla="val 4878"/>
            </a:avLst>
          </a:prstGeom>
          <a:solidFill>
            <a:srgbClr val="F0FFF4"/>
          </a:solidFill>
          <a:ln/>
          <a:effectLst>
            <a:outerShdw sx="100000" sy="100000" kx="0" ky="0" algn="bl" rotWithShape="0" blurRad="101600" dist="25400" dir="2700000">
              <a:srgbClr val="000000">
                <a:alpha val="8000"/>
              </a:srgbClr>
            </a:outerShdw>
          </a:effectLst>
        </p:spPr>
      </p:sp>
      <p:sp>
        <p:nvSpPr>
          <p:cNvPr id="6" name="Text 4"/>
          <p:cNvSpPr/>
          <p:nvPr/>
        </p:nvSpPr>
        <p:spPr>
          <a:xfrm>
            <a:off x="621792" y="152704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17043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Edge SA — Confirmed Primary Agency</a:t>
            </a:r>
            <a:endParaRPr lang="en-US" sz="1100" dirty="0"/>
          </a:p>
        </p:txBody>
      </p:sp>
      <p:sp>
        <p:nvSpPr>
          <p:cNvPr id="8" name="Text 6"/>
          <p:cNvSpPr/>
          <p:nvPr/>
        </p:nvSpPr>
        <p:spPr>
          <a:xfrm>
            <a:off x="62179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TalentNow has no known Edge partnership. This is a captive centre base that gives RT guaranteed shift volume in SA. Protect this at all costs.</a:t>
            </a:r>
            <a:endParaRPr lang="en-US" sz="1000" dirty="0"/>
          </a:p>
        </p:txBody>
      </p:sp>
      <p:sp>
        <p:nvSpPr>
          <p:cNvPr id="9" name="Shape 7"/>
          <p:cNvSpPr/>
          <p:nvPr/>
        </p:nvSpPr>
        <p:spPr>
          <a:xfrm>
            <a:off x="4297680" y="1417320"/>
            <a:ext cx="3566160" cy="1874520"/>
          </a:xfrm>
          <a:prstGeom prst="roundRect">
            <a:avLst>
              <a:gd name="adj" fmla="val 4878"/>
            </a:avLst>
          </a:prstGeom>
          <a:solidFill>
            <a:srgbClr val="F0FFF4"/>
          </a:solidFill>
          <a:ln/>
          <a:effectLst>
            <a:outerShdw sx="100000" sy="100000" kx="0" ky="0" algn="bl" rotWithShape="0" blurRad="101600" dist="25400" dir="2700000">
              <a:srgbClr val="000000">
                <a:alpha val="8000"/>
              </a:srgbClr>
            </a:outerShdw>
          </a:effectLst>
        </p:spPr>
      </p:sp>
      <p:sp>
        <p:nvSpPr>
          <p:cNvPr id="10" name="Text 8"/>
          <p:cNvSpPr/>
          <p:nvPr/>
        </p:nvSpPr>
        <p:spPr>
          <a:xfrm>
            <a:off x="4462272" y="152704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501091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10 Years of Industry Experience</a:t>
            </a:r>
            <a:endParaRPr lang="en-US" sz="1100" dirty="0"/>
          </a:p>
        </p:txBody>
      </p:sp>
      <p:sp>
        <p:nvSpPr>
          <p:cNvPr id="12" name="Text 10"/>
          <p:cNvSpPr/>
          <p:nvPr/>
        </p:nvSpPr>
        <p:spPr>
          <a:xfrm>
            <a:off x="446227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Raw Talent was founded in 2016 — 2 years ahead of TalentNow (2018). This gives RT deeper institutional knowledge of the Australian ECEC staffing market.</a:t>
            </a:r>
            <a:endParaRPr lang="en-US" sz="1000" dirty="0"/>
          </a:p>
        </p:txBody>
      </p:sp>
      <p:sp>
        <p:nvSpPr>
          <p:cNvPr id="13" name="Shape 11"/>
          <p:cNvSpPr/>
          <p:nvPr/>
        </p:nvSpPr>
        <p:spPr>
          <a:xfrm>
            <a:off x="8138160" y="1417320"/>
            <a:ext cx="3566160" cy="1874520"/>
          </a:xfrm>
          <a:prstGeom prst="roundRect">
            <a:avLst>
              <a:gd name="adj" fmla="val 4878"/>
            </a:avLst>
          </a:prstGeom>
          <a:solidFill>
            <a:srgbClr val="F0FFF4"/>
          </a:solidFill>
          <a:ln/>
          <a:effectLst>
            <a:outerShdw sx="100000" sy="100000" kx="0" ky="0" algn="bl" rotWithShape="0" blurRad="101600" dist="25400" dir="2700000">
              <a:srgbClr val="000000">
                <a:alpha val="8000"/>
              </a:srgbClr>
            </a:outerShdw>
          </a:effectLst>
        </p:spPr>
      </p:sp>
      <p:sp>
        <p:nvSpPr>
          <p:cNvPr id="14" name="Text 12"/>
          <p:cNvSpPr/>
          <p:nvPr/>
        </p:nvSpPr>
        <p:spPr>
          <a:xfrm>
            <a:off x="8302752" y="152704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885139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SA-Specific Compliance Depth</a:t>
            </a:r>
            <a:endParaRPr lang="en-US" sz="1100" dirty="0"/>
          </a:p>
        </p:txBody>
      </p:sp>
      <p:sp>
        <p:nvSpPr>
          <p:cNvPr id="16" name="Text 14"/>
          <p:cNvSpPr/>
          <p:nvPr/>
        </p:nvSpPr>
        <p:spPr>
          <a:xfrm>
            <a:off x="830275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RT understands DCSI Screening, RAN Training, and SA Child Protection requirements in detail. A national NSW-based platform may apply generic national compliance.</a:t>
            </a:r>
            <a:endParaRPr lang="en-US" sz="1000" dirty="0"/>
          </a:p>
        </p:txBody>
      </p:sp>
      <p:sp>
        <p:nvSpPr>
          <p:cNvPr id="17" name="Shape 15"/>
          <p:cNvSpPr/>
          <p:nvPr/>
        </p:nvSpPr>
        <p:spPr>
          <a:xfrm>
            <a:off x="457200" y="3429000"/>
            <a:ext cx="3566160" cy="1874520"/>
          </a:xfrm>
          <a:prstGeom prst="roundRect">
            <a:avLst>
              <a:gd name="adj" fmla="val 4878"/>
            </a:avLst>
          </a:prstGeom>
          <a:solidFill>
            <a:srgbClr val="F0FFF4"/>
          </a:solidFill>
          <a:ln/>
          <a:effectLst>
            <a:outerShdw sx="100000" sy="100000" kx="0" ky="0" algn="bl" rotWithShape="0" blurRad="101600" dist="25400" dir="2700000">
              <a:srgbClr val="000000">
                <a:alpha val="8000"/>
              </a:srgbClr>
            </a:outerShdw>
          </a:effectLst>
        </p:spPr>
      </p:sp>
      <p:sp>
        <p:nvSpPr>
          <p:cNvPr id="18" name="Text 16"/>
          <p:cNvSpPr/>
          <p:nvPr/>
        </p:nvSpPr>
        <p:spPr>
          <a:xfrm>
            <a:off x="621792" y="353872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117043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Centre Doesn't Manage Payroll</a:t>
            </a:r>
            <a:endParaRPr lang="en-US" sz="1100" dirty="0"/>
          </a:p>
        </p:txBody>
      </p:sp>
      <p:sp>
        <p:nvSpPr>
          <p:cNvPr id="20" name="Text 18"/>
          <p:cNvSpPr/>
          <p:nvPr/>
        </p:nvSpPr>
        <p:spPr>
          <a:xfrm>
            <a:off x="62179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With RT's agency model, centres have zero payroll responsibility. With TalentNow Connect, centres must manage educator payroll (even with Employment Hero). RT wins on admin simplicity for centres.</a:t>
            </a:r>
            <a:endParaRPr lang="en-US" sz="1000" dirty="0"/>
          </a:p>
        </p:txBody>
      </p:sp>
      <p:sp>
        <p:nvSpPr>
          <p:cNvPr id="21" name="Shape 19"/>
          <p:cNvSpPr/>
          <p:nvPr/>
        </p:nvSpPr>
        <p:spPr>
          <a:xfrm>
            <a:off x="4297680" y="3429000"/>
            <a:ext cx="3566160" cy="1874520"/>
          </a:xfrm>
          <a:prstGeom prst="roundRect">
            <a:avLst>
              <a:gd name="adj" fmla="val 4878"/>
            </a:avLst>
          </a:prstGeom>
          <a:solidFill>
            <a:srgbClr val="F0FFF4"/>
          </a:solidFill>
          <a:ln/>
          <a:effectLst>
            <a:outerShdw sx="100000" sy="100000" kx="0" ky="0" algn="bl" rotWithShape="0" blurRad="101600" dist="25400" dir="2700000">
              <a:srgbClr val="000000">
                <a:alpha val="8000"/>
              </a:srgbClr>
            </a:outerShdw>
          </a:effectLst>
        </p:spPr>
      </p:sp>
      <p:sp>
        <p:nvSpPr>
          <p:cNvPr id="22" name="Text 20"/>
          <p:cNvSpPr/>
          <p:nvPr/>
        </p:nvSpPr>
        <p:spPr>
          <a:xfrm>
            <a:off x="4462272" y="353872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05</a:t>
            </a:r>
            <a:endParaRPr lang="en-US" sz="2200" dirty="0"/>
          </a:p>
        </p:txBody>
      </p:sp>
      <p:sp>
        <p:nvSpPr>
          <p:cNvPr id="23" name="Text 21"/>
          <p:cNvSpPr/>
          <p:nvPr/>
        </p:nvSpPr>
        <p:spPr>
          <a:xfrm>
            <a:off x="501091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Educator Appreciation Program</a:t>
            </a:r>
            <a:endParaRPr lang="en-US" sz="1100" dirty="0"/>
          </a:p>
        </p:txBody>
      </p:sp>
      <p:sp>
        <p:nvSpPr>
          <p:cNvPr id="24" name="Text 22"/>
          <p:cNvSpPr/>
          <p:nvPr/>
        </p:nvSpPr>
        <p:spPr>
          <a:xfrm>
            <a:off x="446227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Liam's personal calls, gift cards, and named recognition are human differentiators TalentNow cannot scale from NSW. Educators remember how they are treated.</a:t>
            </a:r>
            <a:endParaRPr lang="en-US" sz="1000" dirty="0"/>
          </a:p>
        </p:txBody>
      </p:sp>
      <p:sp>
        <p:nvSpPr>
          <p:cNvPr id="25" name="Shape 23"/>
          <p:cNvSpPr/>
          <p:nvPr/>
        </p:nvSpPr>
        <p:spPr>
          <a:xfrm>
            <a:off x="8138160" y="3429000"/>
            <a:ext cx="3566160" cy="1874520"/>
          </a:xfrm>
          <a:prstGeom prst="roundRect">
            <a:avLst>
              <a:gd name="adj" fmla="val 4878"/>
            </a:avLst>
          </a:prstGeom>
          <a:solidFill>
            <a:srgbClr val="F0FFF4"/>
          </a:solidFill>
          <a:ln/>
          <a:effectLst>
            <a:outerShdw sx="100000" sy="100000" kx="0" ky="0" algn="bl" rotWithShape="0" blurRad="101600" dist="25400" dir="2700000">
              <a:srgbClr val="000000">
                <a:alpha val="8000"/>
              </a:srgbClr>
            </a:outerShdw>
          </a:effectLst>
        </p:spPr>
      </p:sp>
      <p:sp>
        <p:nvSpPr>
          <p:cNvPr id="26" name="Text 24"/>
          <p:cNvSpPr/>
          <p:nvPr/>
        </p:nvSpPr>
        <p:spPr>
          <a:xfrm>
            <a:off x="8302752" y="353872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06</a:t>
            </a:r>
            <a:endParaRPr lang="en-US" sz="2200" dirty="0"/>
          </a:p>
        </p:txBody>
      </p:sp>
      <p:sp>
        <p:nvSpPr>
          <p:cNvPr id="27" name="Text 25"/>
          <p:cNvSpPr/>
          <p:nvPr/>
        </p:nvSpPr>
        <p:spPr>
          <a:xfrm>
            <a:off x="885139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Educator Ratings Already Live</a:t>
            </a:r>
            <a:endParaRPr lang="en-US" sz="1100" dirty="0"/>
          </a:p>
        </p:txBody>
      </p:sp>
      <p:sp>
        <p:nvSpPr>
          <p:cNvPr id="28" name="Text 26"/>
          <p:cNvSpPr/>
          <p:nvPr/>
        </p:nvSpPr>
        <p:spPr>
          <a:xfrm>
            <a:off x="830275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RT already has a centre-facing educator rating system — confirmed June 2026. This is a feature TalentNow promotes prominently; RT has it but needs to make it more visible to centres.</a:t>
            </a:r>
            <a:endParaRPr lang="en-US" sz="1000" dirty="0"/>
          </a:p>
        </p:txBody>
      </p:sp>
      <p:sp>
        <p:nvSpPr>
          <p:cNvPr id="29" name="Text 27"/>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Raw Talent internal data | ABN Register — Raw Talent founded 2016 (confirmed June 2026) | Edge SA confirmation June 2026 | Educator ratings feature confirmed by Sophia Arwae June 2026 | Payroll admin model confirmed June 2026 | Joy Victoria analysis, June 2026</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F2A93B"/>
          </a:solidFill>
          <a:ln w="12700">
            <a:solidFill>
              <a:srgbClr val="F2A93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GAP ANALYSIS</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Closing the Gap — TalentNow Advantage vs Raw Talent Response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560320"/>
                <a:gridCol w="3840480"/>
                <a:gridCol w="4846320"/>
              </a:tblGrid>
              <a:tr h="65836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TalentNow Advantage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Current Gap for RT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RT Action to Close It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r>
              <a:tr h="658368">
                <a:tc>
                  <a:txBody>
                    <a:bodyPr/>
                    <a:lstStyle/>
                    <a:p>
                      <a:pPr indent="0" marL="0">
                        <a:buNone/>
                      </a:pPr>
                      <a:r>
                        <a:rPr lang="en-US" sz="1050" b="1" dirty="0">
                          <a:solidFill>
                            <a:srgbClr val="E14B4B"/>
                          </a:solidFill>
                          <a:latin typeface="Calibri" pitchFamily="34" charset="0"/>
                          <a:ea typeface="Calibri" pitchFamily="34" charset="-122"/>
                          <a:cs typeface="Calibri" pitchFamily="34" charset="-120"/>
                        </a:rPr>
                        <a:t>WRP-native pricing model</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TN Connect: $30/shift, centres access WRP directly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b="1" dirty="0">
                          <a:solidFill>
                            <a:srgbClr val="27AE60"/>
                          </a:solidFill>
                          <a:latin typeface="Calibri" pitchFamily="34" charset="0"/>
                          <a:ea typeface="Calibri" pitchFamily="34" charset="-122"/>
                          <a:cs typeface="Calibri" pitchFamily="34" charset="-120"/>
                        </a:rPr>
                        <a:t>Activate WRP toggle for all eligible Edge SA centres — closes pay gap immediately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58368">
                <a:tc>
                  <a:txBody>
                    <a:bodyPr/>
                    <a:lstStyle/>
                    <a:p>
                      <a:pPr indent="0" marL="0">
                        <a:buNone/>
                      </a:pPr>
                      <a:r>
                        <a:rPr lang="en-US" sz="1050" b="1" dirty="0">
                          <a:solidFill>
                            <a:srgbClr val="E14B4B"/>
                          </a:solidFill>
                          <a:latin typeface="Calibri" pitchFamily="34" charset="0"/>
                          <a:ea typeface="Calibri" pitchFamily="34" charset="-122"/>
                          <a:cs typeface="Calibri" pitchFamily="34" charset="-120"/>
                        </a:rPr>
                        <a:t>Automated compliance tracking</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Real-time document expiry alerts across educator pool</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b="1" dirty="0">
                          <a:solidFill>
                            <a:srgbClr val="27AE60"/>
                          </a:solidFill>
                          <a:latin typeface="Calibri" pitchFamily="34" charset="0"/>
                          <a:ea typeface="Calibri" pitchFamily="34" charset="-122"/>
                          <a:cs typeface="Calibri" pitchFamily="34" charset="-120"/>
                        </a:rPr>
                        <a:t>Build AI-assisted document review process — reduces manual QA time, improves accuracy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58368">
                <a:tc>
                  <a:txBody>
                    <a:bodyPr/>
                    <a:lstStyle/>
                    <a:p>
                      <a:pPr indent="0" marL="0">
                        <a:buNone/>
                      </a:pPr>
                      <a:r>
                        <a:rPr lang="en-US" sz="1050" b="1" dirty="0">
                          <a:solidFill>
                            <a:srgbClr val="E14B4B"/>
                          </a:solidFill>
                          <a:latin typeface="Calibri" pitchFamily="34" charset="0"/>
                          <a:ea typeface="Calibri" pitchFamily="34" charset="-122"/>
                          <a:cs typeface="Calibri" pitchFamily="34" charset="-120"/>
                        </a:rPr>
                        <a:t>Online pricing calculator</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Centres self-serve savings comparison in 60 seconds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b="1" dirty="0">
                          <a:solidFill>
                            <a:srgbClr val="27AE60"/>
                          </a:solidFill>
                          <a:latin typeface="Calibri" pitchFamily="34" charset="0"/>
                          <a:ea typeface="Calibri" pitchFamily="34" charset="-122"/>
                          <a:cs typeface="Calibri" pitchFamily="34" charset="-120"/>
                        </a:rPr>
                        <a:t>Assess building an equivalent cost transparency tool for SA centres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58368">
                <a:tc>
                  <a:txBody>
                    <a:bodyPr/>
                    <a:lstStyle/>
                    <a:p>
                      <a:pPr indent="0" marL="0">
                        <a:buNone/>
                      </a:pPr>
                      <a:r>
                        <a:rPr lang="en-US" sz="1050" b="1" dirty="0">
                          <a:solidFill>
                            <a:srgbClr val="E14B4B"/>
                          </a:solidFill>
                          <a:latin typeface="Calibri" pitchFamily="34" charset="0"/>
                          <a:ea typeface="Calibri" pitchFamily="34" charset="-122"/>
                          <a:cs typeface="Calibri" pitchFamily="34" charset="-120"/>
                        </a:rPr>
                        <a:t>Technology maturity (8 years)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Faster feature releases, more stable platform</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b="1" dirty="0">
                          <a:solidFill>
                            <a:srgbClr val="27AE60"/>
                          </a:solidFill>
                          <a:latin typeface="Calibri" pitchFamily="34" charset="0"/>
                          <a:ea typeface="Calibri" pitchFamily="34" charset="-122"/>
                          <a:cs typeface="Calibri" pitchFamily="34" charset="-120"/>
                        </a:rPr>
                        <a:t>Prioritise IT backlog with Yuvraj/Prince; scope full feature gap in one meeting</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58368">
                <a:tc>
                  <a:txBody>
                    <a:bodyPr/>
                    <a:lstStyle/>
                    <a:p>
                      <a:pPr indent="0" marL="0">
                        <a:buNone/>
                      </a:pPr>
                      <a:r>
                        <a:rPr lang="en-US" sz="1050" b="1" dirty="0">
                          <a:solidFill>
                            <a:srgbClr val="E14B4B"/>
                          </a:solidFill>
                          <a:latin typeface="Calibri" pitchFamily="34" charset="0"/>
                          <a:ea typeface="Calibri" pitchFamily="34" charset="-122"/>
                          <a:cs typeface="Calibri" pitchFamily="34" charset="-120"/>
                        </a:rPr>
                        <a:t>Regulatory communications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Published NCS Training guide, WRP wage explainer</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b="1" dirty="0">
                          <a:solidFill>
                            <a:srgbClr val="27AE60"/>
                          </a:solidFill>
                          <a:latin typeface="Calibri" pitchFamily="34" charset="0"/>
                          <a:ea typeface="Calibri" pitchFamily="34" charset="-122"/>
                          <a:cs typeface="Calibri" pitchFamily="34" charset="-120"/>
                        </a:rPr>
                        <a:t>Joy to publish monthly compliance update email for all active SA educators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58368">
                <a:tc>
                  <a:txBody>
                    <a:bodyPr/>
                    <a:lstStyle/>
                    <a:p>
                      <a:pPr indent="0" marL="0">
                        <a:buNone/>
                      </a:pPr>
                      <a:r>
                        <a:rPr lang="en-US" sz="1050" b="1" dirty="0">
                          <a:solidFill>
                            <a:srgbClr val="E14B4B"/>
                          </a:solidFill>
                          <a:latin typeface="Calibri" pitchFamily="34" charset="0"/>
                          <a:ea typeface="Calibri" pitchFamily="34" charset="-122"/>
                          <a:cs typeface="Calibri" pitchFamily="34" charset="-120"/>
                        </a:rPr>
                        <a:t>Onboarding speed</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Faster registration-to-activation, lower backlog</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50" b="1" dirty="0">
                          <a:solidFill>
                            <a:srgbClr val="27AE60"/>
                          </a:solidFill>
                          <a:latin typeface="Calibri" pitchFamily="34" charset="0"/>
                          <a:ea typeface="Calibri" pitchFamily="34" charset="-122"/>
                          <a:cs typeface="Calibri" pitchFamily="34" charset="-120"/>
                        </a:rPr>
                        <a:t>Qualifying filter at registration + automated follow-up sequences to reduce 900+ backlog</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6" name="Text 3"/>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Joy Victoria analysis, June 2026 | TalentNow.com.au | ACECQA.gov.au | ACA WRP Support Service | Raw Talent internal data | Note: Scoring methodology removed per June 2026 review — replaced with gap-response format for clearer presentation to Liam</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F2A93B"/>
          </a:solidFill>
          <a:ln w="12700">
            <a:solidFill>
              <a:srgbClr val="F2A93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ACTION PLAN</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SA Growth Actions — Based on TalentNow Competitive Analysis</a:t>
            </a:r>
            <a:endParaRPr lang="en-US" sz="3000" dirty="0"/>
          </a:p>
        </p:txBody>
      </p:sp>
      <p:sp>
        <p:nvSpPr>
          <p:cNvPr id="5" name="Shape 3"/>
          <p:cNvSpPr/>
          <p:nvPr/>
        </p:nvSpPr>
        <p:spPr>
          <a:xfrm>
            <a:off x="457200" y="1417320"/>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6" name="Shape 4"/>
          <p:cNvSpPr/>
          <p:nvPr/>
        </p:nvSpPr>
        <p:spPr>
          <a:xfrm>
            <a:off x="566928" y="1618488"/>
            <a:ext cx="475488" cy="475488"/>
          </a:xfrm>
          <a:prstGeom prst="ellipse">
            <a:avLst/>
          </a:prstGeom>
          <a:solidFill>
            <a:srgbClr val="E14B4B"/>
          </a:solidFill>
          <a:ln/>
        </p:spPr>
      </p:sp>
      <p:sp>
        <p:nvSpPr>
          <p:cNvPr id="7" name="Text 5"/>
          <p:cNvSpPr/>
          <p:nvPr/>
        </p:nvSpPr>
        <p:spPr>
          <a:xfrm>
            <a:off x="566928" y="161848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Shape 6"/>
          <p:cNvSpPr/>
          <p:nvPr/>
        </p:nvSpPr>
        <p:spPr>
          <a:xfrm>
            <a:off x="1133856" y="1527048"/>
            <a:ext cx="731520" cy="237744"/>
          </a:xfrm>
          <a:prstGeom prst="roundRect">
            <a:avLst>
              <a:gd name="adj" fmla="val 19231"/>
            </a:avLst>
          </a:prstGeom>
          <a:solidFill>
            <a:srgbClr val="E14B4B">
              <a:alpha val="20000"/>
            </a:srgbClr>
          </a:solidFill>
          <a:ln/>
        </p:spPr>
      </p:sp>
      <p:sp>
        <p:nvSpPr>
          <p:cNvPr id="9" name="Text 7"/>
          <p:cNvSpPr/>
          <p:nvPr/>
        </p:nvSpPr>
        <p:spPr>
          <a:xfrm>
            <a:off x="1133856" y="1527048"/>
            <a:ext cx="731520" cy="237744"/>
          </a:xfrm>
          <a:prstGeom prst="rect">
            <a:avLst/>
          </a:prstGeom>
          <a:noFill/>
          <a:ln/>
        </p:spPr>
        <p:txBody>
          <a:bodyPr wrap="square" lIns="0" tIns="0" rIns="0" bIns="0" rtlCol="0" anchor="ctr"/>
          <a:lstStyle/>
          <a:p>
            <a:pPr algn="ctr" indent="0" marL="0">
              <a:buNone/>
            </a:pPr>
            <a:r>
              <a:rPr lang="en-US" sz="750" b="1" dirty="0">
                <a:solidFill>
                  <a:srgbClr val="E14B4B"/>
                </a:solidFill>
              </a:rPr>
              <a:t>WEEK 1</a:t>
            </a:r>
            <a:endParaRPr lang="en-US" sz="750" dirty="0"/>
          </a:p>
        </p:txBody>
      </p:sp>
      <p:sp>
        <p:nvSpPr>
          <p:cNvPr id="10" name="Text 8"/>
          <p:cNvSpPr/>
          <p:nvPr/>
        </p:nvSpPr>
        <p:spPr>
          <a:xfrm>
            <a:off x="1938528" y="1508760"/>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Activate WRP Toggle for SA Centres</a:t>
            </a:r>
            <a:endParaRPr lang="en-US" sz="1100" dirty="0"/>
          </a:p>
        </p:txBody>
      </p:sp>
      <p:sp>
        <p:nvSpPr>
          <p:cNvPr id="11" name="Text 9"/>
          <p:cNvSpPr/>
          <p:nvPr/>
        </p:nvSpPr>
        <p:spPr>
          <a:xfrm>
            <a:off x="1938528" y="1801368"/>
            <a:ext cx="3977640" cy="457200"/>
          </a:xfrm>
          <a:prstGeom prst="rect">
            <a:avLst/>
          </a:prstGeom>
          <a:noFill/>
          <a:ln/>
        </p:spPr>
        <p:txBody>
          <a:bodyPr wrap="square" lIns="0" tIns="0" rIns="0" bIns="0" rtlCol="0" anchor="ctr"/>
          <a:lstStyle/>
          <a:p>
            <a:pPr indent="0" marL="0">
              <a:buNone/>
            </a:pPr>
            <a:r>
              <a:rPr lang="en-US" sz="950" dirty="0">
                <a:solidFill>
                  <a:srgbClr val="334155"/>
                </a:solidFill>
              </a:rPr>
              <a:t>Build profitability model → activate toggle for Edge SA enrolled centres. Closes the pay gap with Entrée and directly responds to TN's WRP-native Connect advantage.</a:t>
            </a:r>
            <a:endParaRPr lang="en-US" sz="950" dirty="0"/>
          </a:p>
        </p:txBody>
      </p:sp>
      <p:sp>
        <p:nvSpPr>
          <p:cNvPr id="12" name="Shape 10"/>
          <p:cNvSpPr/>
          <p:nvPr/>
        </p:nvSpPr>
        <p:spPr>
          <a:xfrm>
            <a:off x="6309360" y="1417320"/>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13" name="Shape 11"/>
          <p:cNvSpPr/>
          <p:nvPr/>
        </p:nvSpPr>
        <p:spPr>
          <a:xfrm>
            <a:off x="6419088" y="1618488"/>
            <a:ext cx="475488" cy="475488"/>
          </a:xfrm>
          <a:prstGeom prst="ellipse">
            <a:avLst/>
          </a:prstGeom>
          <a:solidFill>
            <a:srgbClr val="E14B4B"/>
          </a:solidFill>
          <a:ln/>
        </p:spPr>
      </p:sp>
      <p:sp>
        <p:nvSpPr>
          <p:cNvPr id="14" name="Text 12"/>
          <p:cNvSpPr/>
          <p:nvPr/>
        </p:nvSpPr>
        <p:spPr>
          <a:xfrm>
            <a:off x="6419088" y="161848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5" name="Shape 13"/>
          <p:cNvSpPr/>
          <p:nvPr/>
        </p:nvSpPr>
        <p:spPr>
          <a:xfrm>
            <a:off x="6986016" y="1527048"/>
            <a:ext cx="731520" cy="237744"/>
          </a:xfrm>
          <a:prstGeom prst="roundRect">
            <a:avLst>
              <a:gd name="adj" fmla="val 19231"/>
            </a:avLst>
          </a:prstGeom>
          <a:solidFill>
            <a:srgbClr val="E14B4B">
              <a:alpha val="20000"/>
            </a:srgbClr>
          </a:solidFill>
          <a:ln/>
        </p:spPr>
      </p:sp>
      <p:sp>
        <p:nvSpPr>
          <p:cNvPr id="16" name="Text 14"/>
          <p:cNvSpPr/>
          <p:nvPr/>
        </p:nvSpPr>
        <p:spPr>
          <a:xfrm>
            <a:off x="6986016" y="1527048"/>
            <a:ext cx="731520" cy="237744"/>
          </a:xfrm>
          <a:prstGeom prst="rect">
            <a:avLst/>
          </a:prstGeom>
          <a:noFill/>
          <a:ln/>
        </p:spPr>
        <p:txBody>
          <a:bodyPr wrap="square" lIns="0" tIns="0" rIns="0" bIns="0" rtlCol="0" anchor="ctr"/>
          <a:lstStyle/>
          <a:p>
            <a:pPr algn="ctr" indent="0" marL="0">
              <a:buNone/>
            </a:pPr>
            <a:r>
              <a:rPr lang="en-US" sz="750" b="1" dirty="0">
                <a:solidFill>
                  <a:srgbClr val="E14B4B"/>
                </a:solidFill>
              </a:rPr>
              <a:t>WEEK 1</a:t>
            </a:r>
            <a:endParaRPr lang="en-US" sz="750" dirty="0"/>
          </a:p>
        </p:txBody>
      </p:sp>
      <p:sp>
        <p:nvSpPr>
          <p:cNvPr id="17" name="Text 15"/>
          <p:cNvSpPr/>
          <p:nvPr/>
        </p:nvSpPr>
        <p:spPr>
          <a:xfrm>
            <a:off x="7790688" y="1508760"/>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Correct WRP Pay Rate Communications</a:t>
            </a:r>
            <a:endParaRPr lang="en-US" sz="1100" dirty="0"/>
          </a:p>
        </p:txBody>
      </p:sp>
      <p:sp>
        <p:nvSpPr>
          <p:cNvPr id="18" name="Text 16"/>
          <p:cNvSpPr/>
          <p:nvPr/>
        </p:nvSpPr>
        <p:spPr>
          <a:xfrm>
            <a:off x="7790688" y="1801368"/>
            <a:ext cx="3977640" cy="457200"/>
          </a:xfrm>
          <a:prstGeom prst="rect">
            <a:avLst/>
          </a:prstGeom>
          <a:noFill/>
          <a:ln/>
        </p:spPr>
        <p:txBody>
          <a:bodyPr wrap="square" lIns="0" tIns="0" rIns="0" bIns="0" rtlCol="0" anchor="ctr"/>
          <a:lstStyle/>
          <a:p>
            <a:pPr indent="0" marL="0">
              <a:buNone/>
            </a:pPr>
            <a:r>
              <a:rPr lang="en-US" sz="950" dirty="0">
                <a:solidFill>
                  <a:srgbClr val="334155"/>
                </a:solidFill>
              </a:rPr>
              <a:t>Update all internal and external rate displays: Diploma + WRP = $45.70, Cert III + WRP = $40.57. Ensure centre-facing materials reflect correct figures.</a:t>
            </a:r>
            <a:endParaRPr lang="en-US" sz="950" dirty="0"/>
          </a:p>
        </p:txBody>
      </p:sp>
      <p:sp>
        <p:nvSpPr>
          <p:cNvPr id="19" name="Shape 17"/>
          <p:cNvSpPr/>
          <p:nvPr/>
        </p:nvSpPr>
        <p:spPr>
          <a:xfrm>
            <a:off x="457200" y="2441448"/>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20" name="Shape 18"/>
          <p:cNvSpPr/>
          <p:nvPr/>
        </p:nvSpPr>
        <p:spPr>
          <a:xfrm>
            <a:off x="566928" y="2642616"/>
            <a:ext cx="475488" cy="475488"/>
          </a:xfrm>
          <a:prstGeom prst="ellipse">
            <a:avLst/>
          </a:prstGeom>
          <a:solidFill>
            <a:srgbClr val="E14B4B"/>
          </a:solidFill>
          <a:ln/>
        </p:spPr>
      </p:sp>
      <p:sp>
        <p:nvSpPr>
          <p:cNvPr id="21" name="Text 19"/>
          <p:cNvSpPr/>
          <p:nvPr/>
        </p:nvSpPr>
        <p:spPr>
          <a:xfrm>
            <a:off x="566928" y="2642616"/>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2" name="Shape 20"/>
          <p:cNvSpPr/>
          <p:nvPr/>
        </p:nvSpPr>
        <p:spPr>
          <a:xfrm>
            <a:off x="1133856" y="2551176"/>
            <a:ext cx="731520" cy="237744"/>
          </a:xfrm>
          <a:prstGeom prst="roundRect">
            <a:avLst>
              <a:gd name="adj" fmla="val 19231"/>
            </a:avLst>
          </a:prstGeom>
          <a:solidFill>
            <a:srgbClr val="E14B4B">
              <a:alpha val="20000"/>
            </a:srgbClr>
          </a:solidFill>
          <a:ln/>
        </p:spPr>
      </p:sp>
      <p:sp>
        <p:nvSpPr>
          <p:cNvPr id="23" name="Text 21"/>
          <p:cNvSpPr/>
          <p:nvPr/>
        </p:nvSpPr>
        <p:spPr>
          <a:xfrm>
            <a:off x="1133856" y="2551176"/>
            <a:ext cx="731520" cy="237744"/>
          </a:xfrm>
          <a:prstGeom prst="rect">
            <a:avLst/>
          </a:prstGeom>
          <a:noFill/>
          <a:ln/>
        </p:spPr>
        <p:txBody>
          <a:bodyPr wrap="square" lIns="0" tIns="0" rIns="0" bIns="0" rtlCol="0" anchor="ctr"/>
          <a:lstStyle/>
          <a:p>
            <a:pPr algn="ctr" indent="0" marL="0">
              <a:buNone/>
            </a:pPr>
            <a:r>
              <a:rPr lang="en-US" sz="750" b="1" dirty="0">
                <a:solidFill>
                  <a:srgbClr val="E14B4B"/>
                </a:solidFill>
              </a:rPr>
              <a:t>WEEK 1</a:t>
            </a:r>
            <a:endParaRPr lang="en-US" sz="750" dirty="0"/>
          </a:p>
        </p:txBody>
      </p:sp>
      <p:sp>
        <p:nvSpPr>
          <p:cNvPr id="24" name="Text 22"/>
          <p:cNvSpPr/>
          <p:nvPr/>
        </p:nvSpPr>
        <p:spPr>
          <a:xfrm>
            <a:off x="1938528" y="2532888"/>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Fix Push Notification System</a:t>
            </a:r>
            <a:endParaRPr lang="en-US" sz="1100" dirty="0"/>
          </a:p>
        </p:txBody>
      </p:sp>
      <p:sp>
        <p:nvSpPr>
          <p:cNvPr id="25" name="Text 23"/>
          <p:cNvSpPr/>
          <p:nvPr/>
        </p:nvSpPr>
        <p:spPr>
          <a:xfrm>
            <a:off x="1938528" y="2825496"/>
            <a:ext cx="3977640" cy="457200"/>
          </a:xfrm>
          <a:prstGeom prst="rect">
            <a:avLst/>
          </a:prstGeom>
          <a:noFill/>
          <a:ln/>
        </p:spPr>
        <p:txBody>
          <a:bodyPr wrap="square" lIns="0" tIns="0" rIns="0" bIns="0" rtlCol="0" anchor="ctr"/>
          <a:lstStyle/>
          <a:p>
            <a:pPr indent="0" marL="0">
              <a:buNone/>
            </a:pPr>
            <a:r>
              <a:rPr lang="en-US" sz="950" dirty="0">
                <a:solidFill>
                  <a:srgbClr val="334155"/>
                </a:solidFill>
              </a:rPr>
              <a:t>Committed date from Prince/Yuvraj: SMS fallback + high-priority channel. Response to TN's more reliable tech platform — educators must receive shift alerts.</a:t>
            </a:r>
            <a:endParaRPr lang="en-US" sz="950" dirty="0"/>
          </a:p>
        </p:txBody>
      </p:sp>
      <p:sp>
        <p:nvSpPr>
          <p:cNvPr id="26" name="Shape 24"/>
          <p:cNvSpPr/>
          <p:nvPr/>
        </p:nvSpPr>
        <p:spPr>
          <a:xfrm>
            <a:off x="6309360" y="2441448"/>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27" name="Shape 25"/>
          <p:cNvSpPr/>
          <p:nvPr/>
        </p:nvSpPr>
        <p:spPr>
          <a:xfrm>
            <a:off x="6419088" y="2642616"/>
            <a:ext cx="475488" cy="475488"/>
          </a:xfrm>
          <a:prstGeom prst="ellipse">
            <a:avLst/>
          </a:prstGeom>
          <a:solidFill>
            <a:srgbClr val="F2A93B"/>
          </a:solidFill>
          <a:ln/>
        </p:spPr>
      </p:sp>
      <p:sp>
        <p:nvSpPr>
          <p:cNvPr id="28" name="Text 26"/>
          <p:cNvSpPr/>
          <p:nvPr/>
        </p:nvSpPr>
        <p:spPr>
          <a:xfrm>
            <a:off x="6419088" y="2642616"/>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9" name="Shape 27"/>
          <p:cNvSpPr/>
          <p:nvPr/>
        </p:nvSpPr>
        <p:spPr>
          <a:xfrm>
            <a:off x="6986016" y="2551176"/>
            <a:ext cx="731520" cy="237744"/>
          </a:xfrm>
          <a:prstGeom prst="roundRect">
            <a:avLst>
              <a:gd name="adj" fmla="val 19231"/>
            </a:avLst>
          </a:prstGeom>
          <a:solidFill>
            <a:srgbClr val="F2A93B">
              <a:alpha val="20000"/>
            </a:srgbClr>
          </a:solidFill>
          <a:ln/>
        </p:spPr>
      </p:sp>
      <p:sp>
        <p:nvSpPr>
          <p:cNvPr id="30" name="Text 28"/>
          <p:cNvSpPr/>
          <p:nvPr/>
        </p:nvSpPr>
        <p:spPr>
          <a:xfrm>
            <a:off x="6986016" y="2551176"/>
            <a:ext cx="731520" cy="237744"/>
          </a:xfrm>
          <a:prstGeom prst="rect">
            <a:avLst/>
          </a:prstGeom>
          <a:noFill/>
          <a:ln/>
        </p:spPr>
        <p:txBody>
          <a:bodyPr wrap="square" lIns="0" tIns="0" rIns="0" bIns="0" rtlCol="0" anchor="ctr"/>
          <a:lstStyle/>
          <a:p>
            <a:pPr algn="ctr" indent="0" marL="0">
              <a:buNone/>
            </a:pPr>
            <a:r>
              <a:rPr lang="en-US" sz="750" b="1" dirty="0">
                <a:solidFill>
                  <a:srgbClr val="F2A93B"/>
                </a:solidFill>
              </a:rPr>
              <a:t>WEEK 2</a:t>
            </a:r>
            <a:endParaRPr lang="en-US" sz="750" dirty="0"/>
          </a:p>
        </p:txBody>
      </p:sp>
      <p:sp>
        <p:nvSpPr>
          <p:cNvPr id="31" name="Text 29"/>
          <p:cNvSpPr/>
          <p:nvPr/>
        </p:nvSpPr>
        <p:spPr>
          <a:xfrm>
            <a:off x="7790688" y="2532888"/>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Promote Educator Ratings Feature to Centres</a:t>
            </a:r>
            <a:endParaRPr lang="en-US" sz="1100" dirty="0"/>
          </a:p>
        </p:txBody>
      </p:sp>
      <p:sp>
        <p:nvSpPr>
          <p:cNvPr id="32" name="Text 30"/>
          <p:cNvSpPr/>
          <p:nvPr/>
        </p:nvSpPr>
        <p:spPr>
          <a:xfrm>
            <a:off x="7790688" y="2825496"/>
            <a:ext cx="3977640" cy="457200"/>
          </a:xfrm>
          <a:prstGeom prst="rect">
            <a:avLst/>
          </a:prstGeom>
          <a:noFill/>
          <a:ln/>
        </p:spPr>
        <p:txBody>
          <a:bodyPr wrap="square" lIns="0" tIns="0" rIns="0" bIns="0" rtlCol="0" anchor="ctr"/>
          <a:lstStyle/>
          <a:p>
            <a:pPr indent="0" marL="0">
              <a:buNone/>
            </a:pPr>
            <a:r>
              <a:rPr lang="en-US" sz="950" dirty="0">
                <a:solidFill>
                  <a:srgbClr val="334155"/>
                </a:solidFill>
              </a:rPr>
              <a:t>RT already has educator ratings — centres can rate educators. Make this feature visible and front-and-centre in centre communications to match TN's promoted advantage.</a:t>
            </a:r>
            <a:endParaRPr lang="en-US" sz="950" dirty="0"/>
          </a:p>
        </p:txBody>
      </p:sp>
      <p:sp>
        <p:nvSpPr>
          <p:cNvPr id="33" name="Shape 31"/>
          <p:cNvSpPr/>
          <p:nvPr/>
        </p:nvSpPr>
        <p:spPr>
          <a:xfrm>
            <a:off x="457200" y="3465576"/>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34" name="Shape 32"/>
          <p:cNvSpPr/>
          <p:nvPr/>
        </p:nvSpPr>
        <p:spPr>
          <a:xfrm>
            <a:off x="566928" y="3666744"/>
            <a:ext cx="475488" cy="475488"/>
          </a:xfrm>
          <a:prstGeom prst="ellipse">
            <a:avLst/>
          </a:prstGeom>
          <a:solidFill>
            <a:srgbClr val="F2A93B"/>
          </a:solidFill>
          <a:ln/>
        </p:spPr>
      </p:sp>
      <p:sp>
        <p:nvSpPr>
          <p:cNvPr id="35" name="Text 33"/>
          <p:cNvSpPr/>
          <p:nvPr/>
        </p:nvSpPr>
        <p:spPr>
          <a:xfrm>
            <a:off x="566928" y="3666744"/>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6" name="Shape 34"/>
          <p:cNvSpPr/>
          <p:nvPr/>
        </p:nvSpPr>
        <p:spPr>
          <a:xfrm>
            <a:off x="1133856" y="3575304"/>
            <a:ext cx="731520" cy="237744"/>
          </a:xfrm>
          <a:prstGeom prst="roundRect">
            <a:avLst>
              <a:gd name="adj" fmla="val 19231"/>
            </a:avLst>
          </a:prstGeom>
          <a:solidFill>
            <a:srgbClr val="F2A93B">
              <a:alpha val="20000"/>
            </a:srgbClr>
          </a:solidFill>
          <a:ln/>
        </p:spPr>
      </p:sp>
      <p:sp>
        <p:nvSpPr>
          <p:cNvPr id="37" name="Text 35"/>
          <p:cNvSpPr/>
          <p:nvPr/>
        </p:nvSpPr>
        <p:spPr>
          <a:xfrm>
            <a:off x="1133856" y="3575304"/>
            <a:ext cx="731520" cy="237744"/>
          </a:xfrm>
          <a:prstGeom prst="rect">
            <a:avLst/>
          </a:prstGeom>
          <a:noFill/>
          <a:ln/>
        </p:spPr>
        <p:txBody>
          <a:bodyPr wrap="square" lIns="0" tIns="0" rIns="0" bIns="0" rtlCol="0" anchor="ctr"/>
          <a:lstStyle/>
          <a:p>
            <a:pPr algn="ctr" indent="0" marL="0">
              <a:buNone/>
            </a:pPr>
            <a:r>
              <a:rPr lang="en-US" sz="750" b="1" dirty="0">
                <a:solidFill>
                  <a:srgbClr val="F2A93B"/>
                </a:solidFill>
              </a:rPr>
              <a:t>WEEK 2</a:t>
            </a:r>
            <a:endParaRPr lang="en-US" sz="750" dirty="0"/>
          </a:p>
        </p:txBody>
      </p:sp>
      <p:sp>
        <p:nvSpPr>
          <p:cNvPr id="38" name="Text 36"/>
          <p:cNvSpPr/>
          <p:nvPr/>
        </p:nvSpPr>
        <p:spPr>
          <a:xfrm>
            <a:off x="1938528" y="3557016"/>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Publish Monthly SA Compliance Update</a:t>
            </a:r>
            <a:endParaRPr lang="en-US" sz="1100" dirty="0"/>
          </a:p>
        </p:txBody>
      </p:sp>
      <p:sp>
        <p:nvSpPr>
          <p:cNvPr id="39" name="Text 37"/>
          <p:cNvSpPr/>
          <p:nvPr/>
        </p:nvSpPr>
        <p:spPr>
          <a:xfrm>
            <a:off x="1938528" y="3849624"/>
            <a:ext cx="3977640" cy="457200"/>
          </a:xfrm>
          <a:prstGeom prst="rect">
            <a:avLst/>
          </a:prstGeom>
          <a:noFill/>
          <a:ln/>
        </p:spPr>
        <p:txBody>
          <a:bodyPr wrap="square" lIns="0" tIns="0" rIns="0" bIns="0" rtlCol="0" anchor="ctr"/>
          <a:lstStyle/>
          <a:p>
            <a:pPr indent="0" marL="0">
              <a:buNone/>
            </a:pPr>
            <a:r>
              <a:rPr lang="en-US" sz="950" dirty="0">
                <a:solidFill>
                  <a:srgbClr val="334155"/>
                </a:solidFill>
              </a:rPr>
              <a:t>Respond to TalentNow's regulatory thought leadership. Joy to send a compliance brief to all active SA educators: NCS Training deadline, WRP rates, DCSI renewal.</a:t>
            </a:r>
            <a:endParaRPr lang="en-US" sz="950" dirty="0"/>
          </a:p>
        </p:txBody>
      </p:sp>
      <p:sp>
        <p:nvSpPr>
          <p:cNvPr id="40" name="Shape 38"/>
          <p:cNvSpPr/>
          <p:nvPr/>
        </p:nvSpPr>
        <p:spPr>
          <a:xfrm>
            <a:off x="6309360" y="3465576"/>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41" name="Shape 39"/>
          <p:cNvSpPr/>
          <p:nvPr/>
        </p:nvSpPr>
        <p:spPr>
          <a:xfrm>
            <a:off x="6419088" y="3666744"/>
            <a:ext cx="475488" cy="475488"/>
          </a:xfrm>
          <a:prstGeom prst="ellipse">
            <a:avLst/>
          </a:prstGeom>
          <a:solidFill>
            <a:srgbClr val="F2A93B"/>
          </a:solidFill>
          <a:ln/>
        </p:spPr>
      </p:sp>
      <p:sp>
        <p:nvSpPr>
          <p:cNvPr id="42" name="Text 40"/>
          <p:cNvSpPr/>
          <p:nvPr/>
        </p:nvSpPr>
        <p:spPr>
          <a:xfrm>
            <a:off x="6419088" y="3666744"/>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43" name="Shape 41"/>
          <p:cNvSpPr/>
          <p:nvPr/>
        </p:nvSpPr>
        <p:spPr>
          <a:xfrm>
            <a:off x="6986016" y="3575304"/>
            <a:ext cx="731520" cy="237744"/>
          </a:xfrm>
          <a:prstGeom prst="roundRect">
            <a:avLst>
              <a:gd name="adj" fmla="val 19231"/>
            </a:avLst>
          </a:prstGeom>
          <a:solidFill>
            <a:srgbClr val="F2A93B">
              <a:alpha val="20000"/>
            </a:srgbClr>
          </a:solidFill>
          <a:ln/>
        </p:spPr>
      </p:sp>
      <p:sp>
        <p:nvSpPr>
          <p:cNvPr id="44" name="Text 42"/>
          <p:cNvSpPr/>
          <p:nvPr/>
        </p:nvSpPr>
        <p:spPr>
          <a:xfrm>
            <a:off x="6986016" y="3575304"/>
            <a:ext cx="731520" cy="237744"/>
          </a:xfrm>
          <a:prstGeom prst="rect">
            <a:avLst/>
          </a:prstGeom>
          <a:noFill/>
          <a:ln/>
        </p:spPr>
        <p:txBody>
          <a:bodyPr wrap="square" lIns="0" tIns="0" rIns="0" bIns="0" rtlCol="0" anchor="ctr"/>
          <a:lstStyle/>
          <a:p>
            <a:pPr algn="ctr" indent="0" marL="0">
              <a:buNone/>
            </a:pPr>
            <a:r>
              <a:rPr lang="en-US" sz="750" b="1" dirty="0">
                <a:solidFill>
                  <a:srgbClr val="F2A93B"/>
                </a:solidFill>
              </a:rPr>
              <a:t>WEEK 2</a:t>
            </a:r>
            <a:endParaRPr lang="en-US" sz="750" dirty="0"/>
          </a:p>
        </p:txBody>
      </p:sp>
      <p:sp>
        <p:nvSpPr>
          <p:cNvPr id="45" name="Text 43"/>
          <p:cNvSpPr/>
          <p:nvPr/>
        </p:nvSpPr>
        <p:spPr>
          <a:xfrm>
            <a:off x="7790688" y="3557016"/>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Formalise Educator Appreciation Program</a:t>
            </a:r>
            <a:endParaRPr lang="en-US" sz="1100" dirty="0"/>
          </a:p>
        </p:txBody>
      </p:sp>
      <p:sp>
        <p:nvSpPr>
          <p:cNvPr id="46" name="Text 44"/>
          <p:cNvSpPr/>
          <p:nvPr/>
        </p:nvSpPr>
        <p:spPr>
          <a:xfrm>
            <a:off x="7790688" y="3849624"/>
            <a:ext cx="3977640" cy="457200"/>
          </a:xfrm>
          <a:prstGeom prst="rect">
            <a:avLst/>
          </a:prstGeom>
          <a:noFill/>
          <a:ln/>
        </p:spPr>
        <p:txBody>
          <a:bodyPr wrap="square" lIns="0" tIns="0" rIns="0" bIns="0" rtlCol="0" anchor="ctr"/>
          <a:lstStyle/>
          <a:p>
            <a:pPr indent="0" marL="0">
              <a:buNone/>
            </a:pPr>
            <a:r>
              <a:rPr lang="en-US" sz="950" dirty="0">
                <a:solidFill>
                  <a:srgbClr val="334155"/>
                </a:solidFill>
              </a:rPr>
              <a:t>Convert ad hoc appreciation calls into a structured program. This is RT's strongest human differentiator vs TalentNow's transactional remote model.</a:t>
            </a:r>
            <a:endParaRPr lang="en-US" sz="950" dirty="0"/>
          </a:p>
        </p:txBody>
      </p:sp>
      <p:sp>
        <p:nvSpPr>
          <p:cNvPr id="47" name="Shape 45"/>
          <p:cNvSpPr/>
          <p:nvPr/>
        </p:nvSpPr>
        <p:spPr>
          <a:xfrm>
            <a:off x="457200" y="4489704"/>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48" name="Shape 46"/>
          <p:cNvSpPr/>
          <p:nvPr/>
        </p:nvSpPr>
        <p:spPr>
          <a:xfrm>
            <a:off x="566928" y="4690872"/>
            <a:ext cx="475488" cy="475488"/>
          </a:xfrm>
          <a:prstGeom prst="ellipse">
            <a:avLst/>
          </a:prstGeom>
          <a:solidFill>
            <a:srgbClr val="3A6FF8"/>
          </a:solidFill>
          <a:ln/>
        </p:spPr>
      </p:sp>
      <p:sp>
        <p:nvSpPr>
          <p:cNvPr id="49" name="Text 47"/>
          <p:cNvSpPr/>
          <p:nvPr/>
        </p:nvSpPr>
        <p:spPr>
          <a:xfrm>
            <a:off x="566928" y="4690872"/>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50" name="Shape 48"/>
          <p:cNvSpPr/>
          <p:nvPr/>
        </p:nvSpPr>
        <p:spPr>
          <a:xfrm>
            <a:off x="1133856" y="4599432"/>
            <a:ext cx="731520" cy="237744"/>
          </a:xfrm>
          <a:prstGeom prst="roundRect">
            <a:avLst>
              <a:gd name="adj" fmla="val 19231"/>
            </a:avLst>
          </a:prstGeom>
          <a:solidFill>
            <a:srgbClr val="3A6FF8">
              <a:alpha val="20000"/>
            </a:srgbClr>
          </a:solidFill>
          <a:ln/>
        </p:spPr>
      </p:sp>
      <p:sp>
        <p:nvSpPr>
          <p:cNvPr id="51" name="Text 49"/>
          <p:cNvSpPr/>
          <p:nvPr/>
        </p:nvSpPr>
        <p:spPr>
          <a:xfrm>
            <a:off x="1133856" y="4599432"/>
            <a:ext cx="731520" cy="237744"/>
          </a:xfrm>
          <a:prstGeom prst="rect">
            <a:avLst/>
          </a:prstGeom>
          <a:noFill/>
          <a:ln/>
        </p:spPr>
        <p:txBody>
          <a:bodyPr wrap="square" lIns="0" tIns="0" rIns="0" bIns="0" rtlCol="0" anchor="ctr"/>
          <a:lstStyle/>
          <a:p>
            <a:pPr algn="ctr" indent="0" marL="0">
              <a:buNone/>
            </a:pPr>
            <a:r>
              <a:rPr lang="en-US" sz="750" b="1" dirty="0">
                <a:solidFill>
                  <a:srgbClr val="3A6FF8"/>
                </a:solidFill>
              </a:rPr>
              <a:t>MONTH 1</a:t>
            </a:r>
            <a:endParaRPr lang="en-US" sz="750" dirty="0"/>
          </a:p>
        </p:txBody>
      </p:sp>
      <p:sp>
        <p:nvSpPr>
          <p:cNvPr id="52" name="Text 50"/>
          <p:cNvSpPr/>
          <p:nvPr/>
        </p:nvSpPr>
        <p:spPr>
          <a:xfrm>
            <a:off x="1938528" y="4581144"/>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Build Automated Compliance Document Tracking</a:t>
            </a:r>
            <a:endParaRPr lang="en-US" sz="1100" dirty="0"/>
          </a:p>
        </p:txBody>
      </p:sp>
      <p:sp>
        <p:nvSpPr>
          <p:cNvPr id="53" name="Text 51"/>
          <p:cNvSpPr/>
          <p:nvPr/>
        </p:nvSpPr>
        <p:spPr>
          <a:xfrm>
            <a:off x="1938528" y="4873752"/>
            <a:ext cx="3977640" cy="457200"/>
          </a:xfrm>
          <a:prstGeom prst="rect">
            <a:avLst/>
          </a:prstGeom>
          <a:noFill/>
          <a:ln/>
        </p:spPr>
        <p:txBody>
          <a:bodyPr wrap="square" lIns="0" tIns="0" rIns="0" bIns="0" rtlCol="0" anchor="ctr"/>
          <a:lstStyle/>
          <a:p>
            <a:pPr indent="0" marL="0">
              <a:buNone/>
            </a:pPr>
            <a:r>
              <a:rPr lang="en-US" sz="950" dirty="0">
                <a:solidFill>
                  <a:srgbClr val="334155"/>
                </a:solidFill>
              </a:rPr>
              <a:t>Response to TN's real-time compliance alerts. Build or source a system to flag documents expiring within 30 days across the active SA educator pool.</a:t>
            </a:r>
            <a:endParaRPr lang="en-US" sz="950" dirty="0"/>
          </a:p>
        </p:txBody>
      </p:sp>
      <p:sp>
        <p:nvSpPr>
          <p:cNvPr id="54" name="Shape 52"/>
          <p:cNvSpPr/>
          <p:nvPr/>
        </p:nvSpPr>
        <p:spPr>
          <a:xfrm>
            <a:off x="6309360" y="4489704"/>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55" name="Shape 53"/>
          <p:cNvSpPr/>
          <p:nvPr/>
        </p:nvSpPr>
        <p:spPr>
          <a:xfrm>
            <a:off x="6419088" y="4690872"/>
            <a:ext cx="475488" cy="475488"/>
          </a:xfrm>
          <a:prstGeom prst="ellipse">
            <a:avLst/>
          </a:prstGeom>
          <a:solidFill>
            <a:srgbClr val="3A6FF8"/>
          </a:solidFill>
          <a:ln/>
        </p:spPr>
      </p:sp>
      <p:sp>
        <p:nvSpPr>
          <p:cNvPr id="56" name="Text 54"/>
          <p:cNvSpPr/>
          <p:nvPr/>
        </p:nvSpPr>
        <p:spPr>
          <a:xfrm>
            <a:off x="6419088" y="4690872"/>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57" name="Shape 55"/>
          <p:cNvSpPr/>
          <p:nvPr/>
        </p:nvSpPr>
        <p:spPr>
          <a:xfrm>
            <a:off x="6986016" y="4599432"/>
            <a:ext cx="731520" cy="237744"/>
          </a:xfrm>
          <a:prstGeom prst="roundRect">
            <a:avLst>
              <a:gd name="adj" fmla="val 19231"/>
            </a:avLst>
          </a:prstGeom>
          <a:solidFill>
            <a:srgbClr val="3A6FF8">
              <a:alpha val="20000"/>
            </a:srgbClr>
          </a:solidFill>
          <a:ln/>
        </p:spPr>
      </p:sp>
      <p:sp>
        <p:nvSpPr>
          <p:cNvPr id="58" name="Text 56"/>
          <p:cNvSpPr/>
          <p:nvPr/>
        </p:nvSpPr>
        <p:spPr>
          <a:xfrm>
            <a:off x="6986016" y="4599432"/>
            <a:ext cx="731520" cy="237744"/>
          </a:xfrm>
          <a:prstGeom prst="rect">
            <a:avLst/>
          </a:prstGeom>
          <a:noFill/>
          <a:ln/>
        </p:spPr>
        <p:txBody>
          <a:bodyPr wrap="square" lIns="0" tIns="0" rIns="0" bIns="0" rtlCol="0" anchor="ctr"/>
          <a:lstStyle/>
          <a:p>
            <a:pPr algn="ctr" indent="0" marL="0">
              <a:buNone/>
            </a:pPr>
            <a:r>
              <a:rPr lang="en-US" sz="750" b="1" dirty="0">
                <a:solidFill>
                  <a:srgbClr val="3A6FF8"/>
                </a:solidFill>
              </a:rPr>
              <a:t>MONTH 1</a:t>
            </a:r>
            <a:endParaRPr lang="en-US" sz="750" dirty="0"/>
          </a:p>
        </p:txBody>
      </p:sp>
      <p:sp>
        <p:nvSpPr>
          <p:cNvPr id="59" name="Text 57"/>
          <p:cNvSpPr/>
          <p:nvPr/>
        </p:nvSpPr>
        <p:spPr>
          <a:xfrm>
            <a:off x="7790688" y="4581144"/>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Onboarding Qualifying Filter at Registration</a:t>
            </a:r>
            <a:endParaRPr lang="en-US" sz="1100" dirty="0"/>
          </a:p>
        </p:txBody>
      </p:sp>
      <p:sp>
        <p:nvSpPr>
          <p:cNvPr id="60" name="Text 58"/>
          <p:cNvSpPr/>
          <p:nvPr/>
        </p:nvSpPr>
        <p:spPr>
          <a:xfrm>
            <a:off x="7790688" y="4873752"/>
            <a:ext cx="3977640" cy="457200"/>
          </a:xfrm>
          <a:prstGeom prst="rect">
            <a:avLst/>
          </a:prstGeom>
          <a:noFill/>
          <a:ln/>
        </p:spPr>
        <p:txBody>
          <a:bodyPr wrap="square" lIns="0" tIns="0" rIns="0" bIns="0" rtlCol="0" anchor="ctr"/>
          <a:lstStyle/>
          <a:p>
            <a:pPr indent="0" marL="0">
              <a:buNone/>
            </a:pPr>
            <a:r>
              <a:rPr lang="en-US" sz="950" dirty="0">
                <a:solidFill>
                  <a:srgbClr val="334155"/>
                </a:solidFill>
              </a:rPr>
              <a:t>Response to TN's faster onboarding and lower backlog. Add Cert III qualifying question at registration — auto-reject unqualified applicants before they enter the pipeline.</a:t>
            </a:r>
            <a:endParaRPr lang="en-US" sz="950" dirty="0"/>
          </a:p>
        </p:txBody>
      </p:sp>
      <p:sp>
        <p:nvSpPr>
          <p:cNvPr id="61" name="Shape 59"/>
          <p:cNvSpPr/>
          <p:nvPr/>
        </p:nvSpPr>
        <p:spPr>
          <a:xfrm>
            <a:off x="457200" y="5513832"/>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62" name="Shape 60"/>
          <p:cNvSpPr/>
          <p:nvPr/>
        </p:nvSpPr>
        <p:spPr>
          <a:xfrm>
            <a:off x="566928" y="5715000"/>
            <a:ext cx="475488" cy="475488"/>
          </a:xfrm>
          <a:prstGeom prst="ellipse">
            <a:avLst/>
          </a:prstGeom>
          <a:solidFill>
            <a:srgbClr val="3A6FF8"/>
          </a:solidFill>
          <a:ln/>
        </p:spPr>
      </p:sp>
      <p:sp>
        <p:nvSpPr>
          <p:cNvPr id="63" name="Text 61"/>
          <p:cNvSpPr/>
          <p:nvPr/>
        </p:nvSpPr>
        <p:spPr>
          <a:xfrm>
            <a:off x="566928" y="571500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9</a:t>
            </a:r>
            <a:endParaRPr lang="en-US" sz="1200" dirty="0"/>
          </a:p>
        </p:txBody>
      </p:sp>
      <p:sp>
        <p:nvSpPr>
          <p:cNvPr id="64" name="Shape 62"/>
          <p:cNvSpPr/>
          <p:nvPr/>
        </p:nvSpPr>
        <p:spPr>
          <a:xfrm>
            <a:off x="1133856" y="5623560"/>
            <a:ext cx="731520" cy="237744"/>
          </a:xfrm>
          <a:prstGeom prst="roundRect">
            <a:avLst>
              <a:gd name="adj" fmla="val 19231"/>
            </a:avLst>
          </a:prstGeom>
          <a:solidFill>
            <a:srgbClr val="3A6FF8">
              <a:alpha val="20000"/>
            </a:srgbClr>
          </a:solidFill>
          <a:ln/>
        </p:spPr>
      </p:sp>
      <p:sp>
        <p:nvSpPr>
          <p:cNvPr id="65" name="Text 63"/>
          <p:cNvSpPr/>
          <p:nvPr/>
        </p:nvSpPr>
        <p:spPr>
          <a:xfrm>
            <a:off x="1133856" y="5623560"/>
            <a:ext cx="731520" cy="237744"/>
          </a:xfrm>
          <a:prstGeom prst="rect">
            <a:avLst/>
          </a:prstGeom>
          <a:noFill/>
          <a:ln/>
        </p:spPr>
        <p:txBody>
          <a:bodyPr wrap="square" lIns="0" tIns="0" rIns="0" bIns="0" rtlCol="0" anchor="ctr"/>
          <a:lstStyle/>
          <a:p>
            <a:pPr algn="ctr" indent="0" marL="0">
              <a:buNone/>
            </a:pPr>
            <a:r>
              <a:rPr lang="en-US" sz="750" b="1" dirty="0">
                <a:solidFill>
                  <a:srgbClr val="3A6FF8"/>
                </a:solidFill>
              </a:rPr>
              <a:t>MONTH 1</a:t>
            </a:r>
            <a:endParaRPr lang="en-US" sz="750" dirty="0"/>
          </a:p>
        </p:txBody>
      </p:sp>
      <p:sp>
        <p:nvSpPr>
          <p:cNvPr id="66" name="Text 64"/>
          <p:cNvSpPr/>
          <p:nvPr/>
        </p:nvSpPr>
        <p:spPr>
          <a:xfrm>
            <a:off x="1938528" y="5605272"/>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Assess Online Pricing Calculator for Centres</a:t>
            </a:r>
            <a:endParaRPr lang="en-US" sz="1100" dirty="0"/>
          </a:p>
        </p:txBody>
      </p:sp>
      <p:sp>
        <p:nvSpPr>
          <p:cNvPr id="67" name="Text 65"/>
          <p:cNvSpPr/>
          <p:nvPr/>
        </p:nvSpPr>
        <p:spPr>
          <a:xfrm>
            <a:off x="1938528" y="5897880"/>
            <a:ext cx="3977640" cy="457200"/>
          </a:xfrm>
          <a:prstGeom prst="rect">
            <a:avLst/>
          </a:prstGeom>
          <a:noFill/>
          <a:ln/>
        </p:spPr>
        <p:txBody>
          <a:bodyPr wrap="square" lIns="0" tIns="0" rIns="0" bIns="0" rtlCol="0" anchor="ctr"/>
          <a:lstStyle/>
          <a:p>
            <a:pPr indent="0" marL="0">
              <a:buNone/>
            </a:pPr>
            <a:r>
              <a:rPr lang="en-US" sz="950" dirty="0">
                <a:solidFill>
                  <a:srgbClr val="334155"/>
                </a:solidFill>
              </a:rPr>
              <a:t>Response to TN's marketing calculator. Scope whether RT can build a transparent pricing tool showing SA centres RT's rates vs typical agency rates.</a:t>
            </a:r>
            <a:endParaRPr lang="en-US" sz="950" dirty="0"/>
          </a:p>
        </p:txBody>
      </p:sp>
      <p:sp>
        <p:nvSpPr>
          <p:cNvPr id="68" name="Shape 66"/>
          <p:cNvSpPr/>
          <p:nvPr/>
        </p:nvSpPr>
        <p:spPr>
          <a:xfrm>
            <a:off x="6309360" y="5513832"/>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69" name="Shape 67"/>
          <p:cNvSpPr/>
          <p:nvPr/>
        </p:nvSpPr>
        <p:spPr>
          <a:xfrm>
            <a:off x="6419088" y="5715000"/>
            <a:ext cx="475488" cy="475488"/>
          </a:xfrm>
          <a:prstGeom prst="ellipse">
            <a:avLst/>
          </a:prstGeom>
          <a:solidFill>
            <a:srgbClr val="4A90D9"/>
          </a:solidFill>
          <a:ln/>
        </p:spPr>
      </p:sp>
      <p:sp>
        <p:nvSpPr>
          <p:cNvPr id="70" name="Text 68"/>
          <p:cNvSpPr/>
          <p:nvPr/>
        </p:nvSpPr>
        <p:spPr>
          <a:xfrm>
            <a:off x="6419088" y="571500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10</a:t>
            </a:r>
            <a:endParaRPr lang="en-US" sz="1200" dirty="0"/>
          </a:p>
        </p:txBody>
      </p:sp>
      <p:sp>
        <p:nvSpPr>
          <p:cNvPr id="71" name="Shape 69"/>
          <p:cNvSpPr/>
          <p:nvPr/>
        </p:nvSpPr>
        <p:spPr>
          <a:xfrm>
            <a:off x="6986016" y="5623560"/>
            <a:ext cx="731520" cy="237744"/>
          </a:xfrm>
          <a:prstGeom prst="roundRect">
            <a:avLst>
              <a:gd name="adj" fmla="val 19231"/>
            </a:avLst>
          </a:prstGeom>
          <a:solidFill>
            <a:srgbClr val="4A90D9">
              <a:alpha val="20000"/>
            </a:srgbClr>
          </a:solidFill>
          <a:ln/>
        </p:spPr>
      </p:sp>
      <p:sp>
        <p:nvSpPr>
          <p:cNvPr id="72" name="Text 70"/>
          <p:cNvSpPr/>
          <p:nvPr/>
        </p:nvSpPr>
        <p:spPr>
          <a:xfrm>
            <a:off x="6986016" y="5623560"/>
            <a:ext cx="731520" cy="237744"/>
          </a:xfrm>
          <a:prstGeom prst="rect">
            <a:avLst/>
          </a:prstGeom>
          <a:noFill/>
          <a:ln/>
        </p:spPr>
        <p:txBody>
          <a:bodyPr wrap="square" lIns="0" tIns="0" rIns="0" bIns="0" rtlCol="0" anchor="ctr"/>
          <a:lstStyle/>
          <a:p>
            <a:pPr algn="ctr" indent="0" marL="0">
              <a:buNone/>
            </a:pPr>
            <a:r>
              <a:rPr lang="en-US" sz="750" b="1" dirty="0">
                <a:solidFill>
                  <a:srgbClr val="4A90D9"/>
                </a:solidFill>
              </a:rPr>
              <a:t>MONTH 2</a:t>
            </a:r>
            <a:endParaRPr lang="en-US" sz="750" dirty="0"/>
          </a:p>
        </p:txBody>
      </p:sp>
      <p:sp>
        <p:nvSpPr>
          <p:cNvPr id="73" name="Text 71"/>
          <p:cNvSpPr/>
          <p:nvPr/>
        </p:nvSpPr>
        <p:spPr>
          <a:xfrm>
            <a:off x="7790688" y="5605272"/>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Research Connect Model Feasibility for SA</a:t>
            </a:r>
            <a:endParaRPr lang="en-US" sz="1100" dirty="0"/>
          </a:p>
        </p:txBody>
      </p:sp>
      <p:sp>
        <p:nvSpPr>
          <p:cNvPr id="74" name="Text 72"/>
          <p:cNvSpPr/>
          <p:nvPr/>
        </p:nvSpPr>
        <p:spPr>
          <a:xfrm>
            <a:off x="7790688" y="5897880"/>
            <a:ext cx="3977640" cy="457200"/>
          </a:xfrm>
          <a:prstGeom prst="rect">
            <a:avLst/>
          </a:prstGeom>
          <a:noFill/>
          <a:ln/>
        </p:spPr>
        <p:txBody>
          <a:bodyPr wrap="square" lIns="0" tIns="0" rIns="0" bIns="0" rtlCol="0" anchor="ctr"/>
          <a:lstStyle/>
          <a:p>
            <a:pPr indent="0" marL="0">
              <a:buNone/>
            </a:pPr>
            <a:r>
              <a:rPr lang="en-US" sz="950" dirty="0">
                <a:solidFill>
                  <a:srgbClr val="334155"/>
                </a:solidFill>
              </a:rPr>
              <a:t>TN's $30/shift Connect model is their strongest structural advantage. Assess whether RT can offer an equivalent flat-fee marketplace tier for WRP-enrolled SA centres.</a:t>
            </a:r>
            <a:endParaRPr lang="en-US" sz="950" dirty="0"/>
          </a:p>
        </p:txBody>
      </p:sp>
      <p:sp>
        <p:nvSpPr>
          <p:cNvPr id="75" name="Text 73"/>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Raw Talent vs TalentNow competitive analysis, June 2026 | All actions are direct responses to TalentNow competitive advantages identified in this report | Other RT operational actions (educator re-engagement, TAFE SA, cancellation SOPs) are tracked separately in the RT PM Tracker</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A3A"/>
        </a:solidFill>
      </p:bgPr>
    </p:bg>
    <p:spTree>
      <p:nvGrpSpPr>
        <p:cNvPr id="1" name=""/>
        <p:cNvGrpSpPr/>
        <p:nvPr/>
      </p:nvGrpSpPr>
      <p:grpSpPr>
        <a:xfrm>
          <a:off x="0" y="0"/>
          <a:ext cx="0" cy="0"/>
          <a:chOff x="0" y="0"/>
          <a:chExt cx="0" cy="0"/>
        </a:xfrm>
      </p:grpSpPr>
      <p:sp>
        <p:nvSpPr>
          <p:cNvPr id="2" name="Text 0"/>
          <p:cNvSpPr/>
          <p:nvPr/>
        </p:nvSpPr>
        <p:spPr>
          <a:xfrm>
            <a:off x="640080" y="73152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Summary &amp; Recommendation</a:t>
            </a:r>
            <a:endParaRPr lang="en-US" sz="3200" dirty="0"/>
          </a:p>
        </p:txBody>
      </p:sp>
      <p:sp>
        <p:nvSpPr>
          <p:cNvPr id="3" name="Shape 1"/>
          <p:cNvSpPr/>
          <p:nvPr/>
        </p:nvSpPr>
        <p:spPr>
          <a:xfrm>
            <a:off x="457200" y="1645920"/>
            <a:ext cx="3566160" cy="3840480"/>
          </a:xfrm>
          <a:prstGeom prst="roundRect">
            <a:avLst>
              <a:gd name="adj" fmla="val 3077"/>
            </a:avLst>
          </a:prstGeom>
          <a:solidFill>
            <a:srgbClr val="243147"/>
          </a:solidFill>
          <a:ln/>
        </p:spPr>
      </p:sp>
      <p:sp>
        <p:nvSpPr>
          <p:cNvPr id="4" name="Shape 2"/>
          <p:cNvSpPr/>
          <p:nvPr/>
        </p:nvSpPr>
        <p:spPr>
          <a:xfrm>
            <a:off x="457200" y="1645920"/>
            <a:ext cx="3566160" cy="502920"/>
          </a:xfrm>
          <a:prstGeom prst="roundRect">
            <a:avLst>
              <a:gd name="adj" fmla="val 18182"/>
            </a:avLst>
          </a:prstGeom>
          <a:solidFill>
            <a:srgbClr val="E14B4B"/>
          </a:solidFill>
          <a:ln/>
        </p:spPr>
      </p:sp>
      <p:sp>
        <p:nvSpPr>
          <p:cNvPr id="5" name="Text 3"/>
          <p:cNvSpPr/>
          <p:nvPr/>
        </p:nvSpPr>
        <p:spPr>
          <a:xfrm>
            <a:off x="457200" y="1645920"/>
            <a:ext cx="35661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621792" y="2240280"/>
            <a:ext cx="3246120" cy="777240"/>
          </a:xfrm>
          <a:prstGeom prst="rect">
            <a:avLst/>
          </a:prstGeom>
          <a:noFill/>
          <a:ln/>
        </p:spPr>
        <p:txBody>
          <a:bodyPr wrap="square" lIns="0" tIns="0" rIns="0" bIns="0" rtlCol="0" anchor="ctr"/>
          <a:lstStyle/>
          <a:p>
            <a:pPr indent="0" marL="0">
              <a:buNone/>
            </a:pPr>
            <a:r>
              <a:rPr lang="en-US" sz="1200" b="1" dirty="0">
                <a:solidFill>
                  <a:srgbClr val="FFFFFF"/>
                </a:solidFill>
              </a:rPr>
              <a:t>Don't try to out-TalentNow TalentNow</a:t>
            </a:r>
            <a:endParaRPr lang="en-US" sz="1200" dirty="0"/>
          </a:p>
        </p:txBody>
      </p:sp>
      <p:sp>
        <p:nvSpPr>
          <p:cNvPr id="7" name="Text 5"/>
          <p:cNvSpPr/>
          <p:nvPr/>
        </p:nvSpPr>
        <p:spPr>
          <a:xfrm>
            <a:off x="621792" y="3063240"/>
            <a:ext cx="3246120" cy="2194560"/>
          </a:xfrm>
          <a:prstGeom prst="rect">
            <a:avLst/>
          </a:prstGeom>
          <a:noFill/>
          <a:ln/>
        </p:spPr>
        <p:txBody>
          <a:bodyPr wrap="square" lIns="0" tIns="0" rIns="0" bIns="0" rtlCol="0" anchor="ctr"/>
          <a:lstStyle/>
          <a:p>
            <a:pPr indent="0" marL="0">
              <a:buNone/>
            </a:pPr>
            <a:r>
              <a:rPr lang="en-US" sz="1100" dirty="0">
                <a:solidFill>
                  <a:srgbClr val="94A3B8"/>
                </a:solidFill>
              </a:rPr>
              <a:t>Their Connect model and 8-year tech lead are advantages RT cannot close in the short term. Don't compete on price or platform — compete on relationships, compliance depth, and SA-specific intelligence.</a:t>
            </a:r>
            <a:endParaRPr lang="en-US" sz="1100" dirty="0"/>
          </a:p>
        </p:txBody>
      </p:sp>
      <p:sp>
        <p:nvSpPr>
          <p:cNvPr id="8" name="Shape 6"/>
          <p:cNvSpPr/>
          <p:nvPr/>
        </p:nvSpPr>
        <p:spPr>
          <a:xfrm>
            <a:off x="4297680" y="1645920"/>
            <a:ext cx="3566160" cy="3840480"/>
          </a:xfrm>
          <a:prstGeom prst="roundRect">
            <a:avLst>
              <a:gd name="adj" fmla="val 3077"/>
            </a:avLst>
          </a:prstGeom>
          <a:solidFill>
            <a:srgbClr val="243147"/>
          </a:solidFill>
          <a:ln/>
        </p:spPr>
      </p:sp>
      <p:sp>
        <p:nvSpPr>
          <p:cNvPr id="9" name="Shape 7"/>
          <p:cNvSpPr/>
          <p:nvPr/>
        </p:nvSpPr>
        <p:spPr>
          <a:xfrm>
            <a:off x="4297680" y="1645920"/>
            <a:ext cx="3566160" cy="502920"/>
          </a:xfrm>
          <a:prstGeom prst="roundRect">
            <a:avLst>
              <a:gd name="adj" fmla="val 18182"/>
            </a:avLst>
          </a:prstGeom>
          <a:solidFill>
            <a:srgbClr val="F2A93B"/>
          </a:solidFill>
          <a:ln/>
        </p:spPr>
      </p:sp>
      <p:sp>
        <p:nvSpPr>
          <p:cNvPr id="10" name="Text 8"/>
          <p:cNvSpPr/>
          <p:nvPr/>
        </p:nvSpPr>
        <p:spPr>
          <a:xfrm>
            <a:off x="4297680" y="1645920"/>
            <a:ext cx="35661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4462272" y="2240280"/>
            <a:ext cx="3246120" cy="777240"/>
          </a:xfrm>
          <a:prstGeom prst="rect">
            <a:avLst/>
          </a:prstGeom>
          <a:noFill/>
          <a:ln/>
        </p:spPr>
        <p:txBody>
          <a:bodyPr wrap="square" lIns="0" tIns="0" rIns="0" bIns="0" rtlCol="0" anchor="ctr"/>
          <a:lstStyle/>
          <a:p>
            <a:pPr indent="0" marL="0">
              <a:buNone/>
            </a:pPr>
            <a:r>
              <a:rPr lang="en-US" sz="1200" b="1" dirty="0">
                <a:solidFill>
                  <a:srgbClr val="FFFFFF"/>
                </a:solidFill>
              </a:rPr>
              <a:t>Win SA with speed, supply, and loyalty</a:t>
            </a:r>
            <a:endParaRPr lang="en-US" sz="1200" dirty="0"/>
          </a:p>
        </p:txBody>
      </p:sp>
      <p:sp>
        <p:nvSpPr>
          <p:cNvPr id="12" name="Text 10"/>
          <p:cNvSpPr/>
          <p:nvPr/>
        </p:nvSpPr>
        <p:spPr>
          <a:xfrm>
            <a:off x="4462272" y="3063240"/>
            <a:ext cx="3246120" cy="2194560"/>
          </a:xfrm>
          <a:prstGeom prst="rect">
            <a:avLst/>
          </a:prstGeom>
          <a:noFill/>
          <a:ln/>
        </p:spPr>
        <p:txBody>
          <a:bodyPr wrap="square" lIns="0" tIns="0" rIns="0" bIns="0" rtlCol="0" anchor="ctr"/>
          <a:lstStyle/>
          <a:p>
            <a:pPr indent="0" marL="0">
              <a:buNone/>
            </a:pPr>
            <a:r>
              <a:rPr lang="en-US" sz="1100" dirty="0">
                <a:solidFill>
                  <a:srgbClr val="94A3B8"/>
                </a:solidFill>
              </a:rPr>
              <a:t>The Edge SA win is a 30–90 day window. Activate the WRP toggle, close the pay gap, fix notifications, and deepen the SA educator pool. Do all simultaneously.</a:t>
            </a:r>
            <a:endParaRPr lang="en-US" sz="1100" dirty="0"/>
          </a:p>
        </p:txBody>
      </p:sp>
      <p:sp>
        <p:nvSpPr>
          <p:cNvPr id="13" name="Shape 11"/>
          <p:cNvSpPr/>
          <p:nvPr/>
        </p:nvSpPr>
        <p:spPr>
          <a:xfrm>
            <a:off x="8138160" y="1645920"/>
            <a:ext cx="3566160" cy="3840480"/>
          </a:xfrm>
          <a:prstGeom prst="roundRect">
            <a:avLst>
              <a:gd name="adj" fmla="val 3077"/>
            </a:avLst>
          </a:prstGeom>
          <a:solidFill>
            <a:srgbClr val="243147"/>
          </a:solidFill>
          <a:ln/>
        </p:spPr>
      </p:sp>
      <p:sp>
        <p:nvSpPr>
          <p:cNvPr id="14" name="Shape 12"/>
          <p:cNvSpPr/>
          <p:nvPr/>
        </p:nvSpPr>
        <p:spPr>
          <a:xfrm>
            <a:off x="8138160" y="1645920"/>
            <a:ext cx="3566160" cy="502920"/>
          </a:xfrm>
          <a:prstGeom prst="roundRect">
            <a:avLst>
              <a:gd name="adj" fmla="val 18182"/>
            </a:avLst>
          </a:prstGeom>
          <a:solidFill>
            <a:srgbClr val="27AE60"/>
          </a:solidFill>
          <a:ln/>
        </p:spPr>
      </p:sp>
      <p:sp>
        <p:nvSpPr>
          <p:cNvPr id="15" name="Text 13"/>
          <p:cNvSpPr/>
          <p:nvPr/>
        </p:nvSpPr>
        <p:spPr>
          <a:xfrm>
            <a:off x="8138160" y="1645920"/>
            <a:ext cx="35661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03</a:t>
            </a:r>
            <a:endParaRPr lang="en-US" sz="2200" dirty="0"/>
          </a:p>
        </p:txBody>
      </p:sp>
      <p:sp>
        <p:nvSpPr>
          <p:cNvPr id="16" name="Text 14"/>
          <p:cNvSpPr/>
          <p:nvPr/>
        </p:nvSpPr>
        <p:spPr>
          <a:xfrm>
            <a:off x="8302752" y="2240280"/>
            <a:ext cx="3246120" cy="777240"/>
          </a:xfrm>
          <a:prstGeom prst="rect">
            <a:avLst/>
          </a:prstGeom>
          <a:noFill/>
          <a:ln/>
        </p:spPr>
        <p:txBody>
          <a:bodyPr wrap="square" lIns="0" tIns="0" rIns="0" bIns="0" rtlCol="0" anchor="ctr"/>
          <a:lstStyle/>
          <a:p>
            <a:pPr indent="0" marL="0">
              <a:buNone/>
            </a:pPr>
            <a:r>
              <a:rPr lang="en-US" sz="1200" b="1" dirty="0">
                <a:solidFill>
                  <a:srgbClr val="FFFFFF"/>
                </a:solidFill>
              </a:rPr>
              <a:t>Build the RT platform as the long-term play</a:t>
            </a:r>
            <a:endParaRPr lang="en-US" sz="1200" dirty="0"/>
          </a:p>
        </p:txBody>
      </p:sp>
      <p:sp>
        <p:nvSpPr>
          <p:cNvPr id="17" name="Text 15"/>
          <p:cNvSpPr/>
          <p:nvPr/>
        </p:nvSpPr>
        <p:spPr>
          <a:xfrm>
            <a:off x="8302752" y="3063240"/>
            <a:ext cx="3246120" cy="2194560"/>
          </a:xfrm>
          <a:prstGeom prst="rect">
            <a:avLst/>
          </a:prstGeom>
          <a:noFill/>
          <a:ln/>
        </p:spPr>
        <p:txBody>
          <a:bodyPr wrap="square" lIns="0" tIns="0" rIns="0" bIns="0" rtlCol="0" anchor="ctr"/>
          <a:lstStyle/>
          <a:p>
            <a:pPr indent="0" marL="0">
              <a:buNone/>
            </a:pPr>
            <a:r>
              <a:rPr lang="en-US" sz="1100" dirty="0">
                <a:solidFill>
                  <a:srgbClr val="94A3B8"/>
                </a:solidFill>
              </a:rPr>
              <a:t>In 3–5 years RT's vision is a marketplace platform. Every process and tech decision made now should be built as if it will scale beyond childcare.</a:t>
            </a:r>
            <a:endParaRPr lang="en-US" sz="1100" dirty="0"/>
          </a:p>
        </p:txBody>
      </p:sp>
      <p:sp>
        <p:nvSpPr>
          <p:cNvPr id="18" name="Text 16"/>
          <p:cNvSpPr/>
          <p:nvPr/>
        </p:nvSpPr>
        <p:spPr>
          <a:xfrm>
            <a:off x="640080" y="5806440"/>
            <a:ext cx="10789920" cy="548640"/>
          </a:xfrm>
          <a:prstGeom prst="rect">
            <a:avLst/>
          </a:prstGeom>
          <a:noFill/>
          <a:ln/>
        </p:spPr>
        <p:txBody>
          <a:bodyPr wrap="square" lIns="0" tIns="0" rIns="0" bIns="0" rtlCol="0" anchor="ctr"/>
          <a:lstStyle/>
          <a:p>
            <a:pPr algn="ctr" indent="0" marL="0">
              <a:buNone/>
            </a:pPr>
            <a:r>
              <a:rPr lang="en-US" sz="1050" i="1" dirty="0">
                <a:solidFill>
                  <a:srgbClr val="F2A93B"/>
                </a:solidFill>
              </a:rPr>
              <a:t>Week 1 Actions: WRP toggle profitability model (Joy)  ·  Correct WRP rate communications  ·  Notification fix date (Yuvraj/Prince)  ·  NCS Training audit (all active SA educators)</a:t>
            </a:r>
            <a:endParaRPr lang="en-US" sz="1050" dirty="0"/>
          </a:p>
        </p:txBody>
      </p:sp>
      <p:sp>
        <p:nvSpPr>
          <p:cNvPr id="19" name="Text 17"/>
          <p:cNvSpPr/>
          <p:nvPr/>
        </p:nvSpPr>
        <p:spPr>
          <a:xfrm>
            <a:off x="640080" y="6446520"/>
            <a:ext cx="10789920" cy="274320"/>
          </a:xfrm>
          <a:prstGeom prst="rect">
            <a:avLst/>
          </a:prstGeom>
          <a:noFill/>
          <a:ln/>
        </p:spPr>
        <p:txBody>
          <a:bodyPr wrap="square" lIns="0" tIns="0" rIns="0" bIns="0" rtlCol="0" anchor="ctr"/>
          <a:lstStyle/>
          <a:p>
            <a:pPr algn="ctr" indent="0" marL="0">
              <a:buNone/>
            </a:pPr>
            <a:r>
              <a:rPr lang="en-US" sz="800" dirty="0">
                <a:solidFill>
                  <a:srgbClr val="475569"/>
                </a:solidFill>
              </a:rPr>
              <a:t>Joy Victoria, Operations Manager — Raw Talent  ·  joy@rawtalent.com.au  ·  rawtalent.com.au  ·  June 2026  ·  CONFIDENTIAL — v1.1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Raw Talent vs TalentNow — Competitive Analysis</dc:title>
  <dc:subject>PptxGenJS Presentation</dc:subject>
  <dc:creator>Joy Victoria, Operations Manager</dc:creator>
  <cp:lastModifiedBy>Joy Victoria, Operations Manager</cp:lastModifiedBy>
  <cp:revision>1</cp:revision>
  <dcterms:created xsi:type="dcterms:W3CDTF">2026-06-16T01:48:34Z</dcterms:created>
  <dcterms:modified xsi:type="dcterms:W3CDTF">2026-06-16T01:48:34Z</dcterms:modified>
</cp:coreProperties>
</file>