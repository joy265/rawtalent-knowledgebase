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Hourly Rate (AUD)</c:v>
                </c:pt>
              </c:strCache>
            </c:strRef>
          </c:tx>
          <c:spPr>
            <a:solidFill>
              <a:srgbClr val="94A3B8"/>
            </a:solidFill>
            <a:effectLst/>
          </c:spPr>
          <c:invertIfNegative val="0"/>
          <c:dLbls>
            <c:numFmt formatCode="#,##0" sourceLinked="0"/>
            <c:txPr>
              <a:bodyPr/>
              <a:lstStyle/>
              <a:p>
                <a:pPr>
                  <a:defRPr b="0" i="0" strike="noStrike" sz="1100" u="none">
                    <a:solidFill>
                      <a:srgbClr val="1E2A3A"/>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E14B4B"/>
              </a:solidFill>
              <a:effectLst/>
            </c:spPr>
          </c:dPt>
          <c:dPt>
            <c:idx val="2"/>
            <c:invertIfNegative val="0"/>
            <c:bubble3D val="0"/>
            <c:spPr>
              <a:solidFill>
                <a:srgbClr val="F59E0B"/>
              </a:solidFill>
              <a:effectLst/>
            </c:spPr>
          </c:dPt>
          <c:dPt>
            <c:idx val="3"/>
            <c:invertIfNegative val="0"/>
            <c:bubble3D val="0"/>
            <c:spPr>
              <a:solidFill>
                <a:srgbClr val="E14B4B"/>
              </a:solidFill>
              <a:effectLst/>
            </c:spPr>
          </c:dPt>
          <c:dPt>
            <c:idx val="4"/>
            <c:invertIfNegative val="0"/>
            <c:bubble3D val="0"/>
            <c:spPr>
              <a:solidFill>
                <a:srgbClr val="27AE60"/>
              </a:solidFill>
              <a:effectLst/>
            </c:spPr>
          </c:dPt>
          <c:cat>
            <c:multiLvlStrRef>
              <c:f>Sheet1!$A$2:$A$6</c:f>
              <c:multiLvlStrCache>
                <c:ptCount val="5"/>
                <c:lvl>
                  <c:pt idx="0">
                    <c:v>Award Minimum
(Cert III)</c:v>
                  </c:pt>
                  <c:pt idx="1">
                    <c:v>Raw Talent
(Current)</c:v>
                  </c:pt>
                  <c:pt idx="2">
                    <c:v>TalentNow
Casual Hire (est.)</c:v>
                  </c:pt>
                  <c:pt idx="3">
                    <c:v>Entree Early
Years (SA)</c:v>
                  </c:pt>
                  <c:pt idx="4">
                    <c:v>RT with WRP
Toggle Active</c:v>
                  </c:pt>
                </c:lvl>
              </c:multiLvlStrCache>
            </c:multiLvlStrRef>
          </c:cat>
          <c:val>
            <c:numRef>
              <c:f>Sheet1!$B$2:$B$6</c:f>
              <c:numCache>
                <c:formatCode>General</c:formatCode>
                <c:ptCount val="5"/>
                <c:pt idx="0">
                  <c:v>26.5</c:v>
                </c:pt>
                <c:pt idx="1">
                  <c:v>42</c:v>
                </c:pt>
                <c:pt idx="2">
                  <c:v>44</c:v>
                </c:pt>
                <c:pt idx="3">
                  <c:v>46.8</c:v>
                </c:pt>
                <c:pt idx="4">
                  <c:v>46.2</c:v>
                </c:pt>
              </c:numCache>
            </c:numRef>
          </c:val>
        </c:ser>
        <c:dLbls>
          <c:numFmt formatCode="#,##0" sourceLinked="0"/>
          <c:txPr>
            <a:bodyPr/>
            <a:lstStyle/>
            <a:p>
              <a:pPr>
                <a:defRPr b="0" i="0" strike="noStrike" sz="1100" u="none">
                  <a:solidFill>
                    <a:srgbClr val="1E2A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52"/>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Raw Talent</c:v>
                </c:pt>
              </c:strCache>
            </c:strRef>
          </c:tx>
          <c:spPr>
            <a:solidFill>
              <a:srgbClr val="3A6FF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Tech Platform</c:v>
                  </c:pt>
                  <c:pt idx="1">
                    <c:v>Pay Rate Comp.</c:v>
                  </c:pt>
                  <c:pt idx="2">
                    <c:v>Compliance Auto.</c:v>
                  </c:pt>
                  <c:pt idx="3">
                    <c:v>Onboarding Speed</c:v>
                  </c:pt>
                  <c:pt idx="4">
                    <c:v>SA Relationships</c:v>
                  </c:pt>
                  <c:pt idx="5">
                    <c:v>WRP Optimisation</c:v>
                  </c:pt>
                  <c:pt idx="6">
                    <c:v>Educator Loyalty</c:v>
                  </c:pt>
                  <c:pt idx="7">
                    <c:v>Reg. Comms</c:v>
                  </c:pt>
                </c:lvl>
              </c:multiLvlStrCache>
            </c:multiLvlStrRef>
          </c:cat>
          <c:val>
            <c:numRef>
              <c:f>Sheet1!$B$2:$B$9</c:f>
              <c:numCache>
                <c:formatCode>General</c:formatCode>
                <c:ptCount val="8"/>
                <c:pt idx="0">
                  <c:v>4</c:v>
                </c:pt>
                <c:pt idx="1">
                  <c:v>5</c:v>
                </c:pt>
                <c:pt idx="2">
                  <c:v>3</c:v>
                </c:pt>
                <c:pt idx="3">
                  <c:v>4</c:v>
                </c:pt>
                <c:pt idx="4">
                  <c:v>9</c:v>
                </c:pt>
                <c:pt idx="5">
                  <c:v>5</c:v>
                </c:pt>
                <c:pt idx="6">
                  <c:v>6</c:v>
                </c:pt>
                <c:pt idx="7">
                  <c:v>3</c:v>
                </c:pt>
              </c:numCache>
            </c:numRef>
          </c:val>
        </c:ser>
        <c:ser>
          <c:idx val="1"/>
          <c:order val="1"/>
          <c:tx>
            <c:strRef>
              <c:f>Sheet1!$C$1</c:f>
              <c:strCache>
                <c:ptCount val="1"/>
                <c:pt idx="0">
                  <c:v>TalentNow</c:v>
                </c:pt>
              </c:strCache>
            </c:strRef>
          </c:tx>
          <c:spPr>
            <a:solidFill>
              <a:srgbClr val="E14B4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Tech Platform</c:v>
                  </c:pt>
                  <c:pt idx="1">
                    <c:v>Pay Rate Comp.</c:v>
                  </c:pt>
                  <c:pt idx="2">
                    <c:v>Compliance Auto.</c:v>
                  </c:pt>
                  <c:pt idx="3">
                    <c:v>Onboarding Speed</c:v>
                  </c:pt>
                  <c:pt idx="4">
                    <c:v>SA Relationships</c:v>
                  </c:pt>
                  <c:pt idx="5">
                    <c:v>WRP Optimisation</c:v>
                  </c:pt>
                  <c:pt idx="6">
                    <c:v>Educator Loyalty</c:v>
                  </c:pt>
                  <c:pt idx="7">
                    <c:v>Reg. Comms</c:v>
                  </c:pt>
                </c:lvl>
              </c:multiLvlStrCache>
            </c:multiLvlStrRef>
          </c:cat>
          <c:val>
            <c:numRef>
              <c:f>Sheet1!$C$2:$C$9</c:f>
              <c:numCache>
                <c:formatCode>General</c:formatCode>
                <c:ptCount val="8"/>
                <c:pt idx="0">
                  <c:v>8</c:v>
                </c:pt>
                <c:pt idx="1">
                  <c:v>7</c:v>
                </c:pt>
                <c:pt idx="2">
                  <c:v>9</c:v>
                </c:pt>
                <c:pt idx="3">
                  <c:v>8</c:v>
                </c:pt>
                <c:pt idx="4">
                  <c:v>3</c:v>
                </c:pt>
                <c:pt idx="5">
                  <c:v>9</c:v>
                </c:pt>
                <c:pt idx="6">
                  <c:v>7</c:v>
                </c:pt>
                <c:pt idx="7">
                  <c:v>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Presenter: introduce the purpose — this is an analysis of how TalentNow competes with Raw Talent and what SA growth actions we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findings. Emphasise finding 02 — Edge SA is the most urgent commercial opportunity but requires immediate supply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TalentNow profile. Key point: 8 years old, national, independent. They have significant head start on us in technology and market presence outside 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TalentNow Connect is fundamentally different — centres become employers, pay $30/shift, and keep WRP. We don't have this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$4-5/hr gap is the primary reason SA educators choose Entrée over RT. The WRP toggle, once activated for enrolled SA centres, closes this gap entirely. Action: get profitability model done and activate toggle.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WRP is the structural advantage of TalentNow Connect. Key action: confirm Raw Talent WRP enrolment status immediately. WRP ends 30 November 2026 — larger gender uplift increases follow from December 2026 under Fair Work Commission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TalentNow published a detailed NCS Training guide in February 2026 — they are ahead of RT on regulatory communications. RT must immediately audit all SA educators for NCS Training completion and DCSI Screening 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table. RT wins on SA relationships and Edge partnership — but TalentNow wins on almost every technology and model dimension. The Edge win is our time-sensitive opportunity to build the SA advantage before TalentNow expands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with Liam — TalentNow is genuinely ahead in 6 major dimensions. But none of these kill RT's SA opportunity because our edge is local relationships and the Edge partnership, which TalentNow cannot replicate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6 advantages are real but fragile. The Edge partnership must be protected. Liam's relationships must be systematised through the team. The appreciation program must be formalised. None of these advantages are self-sustaining without operational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chart shows clearly where RT and TalentNow are in opposite positions. RT's SA Relationships score is our highest — TalentNow's lowest. This is the asymmetric advantage we must build from. Everything else is a gap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the 10-item sprint plan to Liam. Items 1-4 are non-negotiable Week 1 actions — everything else depends on them being done first. The WRP toggle is the fastest way to close the pay gap without changing the business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message: We don't need to become TalentNow. We need to dominate SA with what we already have — and fix the operational gaps that are holding us back. The Edge SA confirmation changes everything. The next 90 days determine whether RT becomes the #1 SA childcare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Shape 0"/>
          <p:cNvSpPr/>
          <p:nvPr/>
        </p:nvSpPr>
        <p:spPr>
          <a:xfrm>
            <a:off x="0" y="0"/>
            <a:ext cx="6688836" cy="6858000"/>
          </a:xfrm>
          <a:prstGeom prst="rect">
            <a:avLst/>
          </a:prstGeom>
          <a:solidFill>
            <a:srgbClr val="1E2A3A"/>
          </a:solidFill>
          <a:ln w="12700">
            <a:solidFill>
              <a:srgbClr val="1E2A3A"/>
            </a:solidFill>
            <a:prstDash val="solid"/>
          </a:ln>
        </p:spPr>
      </p:sp>
      <p:sp>
        <p:nvSpPr>
          <p:cNvPr id="3" name="Shape 1"/>
          <p:cNvSpPr/>
          <p:nvPr/>
        </p:nvSpPr>
        <p:spPr>
          <a:xfrm>
            <a:off x="6688836" y="0"/>
            <a:ext cx="5472684" cy="6858000"/>
          </a:xfrm>
          <a:prstGeom prst="rect">
            <a:avLst/>
          </a:prstGeom>
          <a:solidFill>
            <a:srgbClr val="243147"/>
          </a:solidFill>
          <a:ln w="12700">
            <a:solidFill>
              <a:srgbClr val="243147"/>
            </a:solidFill>
            <a:prstDash val="solid"/>
          </a:ln>
        </p:spPr>
      </p:sp>
      <p:sp>
        <p:nvSpPr>
          <p:cNvPr id="4" name="Text 2"/>
          <p:cNvSpPr/>
          <p:nvPr/>
        </p:nvSpPr>
        <p:spPr>
          <a:xfrm>
            <a:off x="640080" y="1097280"/>
            <a:ext cx="6035040" cy="10972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Raw Talent vs TalentNow</a:t>
            </a:r>
            <a:endParaRPr lang="en-US" sz="4200" dirty="0"/>
          </a:p>
        </p:txBody>
      </p:sp>
      <p:sp>
        <p:nvSpPr>
          <p:cNvPr id="5" name="Text 3"/>
          <p:cNvSpPr/>
          <p:nvPr/>
        </p:nvSpPr>
        <p:spPr>
          <a:xfrm>
            <a:off x="640080" y="2286000"/>
            <a:ext cx="6035040" cy="640080"/>
          </a:xfrm>
          <a:prstGeom prst="rect">
            <a:avLst/>
          </a:prstGeom>
          <a:noFill/>
          <a:ln/>
        </p:spPr>
        <p:txBody>
          <a:bodyPr wrap="square" lIns="0" tIns="0" rIns="0" bIns="0" rtlCol="0" anchor="ctr"/>
          <a:lstStyle/>
          <a:p>
            <a:pPr indent="0" marL="0">
              <a:buNone/>
            </a:pPr>
            <a:r>
              <a:rPr lang="en-US" sz="2200" dirty="0">
                <a:solidFill>
                  <a:srgbClr val="F2A93B"/>
                </a:solidFill>
                <a:latin typeface="Calibri" pitchFamily="34" charset="0"/>
                <a:ea typeface="Calibri" pitchFamily="34" charset="-122"/>
                <a:cs typeface="Calibri" pitchFamily="34" charset="-120"/>
              </a:rPr>
              <a:t>Competitive Intelligence Report</a:t>
            </a:r>
            <a:endParaRPr lang="en-US" sz="2200" dirty="0"/>
          </a:p>
        </p:txBody>
      </p:sp>
      <p:sp>
        <p:nvSpPr>
          <p:cNvPr id="6" name="Text 4"/>
          <p:cNvSpPr/>
          <p:nvPr/>
        </p:nvSpPr>
        <p:spPr>
          <a:xfrm>
            <a:off x="640080" y="2834640"/>
            <a:ext cx="6035040" cy="457200"/>
          </a:xfrm>
          <a:prstGeom prst="rect">
            <a:avLst/>
          </a:prstGeom>
          <a:noFill/>
          <a:ln/>
        </p:spPr>
        <p:txBody>
          <a:bodyPr wrap="square" lIns="0" tIns="0" rIns="0" bIns="0" rtlCol="0" anchor="ctr"/>
          <a:lstStyle/>
          <a:p>
            <a:pPr indent="0" marL="0">
              <a:buNone/>
            </a:pPr>
            <a:r>
              <a:rPr lang="en-US" sz="1400" dirty="0">
                <a:solidFill>
                  <a:srgbClr val="94A3B8"/>
                </a:solidFill>
              </a:rPr>
              <a:t>Strategic Analysis &amp; South Australia Growth Plan</a:t>
            </a:r>
            <a:endParaRPr lang="en-US" sz="1400" dirty="0"/>
          </a:p>
        </p:txBody>
      </p:sp>
      <p:sp>
        <p:nvSpPr>
          <p:cNvPr id="7" name="Shape 5"/>
          <p:cNvSpPr/>
          <p:nvPr/>
        </p:nvSpPr>
        <p:spPr>
          <a:xfrm>
            <a:off x="640080" y="3429000"/>
            <a:ext cx="3657600" cy="0"/>
          </a:xfrm>
          <a:prstGeom prst="line">
            <a:avLst/>
          </a:prstGeom>
          <a:noFill/>
          <a:ln w="25400">
            <a:solidFill>
              <a:srgbClr val="3A6FF8"/>
            </a:solidFill>
            <a:prstDash val="solid"/>
          </a:ln>
        </p:spPr>
      </p:sp>
      <p:sp>
        <p:nvSpPr>
          <p:cNvPr id="8" name="Text 6"/>
          <p:cNvSpPr/>
          <p:nvPr/>
        </p:nvSpPr>
        <p:spPr>
          <a:xfrm>
            <a:off x="640080" y="3657600"/>
            <a:ext cx="6035040" cy="320040"/>
          </a:xfrm>
          <a:prstGeom prst="rect">
            <a:avLst/>
          </a:prstGeom>
          <a:noFill/>
          <a:ln/>
        </p:spPr>
        <p:txBody>
          <a:bodyPr wrap="square" lIns="0" tIns="0" rIns="0" bIns="0" rtlCol="0" anchor="ctr"/>
          <a:lstStyle/>
          <a:p>
            <a:pPr indent="0" marL="0">
              <a:buNone/>
            </a:pPr>
            <a:r>
              <a:rPr lang="en-US" sz="1200" b="1" dirty="0">
                <a:solidFill>
                  <a:srgbClr val="94A3B8"/>
                </a:solidFill>
              </a:rPr>
              <a:t>Prepared by: </a:t>
            </a:r>
            <a:pPr indent="0" marL="0">
              <a:buNone/>
            </a:pPr>
            <a:r>
              <a:rPr lang="en-US" sz="1200" dirty="0">
                <a:solidFill>
                  <a:srgbClr val="FFFFFF"/>
                </a:solidFill>
              </a:rPr>
              <a:t>Joy Victoria, Operations Manager</a:t>
            </a:r>
            <a:endParaRPr lang="en-US" sz="1200" dirty="0"/>
          </a:p>
        </p:txBody>
      </p:sp>
      <p:sp>
        <p:nvSpPr>
          <p:cNvPr id="9" name="Text 7"/>
          <p:cNvSpPr/>
          <p:nvPr/>
        </p:nvSpPr>
        <p:spPr>
          <a:xfrm>
            <a:off x="640080" y="3977640"/>
            <a:ext cx="6035040" cy="320040"/>
          </a:xfrm>
          <a:prstGeom prst="rect">
            <a:avLst/>
          </a:prstGeom>
          <a:noFill/>
          <a:ln/>
        </p:spPr>
        <p:txBody>
          <a:bodyPr wrap="square" lIns="0" tIns="0" rIns="0" bIns="0" rtlCol="0" anchor="ctr"/>
          <a:lstStyle/>
          <a:p>
            <a:pPr indent="0" marL="0">
              <a:buNone/>
            </a:pPr>
            <a:r>
              <a:rPr lang="en-US" sz="1200" b="1" dirty="0">
                <a:solidFill>
                  <a:srgbClr val="94A3B8"/>
                </a:solidFill>
              </a:rPr>
              <a:t>Date: </a:t>
            </a:r>
            <a:pPr indent="0" marL="0">
              <a:buNone/>
            </a:pPr>
            <a:r>
              <a:rPr lang="en-US" sz="1200" dirty="0">
                <a:solidFill>
                  <a:srgbClr val="FFFFFF"/>
                </a:solidFill>
              </a:rPr>
              <a:t>June 2026  ·  Version 1.0  ·  CONFIDENTIAL</a:t>
            </a:r>
            <a:endParaRPr lang="en-US" sz="1200" dirty="0"/>
          </a:p>
        </p:txBody>
      </p:sp>
      <p:sp>
        <p:nvSpPr>
          <p:cNvPr id="10" name="Text 8"/>
          <p:cNvSpPr/>
          <p:nvPr/>
        </p:nvSpPr>
        <p:spPr>
          <a:xfrm>
            <a:off x="6932066" y="73152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8 Years</a:t>
            </a:r>
            <a:endParaRPr lang="en-US" sz="3800" dirty="0"/>
          </a:p>
        </p:txBody>
      </p:sp>
      <p:sp>
        <p:nvSpPr>
          <p:cNvPr id="11" name="Text 9"/>
          <p:cNvSpPr/>
          <p:nvPr/>
        </p:nvSpPr>
        <p:spPr>
          <a:xfrm>
            <a:off x="6932066" y="1298448"/>
            <a:ext cx="4754880" cy="365760"/>
          </a:xfrm>
          <a:prstGeom prst="rect">
            <a:avLst/>
          </a:prstGeom>
          <a:noFill/>
          <a:ln/>
        </p:spPr>
        <p:txBody>
          <a:bodyPr wrap="square" lIns="0" tIns="0" rIns="0" bIns="0" rtlCol="0" anchor="ctr"/>
          <a:lstStyle/>
          <a:p>
            <a:pPr indent="0" marL="0">
              <a:buNone/>
            </a:pPr>
            <a:r>
              <a:rPr lang="en-US" sz="1200" dirty="0">
                <a:solidFill>
                  <a:srgbClr val="94A3B8"/>
                </a:solidFill>
              </a:rPr>
              <a:t>TalentNow established</a:t>
            </a:r>
            <a:endParaRPr lang="en-US" sz="1200" dirty="0"/>
          </a:p>
        </p:txBody>
      </p:sp>
      <p:sp>
        <p:nvSpPr>
          <p:cNvPr id="12" name="Text 10"/>
          <p:cNvSpPr/>
          <p:nvPr/>
        </p:nvSpPr>
        <p:spPr>
          <a:xfrm>
            <a:off x="6932066" y="214884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$30/shift</a:t>
            </a:r>
            <a:endParaRPr lang="en-US" sz="3800" dirty="0"/>
          </a:p>
        </p:txBody>
      </p:sp>
      <p:sp>
        <p:nvSpPr>
          <p:cNvPr id="13" name="Text 11"/>
          <p:cNvSpPr/>
          <p:nvPr/>
        </p:nvSpPr>
        <p:spPr>
          <a:xfrm>
            <a:off x="6932066" y="2715768"/>
            <a:ext cx="4754880" cy="365760"/>
          </a:xfrm>
          <a:prstGeom prst="rect">
            <a:avLst/>
          </a:prstGeom>
          <a:noFill/>
          <a:ln/>
        </p:spPr>
        <p:txBody>
          <a:bodyPr wrap="square" lIns="0" tIns="0" rIns="0" bIns="0" rtlCol="0" anchor="ctr"/>
          <a:lstStyle/>
          <a:p>
            <a:pPr indent="0" marL="0">
              <a:buNone/>
            </a:pPr>
            <a:r>
              <a:rPr lang="en-US" sz="1200" dirty="0">
                <a:solidFill>
                  <a:srgbClr val="94A3B8"/>
                </a:solidFill>
              </a:rPr>
              <a:t>TalentNow Connect flat fee</a:t>
            </a:r>
            <a:endParaRPr lang="en-US" sz="1200" dirty="0"/>
          </a:p>
        </p:txBody>
      </p:sp>
      <p:sp>
        <p:nvSpPr>
          <p:cNvPr id="14" name="Text 12"/>
          <p:cNvSpPr/>
          <p:nvPr/>
        </p:nvSpPr>
        <p:spPr>
          <a:xfrm>
            <a:off x="6932066" y="356616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~$4–5/hr</a:t>
            </a:r>
            <a:endParaRPr lang="en-US" sz="3800" dirty="0"/>
          </a:p>
        </p:txBody>
      </p:sp>
      <p:sp>
        <p:nvSpPr>
          <p:cNvPr id="15" name="Text 13"/>
          <p:cNvSpPr/>
          <p:nvPr/>
        </p:nvSpPr>
        <p:spPr>
          <a:xfrm>
            <a:off x="6932066" y="4133088"/>
            <a:ext cx="4754880" cy="365760"/>
          </a:xfrm>
          <a:prstGeom prst="rect">
            <a:avLst/>
          </a:prstGeom>
          <a:noFill/>
          <a:ln/>
        </p:spPr>
        <p:txBody>
          <a:bodyPr wrap="square" lIns="0" tIns="0" rIns="0" bIns="0" rtlCol="0" anchor="ctr"/>
          <a:lstStyle/>
          <a:p>
            <a:pPr indent="0" marL="0">
              <a:buNone/>
            </a:pPr>
            <a:r>
              <a:rPr lang="en-US" sz="1200" dirty="0">
                <a:solidFill>
                  <a:srgbClr val="94A3B8"/>
                </a:solidFill>
              </a:rPr>
              <a:t>SA pay gap vs competitors</a:t>
            </a:r>
            <a:endParaRPr lang="en-US" sz="1200" dirty="0"/>
          </a:p>
        </p:txBody>
      </p:sp>
      <p:sp>
        <p:nvSpPr>
          <p:cNvPr id="16" name="Text 14"/>
          <p:cNvSpPr/>
          <p:nvPr/>
        </p:nvSpPr>
        <p:spPr>
          <a:xfrm>
            <a:off x="6932066" y="4983480"/>
            <a:ext cx="4754880" cy="640080"/>
          </a:xfrm>
          <a:prstGeom prst="rect">
            <a:avLst/>
          </a:prstGeom>
          <a:noFill/>
          <a:ln/>
        </p:spPr>
        <p:txBody>
          <a:bodyPr wrap="square" lIns="0" tIns="0" rIns="0" bIns="0" rtlCol="0" anchor="ctr"/>
          <a:lstStyle/>
          <a:p>
            <a:pPr indent="0" marL="0">
              <a:buNone/>
            </a:pPr>
            <a:r>
              <a:rPr lang="en-US" sz="3800" b="1" dirty="0">
                <a:solidFill>
                  <a:srgbClr val="F2A93B"/>
                </a:solidFill>
                <a:latin typeface="Cambria" pitchFamily="34" charset="0"/>
                <a:ea typeface="Cambria" pitchFamily="34" charset="-122"/>
                <a:cs typeface="Cambria" pitchFamily="34" charset="-120"/>
              </a:rPr>
              <a:t>900+</a:t>
            </a:r>
            <a:endParaRPr lang="en-US" sz="3800" dirty="0"/>
          </a:p>
        </p:txBody>
      </p:sp>
      <p:sp>
        <p:nvSpPr>
          <p:cNvPr id="17" name="Text 15"/>
          <p:cNvSpPr/>
          <p:nvPr/>
        </p:nvSpPr>
        <p:spPr>
          <a:xfrm>
            <a:off x="6932066" y="5550408"/>
            <a:ext cx="4754880" cy="365760"/>
          </a:xfrm>
          <a:prstGeom prst="rect">
            <a:avLst/>
          </a:prstGeom>
          <a:noFill/>
          <a:ln/>
        </p:spPr>
        <p:txBody>
          <a:bodyPr wrap="square" lIns="0" tIns="0" rIns="0" bIns="0" rtlCol="0" anchor="ctr"/>
          <a:lstStyle/>
          <a:p>
            <a:pPr indent="0" marL="0">
              <a:buNone/>
            </a:pPr>
            <a:r>
              <a:rPr lang="en-US" sz="1200" dirty="0">
                <a:solidFill>
                  <a:srgbClr val="94A3B8"/>
                </a:solidFill>
              </a:rPr>
              <a:t>Applicants in RT vetting backlog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1E2A3A"/>
          </a:solidFill>
          <a:ln w="12700">
            <a:solidFill>
              <a:srgbClr val="1E2A3A"/>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EXECUTIVE SUMMARY</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Three Things Liam Needs to Know</a:t>
            </a:r>
            <a:endParaRPr lang="en-US" sz="3000" dirty="0"/>
          </a:p>
        </p:txBody>
      </p:sp>
      <p:sp>
        <p:nvSpPr>
          <p:cNvPr id="5" name="Shape 3"/>
          <p:cNvSpPr/>
          <p:nvPr/>
        </p:nvSpPr>
        <p:spPr>
          <a:xfrm>
            <a:off x="457200" y="1554480"/>
            <a:ext cx="3566160" cy="4114800"/>
          </a:xfrm>
          <a:prstGeom prst="roundRect">
            <a:avLst>
              <a:gd name="adj" fmla="val 3077"/>
            </a:avLst>
          </a:prstGeom>
          <a:solidFill>
            <a:srgbClr val="F7F8FD"/>
          </a:solidFill>
          <a:ln/>
          <a:effectLst>
            <a:outerShdw sx="100000" sy="100000" kx="0" ky="0" algn="bl" rotWithShape="0" blurRad="101600" dist="25400" dir="2700000">
              <a:srgbClr val="000000">
                <a:alpha val="8000"/>
              </a:srgbClr>
            </a:outerShdw>
          </a:effectLst>
        </p:spPr>
      </p:sp>
      <p:sp>
        <p:nvSpPr>
          <p:cNvPr id="6" name="Shape 4"/>
          <p:cNvSpPr/>
          <p:nvPr/>
        </p:nvSpPr>
        <p:spPr>
          <a:xfrm>
            <a:off x="457200" y="1554480"/>
            <a:ext cx="3566160" cy="640080"/>
          </a:xfrm>
          <a:prstGeom prst="roundRect">
            <a:avLst>
              <a:gd name="adj" fmla="val 17143"/>
            </a:avLst>
          </a:prstGeom>
          <a:solidFill>
            <a:srgbClr val="E14B4B"/>
          </a:solidFill>
          <a:ln/>
        </p:spPr>
      </p:sp>
      <p:sp>
        <p:nvSpPr>
          <p:cNvPr id="7" name="Text 5"/>
          <p:cNvSpPr/>
          <p:nvPr/>
        </p:nvSpPr>
        <p:spPr>
          <a:xfrm>
            <a:off x="457200" y="1554480"/>
            <a:ext cx="35661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01</a:t>
            </a:r>
            <a:endParaRPr lang="en-US" sz="2800" dirty="0"/>
          </a:p>
        </p:txBody>
      </p:sp>
      <p:sp>
        <p:nvSpPr>
          <p:cNvPr id="8" name="Text 6"/>
          <p:cNvSpPr/>
          <p:nvPr/>
        </p:nvSpPr>
        <p:spPr>
          <a:xfrm>
            <a:off x="621792" y="2267712"/>
            <a:ext cx="3246120" cy="777240"/>
          </a:xfrm>
          <a:prstGeom prst="rect">
            <a:avLst/>
          </a:prstGeom>
          <a:noFill/>
          <a:ln/>
        </p:spPr>
        <p:txBody>
          <a:bodyPr wrap="square" lIns="0" tIns="0" rIns="0" bIns="0" rtlCol="0" anchor="ctr"/>
          <a:lstStyle/>
          <a:p>
            <a:pPr indent="0" marL="0">
              <a:buNone/>
            </a:pPr>
            <a:r>
              <a:rPr lang="en-US" sz="1200" b="1" dirty="0">
                <a:solidFill>
                  <a:srgbClr val="1E2A3A"/>
                </a:solidFill>
              </a:rPr>
              <a:t>TalentNow's Connect model is architecturally better for WRP</a:t>
            </a:r>
            <a:endParaRPr lang="en-US" sz="1200" dirty="0"/>
          </a:p>
        </p:txBody>
      </p:sp>
      <p:sp>
        <p:nvSpPr>
          <p:cNvPr id="9" name="Text 7"/>
          <p:cNvSpPr/>
          <p:nvPr/>
        </p:nvSpPr>
        <p:spPr>
          <a:xfrm>
            <a:off x="621792" y="3063240"/>
            <a:ext cx="3246120" cy="2286000"/>
          </a:xfrm>
          <a:prstGeom prst="rect">
            <a:avLst/>
          </a:prstGeom>
          <a:noFill/>
          <a:ln/>
        </p:spPr>
        <p:txBody>
          <a:bodyPr wrap="square" lIns="0" tIns="0" rIns="0" bIns="0" rtlCol="0" anchor="ctr"/>
          <a:lstStyle/>
          <a:p>
            <a:pPr indent="0" marL="0">
              <a:buNone/>
            </a:pPr>
            <a:r>
              <a:rPr lang="en-US" sz="1100" dirty="0">
                <a:solidFill>
                  <a:srgbClr val="334155"/>
                </a:solidFill>
              </a:rPr>
              <a:t>Their $30/shift marketplace model lets centres employ educators directly — making them WRP-eligible. This is structurally cheaper than any traditional agency and Raw Talent currently has no equivalent offer.</a:t>
            </a:r>
            <a:endParaRPr lang="en-US" sz="1100" dirty="0"/>
          </a:p>
        </p:txBody>
      </p:sp>
      <p:sp>
        <p:nvSpPr>
          <p:cNvPr id="10" name="Shape 8"/>
          <p:cNvSpPr/>
          <p:nvPr/>
        </p:nvSpPr>
        <p:spPr>
          <a:xfrm>
            <a:off x="4206240" y="1554480"/>
            <a:ext cx="3566160" cy="4114800"/>
          </a:xfrm>
          <a:prstGeom prst="roundRect">
            <a:avLst>
              <a:gd name="adj" fmla="val 3077"/>
            </a:avLst>
          </a:prstGeom>
          <a:solidFill>
            <a:srgbClr val="F7F8FD"/>
          </a:solidFill>
          <a:ln/>
          <a:effectLst>
            <a:outerShdw sx="100000" sy="100000" kx="0" ky="0" algn="bl" rotWithShape="0" blurRad="101600" dist="25400" dir="2700000">
              <a:srgbClr val="000000">
                <a:alpha val="8000"/>
              </a:srgbClr>
            </a:outerShdw>
          </a:effectLst>
        </p:spPr>
      </p:sp>
      <p:sp>
        <p:nvSpPr>
          <p:cNvPr id="11" name="Shape 9"/>
          <p:cNvSpPr/>
          <p:nvPr/>
        </p:nvSpPr>
        <p:spPr>
          <a:xfrm>
            <a:off x="4206240" y="1554480"/>
            <a:ext cx="3566160" cy="640080"/>
          </a:xfrm>
          <a:prstGeom prst="roundRect">
            <a:avLst>
              <a:gd name="adj" fmla="val 17143"/>
            </a:avLst>
          </a:prstGeom>
          <a:solidFill>
            <a:srgbClr val="F2A93B"/>
          </a:solidFill>
          <a:ln/>
        </p:spPr>
      </p:sp>
      <p:sp>
        <p:nvSpPr>
          <p:cNvPr id="12" name="Text 10"/>
          <p:cNvSpPr/>
          <p:nvPr/>
        </p:nvSpPr>
        <p:spPr>
          <a:xfrm>
            <a:off x="4206240" y="1554480"/>
            <a:ext cx="35661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02</a:t>
            </a:r>
            <a:endParaRPr lang="en-US" sz="2800" dirty="0"/>
          </a:p>
        </p:txBody>
      </p:sp>
      <p:sp>
        <p:nvSpPr>
          <p:cNvPr id="13" name="Text 11"/>
          <p:cNvSpPr/>
          <p:nvPr/>
        </p:nvSpPr>
        <p:spPr>
          <a:xfrm>
            <a:off x="4370832" y="2267712"/>
            <a:ext cx="3246120" cy="777240"/>
          </a:xfrm>
          <a:prstGeom prst="rect">
            <a:avLst/>
          </a:prstGeom>
          <a:noFill/>
          <a:ln/>
        </p:spPr>
        <p:txBody>
          <a:bodyPr wrap="square" lIns="0" tIns="0" rIns="0" bIns="0" rtlCol="0" anchor="ctr"/>
          <a:lstStyle/>
          <a:p>
            <a:pPr indent="0" marL="0">
              <a:buNone/>
            </a:pPr>
            <a:r>
              <a:rPr lang="en-US" sz="1200" b="1" dirty="0">
                <a:solidFill>
                  <a:srgbClr val="1E2A3A"/>
                </a:solidFill>
              </a:rPr>
              <a:t>Raw Talent's Edge SA win is a time-sensitive supply problem</a:t>
            </a:r>
            <a:endParaRPr lang="en-US" sz="1200" dirty="0"/>
          </a:p>
        </p:txBody>
      </p:sp>
      <p:sp>
        <p:nvSpPr>
          <p:cNvPr id="14" name="Text 12"/>
          <p:cNvSpPr/>
          <p:nvPr/>
        </p:nvSpPr>
        <p:spPr>
          <a:xfrm>
            <a:off x="4370832" y="3063240"/>
            <a:ext cx="3246120" cy="2286000"/>
          </a:xfrm>
          <a:prstGeom prst="rect">
            <a:avLst/>
          </a:prstGeom>
          <a:noFill/>
          <a:ln/>
        </p:spPr>
        <p:txBody>
          <a:bodyPr wrap="square" lIns="0" tIns="0" rIns="0" bIns="0" rtlCol="0" anchor="ctr"/>
          <a:lstStyle/>
          <a:p>
            <a:pPr indent="0" marL="0">
              <a:buNone/>
            </a:pPr>
            <a:r>
              <a:rPr lang="en-US" sz="1100" dirty="0">
                <a:solidFill>
                  <a:srgbClr val="334155"/>
                </a:solidFill>
              </a:rPr>
              <a:t>Edge confirmed us as priority agency. The risk is not competition — it's supply. We don't have enough active, compliant SA educators to fill the volume Edge will generate. This must be fixed now.</a:t>
            </a:r>
            <a:endParaRPr lang="en-US" sz="1100" dirty="0"/>
          </a:p>
        </p:txBody>
      </p:sp>
      <p:sp>
        <p:nvSpPr>
          <p:cNvPr id="15" name="Shape 13"/>
          <p:cNvSpPr/>
          <p:nvPr/>
        </p:nvSpPr>
        <p:spPr>
          <a:xfrm>
            <a:off x="7955280" y="1554480"/>
            <a:ext cx="3566160" cy="4114800"/>
          </a:xfrm>
          <a:prstGeom prst="roundRect">
            <a:avLst>
              <a:gd name="adj" fmla="val 3077"/>
            </a:avLst>
          </a:prstGeom>
          <a:solidFill>
            <a:srgbClr val="F7F8FD"/>
          </a:solidFill>
          <a:ln/>
          <a:effectLst>
            <a:outerShdw sx="100000" sy="100000" kx="0" ky="0" algn="bl" rotWithShape="0" blurRad="101600" dist="25400" dir="2700000">
              <a:srgbClr val="000000">
                <a:alpha val="8000"/>
              </a:srgbClr>
            </a:outerShdw>
          </a:effectLst>
        </p:spPr>
      </p:sp>
      <p:sp>
        <p:nvSpPr>
          <p:cNvPr id="16" name="Shape 14"/>
          <p:cNvSpPr/>
          <p:nvPr/>
        </p:nvSpPr>
        <p:spPr>
          <a:xfrm>
            <a:off x="7955280" y="1554480"/>
            <a:ext cx="3566160" cy="640080"/>
          </a:xfrm>
          <a:prstGeom prst="roundRect">
            <a:avLst>
              <a:gd name="adj" fmla="val 17143"/>
            </a:avLst>
          </a:prstGeom>
          <a:solidFill>
            <a:srgbClr val="27AE60"/>
          </a:solidFill>
          <a:ln/>
        </p:spPr>
      </p:sp>
      <p:sp>
        <p:nvSpPr>
          <p:cNvPr id="17" name="Text 15"/>
          <p:cNvSpPr/>
          <p:nvPr/>
        </p:nvSpPr>
        <p:spPr>
          <a:xfrm>
            <a:off x="7955280" y="1554480"/>
            <a:ext cx="35661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03</a:t>
            </a:r>
            <a:endParaRPr lang="en-US" sz="2800" dirty="0"/>
          </a:p>
        </p:txBody>
      </p:sp>
      <p:sp>
        <p:nvSpPr>
          <p:cNvPr id="18" name="Text 16"/>
          <p:cNvSpPr/>
          <p:nvPr/>
        </p:nvSpPr>
        <p:spPr>
          <a:xfrm>
            <a:off x="8119872" y="2267712"/>
            <a:ext cx="3246120" cy="777240"/>
          </a:xfrm>
          <a:prstGeom prst="rect">
            <a:avLst/>
          </a:prstGeom>
          <a:noFill/>
          <a:ln/>
        </p:spPr>
        <p:txBody>
          <a:bodyPr wrap="square" lIns="0" tIns="0" rIns="0" bIns="0" rtlCol="0" anchor="ctr"/>
          <a:lstStyle/>
          <a:p>
            <a:pPr indent="0" marL="0">
              <a:buNone/>
            </a:pPr>
            <a:r>
              <a:rPr lang="en-US" sz="1200" b="1" dirty="0">
                <a:solidFill>
                  <a:srgbClr val="1E2A3A"/>
                </a:solidFill>
              </a:rPr>
              <a:t>Raw Talent's human advantage is defensible — but only if we act</a:t>
            </a:r>
            <a:endParaRPr lang="en-US" sz="1200" dirty="0"/>
          </a:p>
        </p:txBody>
      </p:sp>
      <p:sp>
        <p:nvSpPr>
          <p:cNvPr id="19" name="Text 17"/>
          <p:cNvSpPr/>
          <p:nvPr/>
        </p:nvSpPr>
        <p:spPr>
          <a:xfrm>
            <a:off x="8119872" y="3063240"/>
            <a:ext cx="3246120" cy="2286000"/>
          </a:xfrm>
          <a:prstGeom prst="rect">
            <a:avLst/>
          </a:prstGeom>
          <a:noFill/>
          <a:ln/>
        </p:spPr>
        <p:txBody>
          <a:bodyPr wrap="square" lIns="0" tIns="0" rIns="0" bIns="0" rtlCol="0" anchor="ctr"/>
          <a:lstStyle/>
          <a:p>
            <a:pPr indent="0" marL="0">
              <a:buNone/>
            </a:pPr>
            <a:r>
              <a:rPr lang="en-US" sz="1100" dirty="0">
                <a:solidFill>
                  <a:srgbClr val="334155"/>
                </a:solidFill>
              </a:rPr>
              <a:t>Liam's centre visits, personal relationships, and SA-specific compliance knowledge are things TalentNow cannot replicate from NSW. But TalentNow is 8 years ahead in technology. We must close the operational gaps urgently.</a:t>
            </a:r>
            <a:endParaRPr lang="en-US" sz="1100" dirty="0"/>
          </a:p>
        </p:txBody>
      </p:sp>
      <p:sp>
        <p:nvSpPr>
          <p:cNvPr id="20" name="Text 18"/>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TalentNow.com.au | ACECQA | ACA Worker Retention Payment | Raw Talent internal data | Joy Victoria analysis, June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E14B4B"/>
          </a:solidFill>
          <a:ln w="12700">
            <a:solidFill>
              <a:srgbClr val="E14B4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COMPETITOR PROFILE</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Who Is TalentNow?</a:t>
            </a:r>
            <a:endParaRPr lang="en-US" sz="3000" dirty="0"/>
          </a:p>
        </p:txBody>
      </p:sp>
      <p:sp>
        <p:nvSpPr>
          <p:cNvPr id="5" name="Shape 3"/>
          <p:cNvSpPr/>
          <p:nvPr/>
        </p:nvSpPr>
        <p:spPr>
          <a:xfrm>
            <a:off x="457200" y="1508760"/>
            <a:ext cx="1645920" cy="566928"/>
          </a:xfrm>
          <a:prstGeom prst="rect">
            <a:avLst/>
          </a:prstGeom>
          <a:solidFill>
            <a:srgbClr val="1E2A3A"/>
          </a:solidFill>
          <a:ln w="12700">
            <a:solidFill>
              <a:srgbClr val="1E2A3A"/>
            </a:solidFill>
            <a:prstDash val="solid"/>
          </a:ln>
        </p:spPr>
      </p:sp>
      <p:sp>
        <p:nvSpPr>
          <p:cNvPr id="6" name="Text 4"/>
          <p:cNvSpPr/>
          <p:nvPr/>
        </p:nvSpPr>
        <p:spPr>
          <a:xfrm>
            <a:off x="457200" y="15087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Founded</a:t>
            </a:r>
            <a:endParaRPr lang="en-US" sz="1000" dirty="0"/>
          </a:p>
        </p:txBody>
      </p:sp>
      <p:sp>
        <p:nvSpPr>
          <p:cNvPr id="7" name="Shape 5"/>
          <p:cNvSpPr/>
          <p:nvPr/>
        </p:nvSpPr>
        <p:spPr>
          <a:xfrm>
            <a:off x="2121408" y="1508760"/>
            <a:ext cx="4846320" cy="566928"/>
          </a:xfrm>
          <a:prstGeom prst="rect">
            <a:avLst/>
          </a:prstGeom>
          <a:solidFill>
            <a:srgbClr val="F7F8FD"/>
          </a:solidFill>
          <a:ln w="12700">
            <a:solidFill>
              <a:srgbClr val="E2E8F0"/>
            </a:solidFill>
            <a:prstDash val="solid"/>
          </a:ln>
        </p:spPr>
      </p:sp>
      <p:sp>
        <p:nvSpPr>
          <p:cNvPr id="8" name="Text 6"/>
          <p:cNvSpPr/>
          <p:nvPr/>
        </p:nvSpPr>
        <p:spPr>
          <a:xfrm>
            <a:off x="2194560" y="15087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2018 by Liddy Korner, Mosman NSW</a:t>
            </a:r>
            <a:endParaRPr lang="en-US" sz="1100" dirty="0"/>
          </a:p>
        </p:txBody>
      </p:sp>
      <p:sp>
        <p:nvSpPr>
          <p:cNvPr id="9" name="Shape 7"/>
          <p:cNvSpPr/>
          <p:nvPr/>
        </p:nvSpPr>
        <p:spPr>
          <a:xfrm>
            <a:off x="457200" y="2194560"/>
            <a:ext cx="1645920" cy="566928"/>
          </a:xfrm>
          <a:prstGeom prst="rect">
            <a:avLst/>
          </a:prstGeom>
          <a:solidFill>
            <a:srgbClr val="1E2A3A"/>
          </a:solidFill>
          <a:ln w="12700">
            <a:solidFill>
              <a:srgbClr val="1E2A3A"/>
            </a:solidFill>
            <a:prstDash val="solid"/>
          </a:ln>
        </p:spPr>
      </p:sp>
      <p:sp>
        <p:nvSpPr>
          <p:cNvPr id="10" name="Text 8"/>
          <p:cNvSpPr/>
          <p:nvPr/>
        </p:nvSpPr>
        <p:spPr>
          <a:xfrm>
            <a:off x="457200" y="21945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Reach</a:t>
            </a:r>
            <a:endParaRPr lang="en-US" sz="1000" dirty="0"/>
          </a:p>
        </p:txBody>
      </p:sp>
      <p:sp>
        <p:nvSpPr>
          <p:cNvPr id="11" name="Shape 9"/>
          <p:cNvSpPr/>
          <p:nvPr/>
        </p:nvSpPr>
        <p:spPr>
          <a:xfrm>
            <a:off x="2121408" y="2194560"/>
            <a:ext cx="4846320" cy="566928"/>
          </a:xfrm>
          <a:prstGeom prst="rect">
            <a:avLst/>
          </a:prstGeom>
          <a:solidFill>
            <a:srgbClr val="F7F8FD"/>
          </a:solidFill>
          <a:ln w="12700">
            <a:solidFill>
              <a:srgbClr val="E2E8F0"/>
            </a:solidFill>
            <a:prstDash val="solid"/>
          </a:ln>
        </p:spPr>
      </p:sp>
      <p:sp>
        <p:nvSpPr>
          <p:cNvPr id="12" name="Text 10"/>
          <p:cNvSpPr/>
          <p:nvPr/>
        </p:nvSpPr>
        <p:spPr>
          <a:xfrm>
            <a:off x="2194560" y="21945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National — all states and territories</a:t>
            </a:r>
            <a:endParaRPr lang="en-US" sz="1100" dirty="0"/>
          </a:p>
        </p:txBody>
      </p:sp>
      <p:sp>
        <p:nvSpPr>
          <p:cNvPr id="13" name="Shape 11"/>
          <p:cNvSpPr/>
          <p:nvPr/>
        </p:nvSpPr>
        <p:spPr>
          <a:xfrm>
            <a:off x="457200" y="2880360"/>
            <a:ext cx="1645920" cy="566928"/>
          </a:xfrm>
          <a:prstGeom prst="rect">
            <a:avLst/>
          </a:prstGeom>
          <a:solidFill>
            <a:srgbClr val="1E2A3A"/>
          </a:solidFill>
          <a:ln w="12700">
            <a:solidFill>
              <a:srgbClr val="1E2A3A"/>
            </a:solidFill>
            <a:prstDash val="solid"/>
          </a:ln>
        </p:spPr>
      </p:sp>
      <p:sp>
        <p:nvSpPr>
          <p:cNvPr id="14" name="Text 12"/>
          <p:cNvSpPr/>
          <p:nvPr/>
        </p:nvSpPr>
        <p:spPr>
          <a:xfrm>
            <a:off x="457200" y="28803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Self-described</a:t>
            </a:r>
            <a:endParaRPr lang="en-US" sz="1000" dirty="0"/>
          </a:p>
        </p:txBody>
      </p:sp>
      <p:sp>
        <p:nvSpPr>
          <p:cNvPr id="15" name="Shape 13"/>
          <p:cNvSpPr/>
          <p:nvPr/>
        </p:nvSpPr>
        <p:spPr>
          <a:xfrm>
            <a:off x="2121408" y="2880360"/>
            <a:ext cx="4846320" cy="566928"/>
          </a:xfrm>
          <a:prstGeom prst="rect">
            <a:avLst/>
          </a:prstGeom>
          <a:solidFill>
            <a:srgbClr val="F7F8FD"/>
          </a:solidFill>
          <a:ln w="12700">
            <a:solidFill>
              <a:srgbClr val="E2E8F0"/>
            </a:solidFill>
            <a:prstDash val="solid"/>
          </a:ln>
        </p:spPr>
      </p:sp>
      <p:sp>
        <p:nvSpPr>
          <p:cNvPr id="16" name="Text 14"/>
          <p:cNvSpPr/>
          <p:nvPr/>
        </p:nvSpPr>
        <p:spPr>
          <a:xfrm>
            <a:off x="2194560" y="28803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"Uber of childcare" — first app-based ECEC staffing in Australia</a:t>
            </a:r>
            <a:endParaRPr lang="en-US" sz="1100" dirty="0"/>
          </a:p>
        </p:txBody>
      </p:sp>
      <p:sp>
        <p:nvSpPr>
          <p:cNvPr id="17" name="Shape 15"/>
          <p:cNvSpPr/>
          <p:nvPr/>
        </p:nvSpPr>
        <p:spPr>
          <a:xfrm>
            <a:off x="457200" y="3566160"/>
            <a:ext cx="1645920" cy="566928"/>
          </a:xfrm>
          <a:prstGeom prst="rect">
            <a:avLst/>
          </a:prstGeom>
          <a:solidFill>
            <a:srgbClr val="1E2A3A"/>
          </a:solidFill>
          <a:ln w="12700">
            <a:solidFill>
              <a:srgbClr val="1E2A3A"/>
            </a:solidFill>
            <a:prstDash val="solid"/>
          </a:ln>
        </p:spPr>
      </p:sp>
      <p:sp>
        <p:nvSpPr>
          <p:cNvPr id="18" name="Text 16"/>
          <p:cNvSpPr/>
          <p:nvPr/>
        </p:nvSpPr>
        <p:spPr>
          <a:xfrm>
            <a:off x="457200" y="35661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Ownership</a:t>
            </a:r>
            <a:endParaRPr lang="en-US" sz="1000" dirty="0"/>
          </a:p>
        </p:txBody>
      </p:sp>
      <p:sp>
        <p:nvSpPr>
          <p:cNvPr id="19" name="Shape 17"/>
          <p:cNvSpPr/>
          <p:nvPr/>
        </p:nvSpPr>
        <p:spPr>
          <a:xfrm>
            <a:off x="2121408" y="3566160"/>
            <a:ext cx="4846320" cy="566928"/>
          </a:xfrm>
          <a:prstGeom prst="rect">
            <a:avLst/>
          </a:prstGeom>
          <a:solidFill>
            <a:srgbClr val="F7F8FD"/>
          </a:solidFill>
          <a:ln w="12700">
            <a:solidFill>
              <a:srgbClr val="E2E8F0"/>
            </a:solidFill>
            <a:prstDash val="solid"/>
          </a:ln>
        </p:spPr>
      </p:sp>
      <p:sp>
        <p:nvSpPr>
          <p:cNvPr id="20" name="Text 18"/>
          <p:cNvSpPr/>
          <p:nvPr/>
        </p:nvSpPr>
        <p:spPr>
          <a:xfrm>
            <a:off x="2194560" y="35661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Independent — not owned by any childcare provider</a:t>
            </a:r>
            <a:endParaRPr lang="en-US" sz="1100" dirty="0"/>
          </a:p>
        </p:txBody>
      </p:sp>
      <p:sp>
        <p:nvSpPr>
          <p:cNvPr id="21" name="Shape 19"/>
          <p:cNvSpPr/>
          <p:nvPr/>
        </p:nvSpPr>
        <p:spPr>
          <a:xfrm>
            <a:off x="457200" y="4251960"/>
            <a:ext cx="1645920" cy="566928"/>
          </a:xfrm>
          <a:prstGeom prst="rect">
            <a:avLst/>
          </a:prstGeom>
          <a:solidFill>
            <a:srgbClr val="1E2A3A"/>
          </a:solidFill>
          <a:ln w="12700">
            <a:solidFill>
              <a:srgbClr val="1E2A3A"/>
            </a:solidFill>
            <a:prstDash val="solid"/>
          </a:ln>
        </p:spPr>
      </p:sp>
      <p:sp>
        <p:nvSpPr>
          <p:cNvPr id="22" name="Text 20"/>
          <p:cNvSpPr/>
          <p:nvPr/>
        </p:nvSpPr>
        <p:spPr>
          <a:xfrm>
            <a:off x="457200" y="42519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App</a:t>
            </a:r>
            <a:endParaRPr lang="en-US" sz="1000" dirty="0"/>
          </a:p>
        </p:txBody>
      </p:sp>
      <p:sp>
        <p:nvSpPr>
          <p:cNvPr id="23" name="Shape 21"/>
          <p:cNvSpPr/>
          <p:nvPr/>
        </p:nvSpPr>
        <p:spPr>
          <a:xfrm>
            <a:off x="2121408" y="4251960"/>
            <a:ext cx="4846320" cy="566928"/>
          </a:xfrm>
          <a:prstGeom prst="rect">
            <a:avLst/>
          </a:prstGeom>
          <a:solidFill>
            <a:srgbClr val="F7F8FD"/>
          </a:solidFill>
          <a:ln w="12700">
            <a:solidFill>
              <a:srgbClr val="E2E8F0"/>
            </a:solidFill>
            <a:prstDash val="solid"/>
          </a:ln>
        </p:spPr>
      </p:sp>
      <p:sp>
        <p:nvSpPr>
          <p:cNvPr id="24" name="Text 22"/>
          <p:cNvSpPr/>
          <p:nvPr/>
        </p:nvSpPr>
        <p:spPr>
          <a:xfrm>
            <a:off x="2194560" y="42519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Free iOS + Android — educators sign up in minutes</a:t>
            </a:r>
            <a:endParaRPr lang="en-US" sz="1100" dirty="0"/>
          </a:p>
        </p:txBody>
      </p:sp>
      <p:sp>
        <p:nvSpPr>
          <p:cNvPr id="25" name="Shape 23"/>
          <p:cNvSpPr/>
          <p:nvPr/>
        </p:nvSpPr>
        <p:spPr>
          <a:xfrm>
            <a:off x="457200" y="4937760"/>
            <a:ext cx="1645920" cy="566928"/>
          </a:xfrm>
          <a:prstGeom prst="rect">
            <a:avLst/>
          </a:prstGeom>
          <a:solidFill>
            <a:srgbClr val="1E2A3A"/>
          </a:solidFill>
          <a:ln w="12700">
            <a:solidFill>
              <a:srgbClr val="1E2A3A"/>
            </a:solidFill>
            <a:prstDash val="solid"/>
          </a:ln>
        </p:spPr>
      </p:sp>
      <p:sp>
        <p:nvSpPr>
          <p:cNvPr id="26" name="Text 24"/>
          <p:cNvSpPr/>
          <p:nvPr/>
        </p:nvSpPr>
        <p:spPr>
          <a:xfrm>
            <a:off x="457200" y="4937760"/>
            <a:ext cx="1645920" cy="566928"/>
          </a:xfrm>
          <a:prstGeom prst="rect">
            <a:avLst/>
          </a:prstGeom>
          <a:noFill/>
          <a:ln/>
        </p:spPr>
        <p:txBody>
          <a:bodyPr wrap="square" lIns="0" tIns="0" rIns="0" bIns="0" rtlCol="0" anchor="ctr"/>
          <a:lstStyle/>
          <a:p>
            <a:pPr algn="ctr" indent="0" marL="0">
              <a:buNone/>
            </a:pPr>
            <a:r>
              <a:rPr lang="en-US" sz="1000" b="1" dirty="0">
                <a:solidFill>
                  <a:srgbClr val="FFFFFF"/>
                </a:solidFill>
              </a:rPr>
              <a:t>Contact</a:t>
            </a:r>
            <a:endParaRPr lang="en-US" sz="1000" dirty="0"/>
          </a:p>
        </p:txBody>
      </p:sp>
      <p:sp>
        <p:nvSpPr>
          <p:cNvPr id="27" name="Shape 25"/>
          <p:cNvSpPr/>
          <p:nvPr/>
        </p:nvSpPr>
        <p:spPr>
          <a:xfrm>
            <a:off x="2121408" y="4937760"/>
            <a:ext cx="4846320" cy="566928"/>
          </a:xfrm>
          <a:prstGeom prst="rect">
            <a:avLst/>
          </a:prstGeom>
          <a:solidFill>
            <a:srgbClr val="F7F8FD"/>
          </a:solidFill>
          <a:ln w="12700">
            <a:solidFill>
              <a:srgbClr val="E2E8F0"/>
            </a:solidFill>
            <a:prstDash val="solid"/>
          </a:ln>
        </p:spPr>
      </p:sp>
      <p:sp>
        <p:nvSpPr>
          <p:cNvPr id="28" name="Text 26"/>
          <p:cNvSpPr/>
          <p:nvPr/>
        </p:nvSpPr>
        <p:spPr>
          <a:xfrm>
            <a:off x="2194560" y="4937760"/>
            <a:ext cx="4709160" cy="566928"/>
          </a:xfrm>
          <a:prstGeom prst="rect">
            <a:avLst/>
          </a:prstGeom>
          <a:noFill/>
          <a:ln/>
        </p:spPr>
        <p:txBody>
          <a:bodyPr wrap="square" lIns="0" tIns="0" rIns="0" bIns="0" rtlCol="0" anchor="ctr"/>
          <a:lstStyle/>
          <a:p>
            <a:pPr indent="0" marL="0">
              <a:buNone/>
            </a:pPr>
            <a:r>
              <a:rPr lang="en-US" sz="1100" dirty="0">
                <a:solidFill>
                  <a:srgbClr val="334155"/>
                </a:solidFill>
              </a:rPr>
              <a:t>1800 840 889  ·  info@talentnow.com.au</a:t>
            </a:r>
            <a:endParaRPr lang="en-US" sz="1100" dirty="0"/>
          </a:p>
        </p:txBody>
      </p:sp>
      <p:sp>
        <p:nvSpPr>
          <p:cNvPr id="29" name="Shape 27"/>
          <p:cNvSpPr/>
          <p:nvPr/>
        </p:nvSpPr>
        <p:spPr>
          <a:xfrm>
            <a:off x="7589520" y="1463040"/>
            <a:ext cx="4114800" cy="1097280"/>
          </a:xfrm>
          <a:prstGeom prst="roundRect">
            <a:avLst>
              <a:gd name="adj" fmla="val 8333"/>
            </a:avLst>
          </a:prstGeom>
          <a:solidFill>
            <a:srgbClr val="1E2A3A"/>
          </a:solidFill>
          <a:ln/>
        </p:spPr>
      </p:sp>
      <p:sp>
        <p:nvSpPr>
          <p:cNvPr id="30" name="Text 28"/>
          <p:cNvSpPr/>
          <p:nvPr/>
        </p:nvSpPr>
        <p:spPr>
          <a:xfrm>
            <a:off x="7589520" y="150876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8</a:t>
            </a:r>
            <a:endParaRPr lang="en-US" sz="3200" dirty="0"/>
          </a:p>
        </p:txBody>
      </p:sp>
      <p:sp>
        <p:nvSpPr>
          <p:cNvPr id="31" name="Text 29"/>
          <p:cNvSpPr/>
          <p:nvPr/>
        </p:nvSpPr>
        <p:spPr>
          <a:xfrm>
            <a:off x="7589520" y="202996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Years operating (2018–2026)</a:t>
            </a:r>
            <a:endParaRPr lang="en-US" sz="1000" dirty="0"/>
          </a:p>
        </p:txBody>
      </p:sp>
      <p:sp>
        <p:nvSpPr>
          <p:cNvPr id="32" name="Shape 30"/>
          <p:cNvSpPr/>
          <p:nvPr/>
        </p:nvSpPr>
        <p:spPr>
          <a:xfrm>
            <a:off x="7589520" y="2697480"/>
            <a:ext cx="4114800" cy="1097280"/>
          </a:xfrm>
          <a:prstGeom prst="roundRect">
            <a:avLst>
              <a:gd name="adj" fmla="val 8333"/>
            </a:avLst>
          </a:prstGeom>
          <a:solidFill>
            <a:srgbClr val="3A6FF8"/>
          </a:solidFill>
          <a:ln/>
        </p:spPr>
      </p:sp>
      <p:sp>
        <p:nvSpPr>
          <p:cNvPr id="33" name="Text 31"/>
          <p:cNvSpPr/>
          <p:nvPr/>
        </p:nvSpPr>
        <p:spPr>
          <a:xfrm>
            <a:off x="7589520" y="274320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a:t>
            </a:r>
            <a:endParaRPr lang="en-US" sz="3200" dirty="0"/>
          </a:p>
        </p:txBody>
      </p:sp>
      <p:sp>
        <p:nvSpPr>
          <p:cNvPr id="34" name="Text 32"/>
          <p:cNvSpPr/>
          <p:nvPr/>
        </p:nvSpPr>
        <p:spPr>
          <a:xfrm>
            <a:off x="7589520" y="326440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Distinct products (Connect + Casual Hire)</a:t>
            </a:r>
            <a:endParaRPr lang="en-US" sz="1000" dirty="0"/>
          </a:p>
        </p:txBody>
      </p:sp>
      <p:sp>
        <p:nvSpPr>
          <p:cNvPr id="35" name="Shape 33"/>
          <p:cNvSpPr/>
          <p:nvPr/>
        </p:nvSpPr>
        <p:spPr>
          <a:xfrm>
            <a:off x="7589520" y="3931920"/>
            <a:ext cx="4114800" cy="1097280"/>
          </a:xfrm>
          <a:prstGeom prst="roundRect">
            <a:avLst>
              <a:gd name="adj" fmla="val 8333"/>
            </a:avLst>
          </a:prstGeom>
          <a:solidFill>
            <a:srgbClr val="1E2A3A"/>
          </a:solidFill>
          <a:ln/>
        </p:spPr>
      </p:sp>
      <p:sp>
        <p:nvSpPr>
          <p:cNvPr id="36" name="Text 34"/>
          <p:cNvSpPr/>
          <p:nvPr/>
        </p:nvSpPr>
        <p:spPr>
          <a:xfrm>
            <a:off x="7589520" y="397764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$30</a:t>
            </a:r>
            <a:endParaRPr lang="en-US" sz="3200" dirty="0"/>
          </a:p>
        </p:txBody>
      </p:sp>
      <p:sp>
        <p:nvSpPr>
          <p:cNvPr id="37" name="Text 35"/>
          <p:cNvSpPr/>
          <p:nvPr/>
        </p:nvSpPr>
        <p:spPr>
          <a:xfrm>
            <a:off x="7589520" y="449884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Flat booking fee per shift (Connect model)</a:t>
            </a:r>
            <a:endParaRPr lang="en-US" sz="1000" dirty="0"/>
          </a:p>
        </p:txBody>
      </p:sp>
      <p:sp>
        <p:nvSpPr>
          <p:cNvPr id="38" name="Shape 36"/>
          <p:cNvSpPr/>
          <p:nvPr/>
        </p:nvSpPr>
        <p:spPr>
          <a:xfrm>
            <a:off x="7589520" y="5166360"/>
            <a:ext cx="4114800" cy="1097280"/>
          </a:xfrm>
          <a:prstGeom prst="roundRect">
            <a:avLst>
              <a:gd name="adj" fmla="val 8333"/>
            </a:avLst>
          </a:prstGeom>
          <a:solidFill>
            <a:srgbClr val="3A6FF8"/>
          </a:solidFill>
          <a:ln/>
        </p:spPr>
      </p:sp>
      <p:sp>
        <p:nvSpPr>
          <p:cNvPr id="39" name="Text 37"/>
          <p:cNvSpPr/>
          <p:nvPr/>
        </p:nvSpPr>
        <p:spPr>
          <a:xfrm>
            <a:off x="7589520" y="5212080"/>
            <a:ext cx="41148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National</a:t>
            </a:r>
            <a:endParaRPr lang="en-US" sz="3200" dirty="0"/>
          </a:p>
        </p:txBody>
      </p:sp>
      <p:sp>
        <p:nvSpPr>
          <p:cNvPr id="40" name="Text 38"/>
          <p:cNvSpPr/>
          <p:nvPr/>
        </p:nvSpPr>
        <p:spPr>
          <a:xfrm>
            <a:off x="7589520" y="5733288"/>
            <a:ext cx="4114800" cy="384048"/>
          </a:xfrm>
          <a:prstGeom prst="rect">
            <a:avLst/>
          </a:prstGeom>
          <a:noFill/>
          <a:ln/>
        </p:spPr>
        <p:txBody>
          <a:bodyPr wrap="square" lIns="0" tIns="0" rIns="0" bIns="0" rtlCol="0" anchor="ctr"/>
          <a:lstStyle/>
          <a:p>
            <a:pPr algn="ctr" indent="0" marL="0">
              <a:buNone/>
            </a:pPr>
            <a:r>
              <a:rPr lang="en-US" sz="1000" dirty="0">
                <a:solidFill>
                  <a:srgbClr val="AABCFF"/>
                </a:solidFill>
              </a:rPr>
              <a:t>Educator pool across all AU states</a:t>
            </a:r>
            <a:endParaRPr lang="en-US" sz="1000" dirty="0"/>
          </a:p>
        </p:txBody>
      </p:sp>
      <p:sp>
        <p:nvSpPr>
          <p:cNvPr id="41" name="Text 39"/>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TalentNow.com.au | TheSector.com.au (Feb 2025) — 'Talent Now utilises Employment Hero integration to better serve ECEC services'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3A6FF8"/>
          </a:solidFill>
          <a:ln w="12700">
            <a:solidFill>
              <a:srgbClr val="3A6FF8"/>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BUSINESS MODEL</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TalentNow Has Two Models — We Only Have One</a:t>
            </a:r>
            <a:endParaRPr lang="en-US" sz="3000" dirty="0"/>
          </a:p>
        </p:txBody>
      </p:sp>
      <p:sp>
        <p:nvSpPr>
          <p:cNvPr id="5" name="Shape 3"/>
          <p:cNvSpPr/>
          <p:nvPr/>
        </p:nvSpPr>
        <p:spPr>
          <a:xfrm>
            <a:off x="365760" y="1371600"/>
            <a:ext cx="3749040" cy="457200"/>
          </a:xfrm>
          <a:prstGeom prst="roundRect">
            <a:avLst>
              <a:gd name="adj" fmla="val 16000"/>
            </a:avLst>
          </a:prstGeom>
          <a:solidFill>
            <a:srgbClr val="E14B4B"/>
          </a:solidFill>
          <a:ln/>
        </p:spPr>
      </p:sp>
      <p:sp>
        <p:nvSpPr>
          <p:cNvPr id="6" name="Text 4"/>
          <p:cNvSpPr/>
          <p:nvPr/>
        </p:nvSpPr>
        <p:spPr>
          <a:xfrm>
            <a:off x="365760" y="137160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rPr>
              <a:t>TalentNow CONNECT</a:t>
            </a:r>
            <a:endParaRPr lang="en-US" sz="1200" dirty="0"/>
          </a:p>
        </p:txBody>
      </p:sp>
      <p:sp>
        <p:nvSpPr>
          <p:cNvPr id="7" name="Shape 5"/>
          <p:cNvSpPr/>
          <p:nvPr/>
        </p:nvSpPr>
        <p:spPr>
          <a:xfrm>
            <a:off x="4206240" y="1371600"/>
            <a:ext cx="3749040" cy="457200"/>
          </a:xfrm>
          <a:prstGeom prst="roundRect">
            <a:avLst>
              <a:gd name="adj" fmla="val 16000"/>
            </a:avLst>
          </a:prstGeom>
          <a:solidFill>
            <a:srgbClr val="3A6FF8"/>
          </a:solidFill>
          <a:ln/>
        </p:spPr>
      </p:sp>
      <p:sp>
        <p:nvSpPr>
          <p:cNvPr id="8" name="Text 6"/>
          <p:cNvSpPr/>
          <p:nvPr/>
        </p:nvSpPr>
        <p:spPr>
          <a:xfrm>
            <a:off x="4206240" y="137160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rPr>
              <a:t>TalentNow CASUAL HIRE</a:t>
            </a:r>
            <a:endParaRPr lang="en-US" sz="1200" dirty="0"/>
          </a:p>
        </p:txBody>
      </p:sp>
      <p:sp>
        <p:nvSpPr>
          <p:cNvPr id="9" name="Shape 7"/>
          <p:cNvSpPr/>
          <p:nvPr/>
        </p:nvSpPr>
        <p:spPr>
          <a:xfrm>
            <a:off x="8046720" y="1371600"/>
            <a:ext cx="3749040" cy="457200"/>
          </a:xfrm>
          <a:prstGeom prst="roundRect">
            <a:avLst>
              <a:gd name="adj" fmla="val 16000"/>
            </a:avLst>
          </a:prstGeom>
          <a:solidFill>
            <a:srgbClr val="27AE60"/>
          </a:solidFill>
          <a:ln/>
        </p:spPr>
      </p:sp>
      <p:sp>
        <p:nvSpPr>
          <p:cNvPr id="10" name="Text 8"/>
          <p:cNvSpPr/>
          <p:nvPr/>
        </p:nvSpPr>
        <p:spPr>
          <a:xfrm>
            <a:off x="8046720" y="1371600"/>
            <a:ext cx="3749040" cy="457200"/>
          </a:xfrm>
          <a:prstGeom prst="rect">
            <a:avLst/>
          </a:prstGeom>
          <a:noFill/>
          <a:ln/>
        </p:spPr>
        <p:txBody>
          <a:bodyPr wrap="square" lIns="0" tIns="0" rIns="0" bIns="0" rtlCol="0" anchor="ctr"/>
          <a:lstStyle/>
          <a:p>
            <a:pPr algn="ctr" indent="0" marL="0">
              <a:buNone/>
            </a:pPr>
            <a:r>
              <a:rPr lang="en-US" sz="1200" b="1" dirty="0">
                <a:solidFill>
                  <a:srgbClr val="FFFFFF"/>
                </a:solidFill>
              </a:rPr>
              <a:t>Raw Talent (Current)</a:t>
            </a:r>
            <a:endParaRPr lang="en-US" sz="1200" dirty="0"/>
          </a:p>
        </p:txBody>
      </p:sp>
      <p:sp>
        <p:nvSpPr>
          <p:cNvPr id="11" name="Shape 9"/>
          <p:cNvSpPr/>
          <p:nvPr/>
        </p:nvSpPr>
        <p:spPr>
          <a:xfrm>
            <a:off x="365760" y="1920240"/>
            <a:ext cx="3566160" cy="786384"/>
          </a:xfrm>
          <a:prstGeom prst="rect">
            <a:avLst/>
          </a:prstGeom>
          <a:solidFill>
            <a:srgbClr val="FFFFFF"/>
          </a:solidFill>
          <a:ln w="12700">
            <a:solidFill>
              <a:srgbClr val="E2E8F0"/>
            </a:solidFill>
            <a:prstDash val="solid"/>
          </a:ln>
        </p:spPr>
      </p:sp>
      <p:sp>
        <p:nvSpPr>
          <p:cNvPr id="12" name="Text 10"/>
          <p:cNvSpPr/>
          <p:nvPr/>
        </p:nvSpPr>
        <p:spPr>
          <a:xfrm>
            <a:off x="457200" y="1920240"/>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Who employs educator</a:t>
            </a:r>
            <a:endParaRPr lang="en-US" sz="1000" dirty="0"/>
          </a:p>
        </p:txBody>
      </p:sp>
      <p:sp>
        <p:nvSpPr>
          <p:cNvPr id="13" name="Shape 11"/>
          <p:cNvSpPr/>
          <p:nvPr/>
        </p:nvSpPr>
        <p:spPr>
          <a:xfrm>
            <a:off x="4114800" y="1920240"/>
            <a:ext cx="2606040" cy="786384"/>
          </a:xfrm>
          <a:prstGeom prst="rect">
            <a:avLst/>
          </a:prstGeom>
          <a:solidFill>
            <a:srgbClr val="FFF8F8"/>
          </a:solidFill>
          <a:ln w="12700">
            <a:solidFill>
              <a:srgbClr val="E2E8F0"/>
            </a:solidFill>
            <a:prstDash val="solid"/>
          </a:ln>
        </p:spPr>
      </p:sp>
      <p:sp>
        <p:nvSpPr>
          <p:cNvPr id="14" name="Text 12"/>
          <p:cNvSpPr/>
          <p:nvPr/>
        </p:nvSpPr>
        <p:spPr>
          <a:xfrm>
            <a:off x="4206240" y="1920240"/>
            <a:ext cx="2423160" cy="786384"/>
          </a:xfrm>
          <a:prstGeom prst="rect">
            <a:avLst/>
          </a:prstGeom>
          <a:noFill/>
          <a:ln/>
        </p:spPr>
        <p:txBody>
          <a:bodyPr wrap="square" lIns="0" tIns="0" rIns="0" bIns="0" rtlCol="0" anchor="ctr"/>
          <a:lstStyle/>
          <a:p>
            <a:pPr indent="0" marL="0">
              <a:buNone/>
            </a:pPr>
            <a:r>
              <a:rPr lang="en-US" sz="1000" dirty="0">
                <a:solidFill>
                  <a:srgbClr val="334155"/>
                </a:solidFill>
              </a:rPr>
              <a:t>Childcare CENTRE</a:t>
            </a:r>
            <a:endParaRPr lang="en-US" sz="1000" dirty="0"/>
          </a:p>
          <a:p>
            <a:pPr indent="0" marL="0">
              <a:buNone/>
            </a:pPr>
            <a:r>
              <a:rPr lang="en-US" sz="1000" dirty="0">
                <a:solidFill>
                  <a:srgbClr val="334155"/>
                </a:solidFill>
              </a:rPr>
              <a:t>(educator is their casual employee)</a:t>
            </a:r>
            <a:endParaRPr lang="en-US" sz="1000" dirty="0"/>
          </a:p>
        </p:txBody>
      </p:sp>
      <p:sp>
        <p:nvSpPr>
          <p:cNvPr id="15" name="Shape 13"/>
          <p:cNvSpPr/>
          <p:nvPr/>
        </p:nvSpPr>
        <p:spPr>
          <a:xfrm>
            <a:off x="6766560" y="1920240"/>
            <a:ext cx="2606040" cy="786384"/>
          </a:xfrm>
          <a:prstGeom prst="rect">
            <a:avLst/>
          </a:prstGeom>
          <a:solidFill>
            <a:srgbClr val="F5F9FF"/>
          </a:solidFill>
          <a:ln w="12700">
            <a:solidFill>
              <a:srgbClr val="E2E8F0"/>
            </a:solidFill>
            <a:prstDash val="solid"/>
          </a:ln>
        </p:spPr>
      </p:sp>
      <p:sp>
        <p:nvSpPr>
          <p:cNvPr id="16" name="Text 14"/>
          <p:cNvSpPr/>
          <p:nvPr/>
        </p:nvSpPr>
        <p:spPr>
          <a:xfrm>
            <a:off x="6858000" y="1920240"/>
            <a:ext cx="2423160" cy="786384"/>
          </a:xfrm>
          <a:prstGeom prst="rect">
            <a:avLst/>
          </a:prstGeom>
          <a:noFill/>
          <a:ln/>
        </p:spPr>
        <p:txBody>
          <a:bodyPr wrap="square" lIns="0" tIns="0" rIns="0" bIns="0" rtlCol="0" anchor="ctr"/>
          <a:lstStyle/>
          <a:p>
            <a:pPr indent="0" marL="0">
              <a:buNone/>
            </a:pPr>
            <a:r>
              <a:rPr lang="en-US" sz="1000" dirty="0">
                <a:solidFill>
                  <a:srgbClr val="334155"/>
                </a:solidFill>
              </a:rPr>
              <a:t>TalentNow</a:t>
            </a:r>
            <a:endParaRPr lang="en-US" sz="1000" dirty="0"/>
          </a:p>
          <a:p>
            <a:pPr indent="0" marL="0">
              <a:buNone/>
            </a:pPr>
            <a:r>
              <a:rPr lang="en-US" sz="1000" dirty="0">
                <a:solidFill>
                  <a:srgbClr val="334155"/>
                </a:solidFill>
              </a:rPr>
              <a:t>(agency model)</a:t>
            </a:r>
            <a:endParaRPr lang="en-US" sz="1000" dirty="0"/>
          </a:p>
        </p:txBody>
      </p:sp>
      <p:sp>
        <p:nvSpPr>
          <p:cNvPr id="17" name="Shape 15"/>
          <p:cNvSpPr/>
          <p:nvPr/>
        </p:nvSpPr>
        <p:spPr>
          <a:xfrm>
            <a:off x="9418320" y="1920240"/>
            <a:ext cx="2606040" cy="786384"/>
          </a:xfrm>
          <a:prstGeom prst="rect">
            <a:avLst/>
          </a:prstGeom>
          <a:solidFill>
            <a:srgbClr val="F5FFF8"/>
          </a:solidFill>
          <a:ln w="12700">
            <a:solidFill>
              <a:srgbClr val="E2E8F0"/>
            </a:solidFill>
            <a:prstDash val="solid"/>
          </a:ln>
        </p:spPr>
      </p:sp>
      <p:sp>
        <p:nvSpPr>
          <p:cNvPr id="18" name="Text 16"/>
          <p:cNvSpPr/>
          <p:nvPr/>
        </p:nvSpPr>
        <p:spPr>
          <a:xfrm>
            <a:off x="9509760" y="1920240"/>
            <a:ext cx="2423160" cy="786384"/>
          </a:xfrm>
          <a:prstGeom prst="rect">
            <a:avLst/>
          </a:prstGeom>
          <a:noFill/>
          <a:ln/>
        </p:spPr>
        <p:txBody>
          <a:bodyPr wrap="square" lIns="0" tIns="0" rIns="0" bIns="0" rtlCol="0" anchor="ctr"/>
          <a:lstStyle/>
          <a:p>
            <a:pPr indent="0" marL="0">
              <a:buNone/>
            </a:pPr>
            <a:r>
              <a:rPr lang="en-US" sz="1000" dirty="0">
                <a:solidFill>
                  <a:srgbClr val="334155"/>
                </a:solidFill>
              </a:rPr>
              <a:t>Raw Talent</a:t>
            </a:r>
            <a:endParaRPr lang="en-US" sz="1000" dirty="0"/>
          </a:p>
          <a:p>
            <a:pPr indent="0" marL="0">
              <a:buNone/>
            </a:pPr>
            <a:r>
              <a:rPr lang="en-US" sz="1000" dirty="0">
                <a:solidFill>
                  <a:srgbClr val="334155"/>
                </a:solidFill>
              </a:rPr>
              <a:t>(agency model)</a:t>
            </a:r>
            <a:endParaRPr lang="en-US" sz="1000" dirty="0"/>
          </a:p>
        </p:txBody>
      </p:sp>
      <p:sp>
        <p:nvSpPr>
          <p:cNvPr id="19" name="Shape 17"/>
          <p:cNvSpPr/>
          <p:nvPr/>
        </p:nvSpPr>
        <p:spPr>
          <a:xfrm>
            <a:off x="365760" y="2761488"/>
            <a:ext cx="3566160" cy="786384"/>
          </a:xfrm>
          <a:prstGeom prst="rect">
            <a:avLst/>
          </a:prstGeom>
          <a:solidFill>
            <a:srgbClr val="F7F8FD"/>
          </a:solidFill>
          <a:ln w="12700">
            <a:solidFill>
              <a:srgbClr val="E2E8F0"/>
            </a:solidFill>
            <a:prstDash val="solid"/>
          </a:ln>
        </p:spPr>
      </p:sp>
      <p:sp>
        <p:nvSpPr>
          <p:cNvPr id="20" name="Text 18"/>
          <p:cNvSpPr/>
          <p:nvPr/>
        </p:nvSpPr>
        <p:spPr>
          <a:xfrm>
            <a:off x="457200" y="2761488"/>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Cost to centre</a:t>
            </a:r>
            <a:endParaRPr lang="en-US" sz="1000" dirty="0"/>
          </a:p>
        </p:txBody>
      </p:sp>
      <p:sp>
        <p:nvSpPr>
          <p:cNvPr id="21" name="Shape 19"/>
          <p:cNvSpPr/>
          <p:nvPr/>
        </p:nvSpPr>
        <p:spPr>
          <a:xfrm>
            <a:off x="4114800" y="2761488"/>
            <a:ext cx="2606040" cy="786384"/>
          </a:xfrm>
          <a:prstGeom prst="rect">
            <a:avLst/>
          </a:prstGeom>
          <a:solidFill>
            <a:srgbClr val="FFF5F5"/>
          </a:solidFill>
          <a:ln w="12700">
            <a:solidFill>
              <a:srgbClr val="E2E8F0"/>
            </a:solidFill>
            <a:prstDash val="solid"/>
          </a:ln>
        </p:spPr>
      </p:sp>
      <p:sp>
        <p:nvSpPr>
          <p:cNvPr id="22" name="Text 20"/>
          <p:cNvSpPr/>
          <p:nvPr/>
        </p:nvSpPr>
        <p:spPr>
          <a:xfrm>
            <a:off x="4206240" y="2761488"/>
            <a:ext cx="2423160" cy="786384"/>
          </a:xfrm>
          <a:prstGeom prst="rect">
            <a:avLst/>
          </a:prstGeom>
          <a:noFill/>
          <a:ln/>
        </p:spPr>
        <p:txBody>
          <a:bodyPr wrap="square" lIns="0" tIns="0" rIns="0" bIns="0" rtlCol="0" anchor="ctr"/>
          <a:lstStyle/>
          <a:p>
            <a:pPr indent="0" marL="0">
              <a:buNone/>
            </a:pPr>
            <a:r>
              <a:rPr lang="en-US" sz="1000" dirty="0">
                <a:solidFill>
                  <a:srgbClr val="334155"/>
                </a:solidFill>
              </a:rPr>
              <a:t>$30 flat fee per shift</a:t>
            </a:r>
            <a:endParaRPr lang="en-US" sz="1000" dirty="0"/>
          </a:p>
          <a:p>
            <a:pPr indent="0" marL="0">
              <a:buNone/>
            </a:pPr>
            <a:r>
              <a:rPr lang="en-US" sz="1000" dirty="0">
                <a:solidFill>
                  <a:srgbClr val="334155"/>
                </a:solidFill>
              </a:rPr>
              <a:t>(any qualification, any duration)</a:t>
            </a:r>
            <a:endParaRPr lang="en-US" sz="1000" dirty="0"/>
          </a:p>
        </p:txBody>
      </p:sp>
      <p:sp>
        <p:nvSpPr>
          <p:cNvPr id="23" name="Shape 21"/>
          <p:cNvSpPr/>
          <p:nvPr/>
        </p:nvSpPr>
        <p:spPr>
          <a:xfrm>
            <a:off x="6766560" y="2761488"/>
            <a:ext cx="2606040" cy="786384"/>
          </a:xfrm>
          <a:prstGeom prst="rect">
            <a:avLst/>
          </a:prstGeom>
          <a:solidFill>
            <a:srgbClr val="F0F7FF"/>
          </a:solidFill>
          <a:ln w="12700">
            <a:solidFill>
              <a:srgbClr val="E2E8F0"/>
            </a:solidFill>
            <a:prstDash val="solid"/>
          </a:ln>
        </p:spPr>
      </p:sp>
      <p:sp>
        <p:nvSpPr>
          <p:cNvPr id="24" name="Text 22"/>
          <p:cNvSpPr/>
          <p:nvPr/>
        </p:nvSpPr>
        <p:spPr>
          <a:xfrm>
            <a:off x="6858000" y="2761488"/>
            <a:ext cx="2423160" cy="786384"/>
          </a:xfrm>
          <a:prstGeom prst="rect">
            <a:avLst/>
          </a:prstGeom>
          <a:noFill/>
          <a:ln/>
        </p:spPr>
        <p:txBody>
          <a:bodyPr wrap="square" lIns="0" tIns="0" rIns="0" bIns="0" rtlCol="0" anchor="ctr"/>
          <a:lstStyle/>
          <a:p>
            <a:pPr indent="0" marL="0">
              <a:buNone/>
            </a:pPr>
            <a:r>
              <a:rPr lang="en-US" sz="1000" dirty="0">
                <a:solidFill>
                  <a:srgbClr val="334155"/>
                </a:solidFill>
              </a:rPr>
              <a:t>Agency charge rate</a:t>
            </a:r>
            <a:endParaRPr lang="en-US" sz="1000" dirty="0"/>
          </a:p>
          <a:p>
            <a:pPr indent="0" marL="0">
              <a:buNone/>
            </a:pPr>
            <a:r>
              <a:rPr lang="en-US" sz="1000" dirty="0">
                <a:solidFill>
                  <a:srgbClr val="334155"/>
                </a:solidFill>
              </a:rPr>
              <a:t>(educator pay + margin)</a:t>
            </a:r>
            <a:endParaRPr lang="en-US" sz="1000" dirty="0"/>
          </a:p>
        </p:txBody>
      </p:sp>
      <p:sp>
        <p:nvSpPr>
          <p:cNvPr id="25" name="Shape 23"/>
          <p:cNvSpPr/>
          <p:nvPr/>
        </p:nvSpPr>
        <p:spPr>
          <a:xfrm>
            <a:off x="9418320" y="2761488"/>
            <a:ext cx="2606040" cy="786384"/>
          </a:xfrm>
          <a:prstGeom prst="rect">
            <a:avLst/>
          </a:prstGeom>
          <a:solidFill>
            <a:srgbClr val="F0FFF4"/>
          </a:solidFill>
          <a:ln w="12700">
            <a:solidFill>
              <a:srgbClr val="E2E8F0"/>
            </a:solidFill>
            <a:prstDash val="solid"/>
          </a:ln>
        </p:spPr>
      </p:sp>
      <p:sp>
        <p:nvSpPr>
          <p:cNvPr id="26" name="Text 24"/>
          <p:cNvSpPr/>
          <p:nvPr/>
        </p:nvSpPr>
        <p:spPr>
          <a:xfrm>
            <a:off x="9509760" y="2761488"/>
            <a:ext cx="2423160" cy="786384"/>
          </a:xfrm>
          <a:prstGeom prst="rect">
            <a:avLst/>
          </a:prstGeom>
          <a:noFill/>
          <a:ln/>
        </p:spPr>
        <p:txBody>
          <a:bodyPr wrap="square" lIns="0" tIns="0" rIns="0" bIns="0" rtlCol="0" anchor="ctr"/>
          <a:lstStyle/>
          <a:p>
            <a:pPr indent="0" marL="0">
              <a:buNone/>
            </a:pPr>
            <a:r>
              <a:rPr lang="en-US" sz="1000" dirty="0">
                <a:solidFill>
                  <a:srgbClr val="334155"/>
                </a:solidFill>
              </a:rPr>
              <a:t>Agency charge rate</a:t>
            </a:r>
            <a:endParaRPr lang="en-US" sz="1000" dirty="0"/>
          </a:p>
          <a:p>
            <a:pPr indent="0" marL="0">
              <a:buNone/>
            </a:pPr>
            <a:r>
              <a:rPr lang="en-US" sz="1000" dirty="0">
                <a:solidFill>
                  <a:srgbClr val="334155"/>
                </a:solidFill>
              </a:rPr>
              <a:t>(educator pay + margin)</a:t>
            </a:r>
            <a:endParaRPr lang="en-US" sz="1000" dirty="0"/>
          </a:p>
        </p:txBody>
      </p:sp>
      <p:sp>
        <p:nvSpPr>
          <p:cNvPr id="27" name="Shape 25"/>
          <p:cNvSpPr/>
          <p:nvPr/>
        </p:nvSpPr>
        <p:spPr>
          <a:xfrm>
            <a:off x="365760" y="3602736"/>
            <a:ext cx="3566160" cy="786384"/>
          </a:xfrm>
          <a:prstGeom prst="rect">
            <a:avLst/>
          </a:prstGeom>
          <a:solidFill>
            <a:srgbClr val="FFFFFF"/>
          </a:solidFill>
          <a:ln w="12700">
            <a:solidFill>
              <a:srgbClr val="E2E8F0"/>
            </a:solidFill>
            <a:prstDash val="solid"/>
          </a:ln>
        </p:spPr>
      </p:sp>
      <p:sp>
        <p:nvSpPr>
          <p:cNvPr id="28" name="Text 26"/>
          <p:cNvSpPr/>
          <p:nvPr/>
        </p:nvSpPr>
        <p:spPr>
          <a:xfrm>
            <a:off x="457200" y="3602736"/>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WRP eligible?</a:t>
            </a:r>
            <a:endParaRPr lang="en-US" sz="1000" dirty="0"/>
          </a:p>
        </p:txBody>
      </p:sp>
      <p:sp>
        <p:nvSpPr>
          <p:cNvPr id="29" name="Shape 27"/>
          <p:cNvSpPr/>
          <p:nvPr/>
        </p:nvSpPr>
        <p:spPr>
          <a:xfrm>
            <a:off x="4114800" y="3602736"/>
            <a:ext cx="2606040" cy="786384"/>
          </a:xfrm>
          <a:prstGeom prst="rect">
            <a:avLst/>
          </a:prstGeom>
          <a:solidFill>
            <a:srgbClr val="FFF8F8"/>
          </a:solidFill>
          <a:ln w="12700">
            <a:solidFill>
              <a:srgbClr val="E2E8F0"/>
            </a:solidFill>
            <a:prstDash val="solid"/>
          </a:ln>
        </p:spPr>
      </p:sp>
      <p:sp>
        <p:nvSpPr>
          <p:cNvPr id="30" name="Text 28"/>
          <p:cNvSpPr/>
          <p:nvPr/>
        </p:nvSpPr>
        <p:spPr>
          <a:xfrm>
            <a:off x="4206240" y="3602736"/>
            <a:ext cx="2423160" cy="786384"/>
          </a:xfrm>
          <a:prstGeom prst="rect">
            <a:avLst/>
          </a:prstGeom>
          <a:noFill/>
          <a:ln/>
        </p:spPr>
        <p:txBody>
          <a:bodyPr wrap="square" lIns="0" tIns="0" rIns="0" bIns="0" rtlCol="0" anchor="ctr"/>
          <a:lstStyle/>
          <a:p>
            <a:pPr indent="0" marL="0">
              <a:buNone/>
            </a:pPr>
            <a:r>
              <a:rPr lang="en-US" sz="1000" dirty="0">
                <a:solidFill>
                  <a:srgbClr val="334155"/>
                </a:solidFill>
              </a:rPr>
              <a:t>YES — centre accesses</a:t>
            </a:r>
            <a:endParaRPr lang="en-US" sz="1000" dirty="0"/>
          </a:p>
          <a:p>
            <a:pPr indent="0" marL="0">
              <a:buNone/>
            </a:pPr>
            <a:r>
              <a:rPr lang="en-US" sz="1000" dirty="0">
                <a:solidFill>
                  <a:srgbClr val="334155"/>
                </a:solidFill>
              </a:rPr>
              <a:t>government WRP grant directly</a:t>
            </a:r>
            <a:endParaRPr lang="en-US" sz="1000" dirty="0"/>
          </a:p>
        </p:txBody>
      </p:sp>
      <p:sp>
        <p:nvSpPr>
          <p:cNvPr id="31" name="Shape 29"/>
          <p:cNvSpPr/>
          <p:nvPr/>
        </p:nvSpPr>
        <p:spPr>
          <a:xfrm>
            <a:off x="6766560" y="3602736"/>
            <a:ext cx="2606040" cy="786384"/>
          </a:xfrm>
          <a:prstGeom prst="rect">
            <a:avLst/>
          </a:prstGeom>
          <a:solidFill>
            <a:srgbClr val="F5F9FF"/>
          </a:solidFill>
          <a:ln w="12700">
            <a:solidFill>
              <a:srgbClr val="E2E8F0"/>
            </a:solidFill>
            <a:prstDash val="solid"/>
          </a:ln>
        </p:spPr>
      </p:sp>
      <p:sp>
        <p:nvSpPr>
          <p:cNvPr id="32" name="Text 30"/>
          <p:cNvSpPr/>
          <p:nvPr/>
        </p:nvSpPr>
        <p:spPr>
          <a:xfrm>
            <a:off x="6858000" y="3602736"/>
            <a:ext cx="2423160" cy="786384"/>
          </a:xfrm>
          <a:prstGeom prst="rect">
            <a:avLst/>
          </a:prstGeom>
          <a:noFill/>
          <a:ln/>
        </p:spPr>
        <p:txBody>
          <a:bodyPr wrap="square" lIns="0" tIns="0" rIns="0" bIns="0" rtlCol="0" anchor="ctr"/>
          <a:lstStyle/>
          <a:p>
            <a:pPr indent="0" marL="0">
              <a:buNone/>
            </a:pPr>
            <a:r>
              <a:rPr lang="en-US" sz="1000" dirty="0">
                <a:solidFill>
                  <a:srgbClr val="334155"/>
                </a:solidFill>
              </a:rPr>
              <a:t>Complex — agency</a:t>
            </a:r>
            <a:endParaRPr lang="en-US" sz="1000" dirty="0"/>
          </a:p>
          <a:p>
            <a:pPr indent="0" marL="0">
              <a:buNone/>
            </a:pPr>
            <a:r>
              <a:rPr lang="en-US" sz="1000" dirty="0">
                <a:solidFill>
                  <a:srgbClr val="334155"/>
                </a:solidFill>
              </a:rPr>
              <a:t>must enrol separately</a:t>
            </a:r>
            <a:endParaRPr lang="en-US" sz="1000" dirty="0"/>
          </a:p>
        </p:txBody>
      </p:sp>
      <p:sp>
        <p:nvSpPr>
          <p:cNvPr id="33" name="Shape 31"/>
          <p:cNvSpPr/>
          <p:nvPr/>
        </p:nvSpPr>
        <p:spPr>
          <a:xfrm>
            <a:off x="9418320" y="3602736"/>
            <a:ext cx="2606040" cy="786384"/>
          </a:xfrm>
          <a:prstGeom prst="rect">
            <a:avLst/>
          </a:prstGeom>
          <a:solidFill>
            <a:srgbClr val="F5FFF8"/>
          </a:solidFill>
          <a:ln w="12700">
            <a:solidFill>
              <a:srgbClr val="E2E8F0"/>
            </a:solidFill>
            <a:prstDash val="solid"/>
          </a:ln>
        </p:spPr>
      </p:sp>
      <p:sp>
        <p:nvSpPr>
          <p:cNvPr id="34" name="Text 32"/>
          <p:cNvSpPr/>
          <p:nvPr/>
        </p:nvSpPr>
        <p:spPr>
          <a:xfrm>
            <a:off x="9509760" y="3602736"/>
            <a:ext cx="2423160" cy="786384"/>
          </a:xfrm>
          <a:prstGeom prst="rect">
            <a:avLst/>
          </a:prstGeom>
          <a:noFill/>
          <a:ln/>
        </p:spPr>
        <p:txBody>
          <a:bodyPr wrap="square" lIns="0" tIns="0" rIns="0" bIns="0" rtlCol="0" anchor="ctr"/>
          <a:lstStyle/>
          <a:p>
            <a:pPr indent="0" marL="0">
              <a:buNone/>
            </a:pPr>
            <a:r>
              <a:rPr lang="en-US" sz="1000" dirty="0">
                <a:solidFill>
                  <a:srgbClr val="334155"/>
                </a:solidFill>
              </a:rPr>
              <a:t>Via WRP toggle</a:t>
            </a:r>
            <a:endParaRPr lang="en-US" sz="1000" dirty="0"/>
          </a:p>
          <a:p>
            <a:pPr indent="0" marL="0">
              <a:buNone/>
            </a:pPr>
            <a:r>
              <a:rPr lang="en-US" sz="1000" dirty="0">
                <a:solidFill>
                  <a:srgbClr val="334155"/>
                </a:solidFill>
              </a:rPr>
              <a:t>for enrolled centres</a:t>
            </a:r>
            <a:endParaRPr lang="en-US" sz="1000" dirty="0"/>
          </a:p>
        </p:txBody>
      </p:sp>
      <p:sp>
        <p:nvSpPr>
          <p:cNvPr id="35" name="Shape 33"/>
          <p:cNvSpPr/>
          <p:nvPr/>
        </p:nvSpPr>
        <p:spPr>
          <a:xfrm>
            <a:off x="365760" y="4443984"/>
            <a:ext cx="3566160" cy="786384"/>
          </a:xfrm>
          <a:prstGeom prst="rect">
            <a:avLst/>
          </a:prstGeom>
          <a:solidFill>
            <a:srgbClr val="F7F8FD"/>
          </a:solidFill>
          <a:ln w="12700">
            <a:solidFill>
              <a:srgbClr val="E2E8F0"/>
            </a:solidFill>
            <a:prstDash val="solid"/>
          </a:ln>
        </p:spPr>
      </p:sp>
      <p:sp>
        <p:nvSpPr>
          <p:cNvPr id="36" name="Text 34"/>
          <p:cNvSpPr/>
          <p:nvPr/>
        </p:nvSpPr>
        <p:spPr>
          <a:xfrm>
            <a:off x="457200" y="4443984"/>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Payroll managed by</a:t>
            </a:r>
            <a:endParaRPr lang="en-US" sz="1000" dirty="0"/>
          </a:p>
        </p:txBody>
      </p:sp>
      <p:sp>
        <p:nvSpPr>
          <p:cNvPr id="37" name="Shape 35"/>
          <p:cNvSpPr/>
          <p:nvPr/>
        </p:nvSpPr>
        <p:spPr>
          <a:xfrm>
            <a:off x="4114800" y="4443984"/>
            <a:ext cx="2606040" cy="786384"/>
          </a:xfrm>
          <a:prstGeom prst="rect">
            <a:avLst/>
          </a:prstGeom>
          <a:solidFill>
            <a:srgbClr val="FFF8F8"/>
          </a:solidFill>
          <a:ln w="12700">
            <a:solidFill>
              <a:srgbClr val="E2E8F0"/>
            </a:solidFill>
            <a:prstDash val="solid"/>
          </a:ln>
        </p:spPr>
      </p:sp>
      <p:sp>
        <p:nvSpPr>
          <p:cNvPr id="38" name="Text 36"/>
          <p:cNvSpPr/>
          <p:nvPr/>
        </p:nvSpPr>
        <p:spPr>
          <a:xfrm>
            <a:off x="4206240" y="4443984"/>
            <a:ext cx="2423160" cy="786384"/>
          </a:xfrm>
          <a:prstGeom prst="rect">
            <a:avLst/>
          </a:prstGeom>
          <a:noFill/>
          <a:ln/>
        </p:spPr>
        <p:txBody>
          <a:bodyPr wrap="square" lIns="0" tIns="0" rIns="0" bIns="0" rtlCol="0" anchor="ctr"/>
          <a:lstStyle/>
          <a:p>
            <a:pPr indent="0" marL="0">
              <a:buNone/>
            </a:pPr>
            <a:r>
              <a:rPr lang="en-US" sz="1000" dirty="0">
                <a:solidFill>
                  <a:srgbClr val="334155"/>
                </a:solidFill>
              </a:rPr>
              <a:t>Centre (Employment Hero</a:t>
            </a:r>
            <a:endParaRPr lang="en-US" sz="1000" dirty="0"/>
          </a:p>
          <a:p>
            <a:pPr indent="0" marL="0">
              <a:buNone/>
            </a:pPr>
            <a:r>
              <a:rPr lang="en-US" sz="1000" dirty="0">
                <a:solidFill>
                  <a:srgbClr val="334155"/>
                </a:solidFill>
              </a:rPr>
              <a:t>automates setup)</a:t>
            </a:r>
            <a:endParaRPr lang="en-US" sz="1000" dirty="0"/>
          </a:p>
        </p:txBody>
      </p:sp>
      <p:sp>
        <p:nvSpPr>
          <p:cNvPr id="39" name="Shape 37"/>
          <p:cNvSpPr/>
          <p:nvPr/>
        </p:nvSpPr>
        <p:spPr>
          <a:xfrm>
            <a:off x="6766560" y="4443984"/>
            <a:ext cx="2606040" cy="786384"/>
          </a:xfrm>
          <a:prstGeom prst="rect">
            <a:avLst/>
          </a:prstGeom>
          <a:solidFill>
            <a:srgbClr val="F5F9FF"/>
          </a:solidFill>
          <a:ln w="12700">
            <a:solidFill>
              <a:srgbClr val="E2E8F0"/>
            </a:solidFill>
            <a:prstDash val="solid"/>
          </a:ln>
        </p:spPr>
      </p:sp>
      <p:sp>
        <p:nvSpPr>
          <p:cNvPr id="40" name="Text 38"/>
          <p:cNvSpPr/>
          <p:nvPr/>
        </p:nvSpPr>
        <p:spPr>
          <a:xfrm>
            <a:off x="6858000" y="4443984"/>
            <a:ext cx="2423160" cy="786384"/>
          </a:xfrm>
          <a:prstGeom prst="rect">
            <a:avLst/>
          </a:prstGeom>
          <a:noFill/>
          <a:ln/>
        </p:spPr>
        <p:txBody>
          <a:bodyPr wrap="square" lIns="0" tIns="0" rIns="0" bIns="0" rtlCol="0" anchor="ctr"/>
          <a:lstStyle/>
          <a:p>
            <a:pPr indent="0" marL="0">
              <a:buNone/>
            </a:pPr>
            <a:r>
              <a:rPr lang="en-US" sz="1000" dirty="0">
                <a:solidFill>
                  <a:srgbClr val="334155"/>
                </a:solidFill>
              </a:rPr>
              <a:t>TalentNow</a:t>
            </a:r>
            <a:endParaRPr lang="en-US" sz="1000" dirty="0"/>
          </a:p>
        </p:txBody>
      </p:sp>
      <p:sp>
        <p:nvSpPr>
          <p:cNvPr id="41" name="Shape 39"/>
          <p:cNvSpPr/>
          <p:nvPr/>
        </p:nvSpPr>
        <p:spPr>
          <a:xfrm>
            <a:off x="9418320" y="4443984"/>
            <a:ext cx="2606040" cy="786384"/>
          </a:xfrm>
          <a:prstGeom prst="rect">
            <a:avLst/>
          </a:prstGeom>
          <a:solidFill>
            <a:srgbClr val="F5FFF8"/>
          </a:solidFill>
          <a:ln w="12700">
            <a:solidFill>
              <a:srgbClr val="E2E8F0"/>
            </a:solidFill>
            <a:prstDash val="solid"/>
          </a:ln>
        </p:spPr>
      </p:sp>
      <p:sp>
        <p:nvSpPr>
          <p:cNvPr id="42" name="Text 40"/>
          <p:cNvSpPr/>
          <p:nvPr/>
        </p:nvSpPr>
        <p:spPr>
          <a:xfrm>
            <a:off x="9509760" y="4443984"/>
            <a:ext cx="2423160" cy="786384"/>
          </a:xfrm>
          <a:prstGeom prst="rect">
            <a:avLst/>
          </a:prstGeom>
          <a:noFill/>
          <a:ln/>
        </p:spPr>
        <p:txBody>
          <a:bodyPr wrap="square" lIns="0" tIns="0" rIns="0" bIns="0" rtlCol="0" anchor="ctr"/>
          <a:lstStyle/>
          <a:p>
            <a:pPr indent="0" marL="0">
              <a:buNone/>
            </a:pPr>
            <a:r>
              <a:rPr lang="en-US" sz="1000" dirty="0">
                <a:solidFill>
                  <a:srgbClr val="334155"/>
                </a:solidFill>
              </a:rPr>
              <a:t>Raw Talent</a:t>
            </a:r>
            <a:endParaRPr lang="en-US" sz="1000" dirty="0"/>
          </a:p>
        </p:txBody>
      </p:sp>
      <p:sp>
        <p:nvSpPr>
          <p:cNvPr id="43" name="Shape 41"/>
          <p:cNvSpPr/>
          <p:nvPr/>
        </p:nvSpPr>
        <p:spPr>
          <a:xfrm>
            <a:off x="365760" y="5285232"/>
            <a:ext cx="3566160" cy="786384"/>
          </a:xfrm>
          <a:prstGeom prst="rect">
            <a:avLst/>
          </a:prstGeom>
          <a:solidFill>
            <a:srgbClr val="FFFFFF"/>
          </a:solidFill>
          <a:ln w="12700">
            <a:solidFill>
              <a:srgbClr val="E2E8F0"/>
            </a:solidFill>
            <a:prstDash val="solid"/>
          </a:ln>
        </p:spPr>
      </p:sp>
      <p:sp>
        <p:nvSpPr>
          <p:cNvPr id="44" name="Text 42"/>
          <p:cNvSpPr/>
          <p:nvPr/>
        </p:nvSpPr>
        <p:spPr>
          <a:xfrm>
            <a:off x="457200" y="5285232"/>
            <a:ext cx="3383280" cy="786384"/>
          </a:xfrm>
          <a:prstGeom prst="rect">
            <a:avLst/>
          </a:prstGeom>
          <a:noFill/>
          <a:ln/>
        </p:spPr>
        <p:txBody>
          <a:bodyPr wrap="square" lIns="0" tIns="0" rIns="0" bIns="0" rtlCol="0" anchor="ctr"/>
          <a:lstStyle/>
          <a:p>
            <a:pPr indent="0" marL="0">
              <a:buNone/>
            </a:pPr>
            <a:r>
              <a:rPr lang="en-US" sz="1000" b="1" dirty="0">
                <a:solidFill>
                  <a:srgbClr val="1E2A3A"/>
                </a:solidFill>
              </a:rPr>
              <a:t>Admin for centre</a:t>
            </a:r>
            <a:endParaRPr lang="en-US" sz="1000" dirty="0"/>
          </a:p>
        </p:txBody>
      </p:sp>
      <p:sp>
        <p:nvSpPr>
          <p:cNvPr id="45" name="Shape 43"/>
          <p:cNvSpPr/>
          <p:nvPr/>
        </p:nvSpPr>
        <p:spPr>
          <a:xfrm>
            <a:off x="4114800" y="5285232"/>
            <a:ext cx="2606040" cy="786384"/>
          </a:xfrm>
          <a:prstGeom prst="rect">
            <a:avLst/>
          </a:prstGeom>
          <a:solidFill>
            <a:srgbClr val="FFF8F8"/>
          </a:solidFill>
          <a:ln w="12700">
            <a:solidFill>
              <a:srgbClr val="E2E8F0"/>
            </a:solidFill>
            <a:prstDash val="solid"/>
          </a:ln>
        </p:spPr>
      </p:sp>
      <p:sp>
        <p:nvSpPr>
          <p:cNvPr id="46" name="Text 44"/>
          <p:cNvSpPr/>
          <p:nvPr/>
        </p:nvSpPr>
        <p:spPr>
          <a:xfrm>
            <a:off x="4206240" y="5285232"/>
            <a:ext cx="2423160" cy="786384"/>
          </a:xfrm>
          <a:prstGeom prst="rect">
            <a:avLst/>
          </a:prstGeom>
          <a:noFill/>
          <a:ln/>
        </p:spPr>
        <p:txBody>
          <a:bodyPr wrap="square" lIns="0" tIns="0" rIns="0" bIns="0" rtlCol="0" anchor="ctr"/>
          <a:lstStyle/>
          <a:p>
            <a:pPr indent="0" marL="0">
              <a:buNone/>
            </a:pPr>
            <a:r>
              <a:rPr lang="en-US" sz="1000" dirty="0">
                <a:solidFill>
                  <a:srgbClr val="334155"/>
                </a:solidFill>
              </a:rPr>
              <a:t>Low — Employment Hero</a:t>
            </a:r>
            <a:endParaRPr lang="en-US" sz="1000" dirty="0"/>
          </a:p>
          <a:p>
            <a:pPr indent="0" marL="0">
              <a:buNone/>
            </a:pPr>
            <a:r>
              <a:rPr lang="en-US" sz="1000" dirty="0">
                <a:solidFill>
                  <a:srgbClr val="334155"/>
                </a:solidFill>
              </a:rPr>
              <a:t>integration handles setup</a:t>
            </a:r>
            <a:endParaRPr lang="en-US" sz="1000" dirty="0"/>
          </a:p>
        </p:txBody>
      </p:sp>
      <p:sp>
        <p:nvSpPr>
          <p:cNvPr id="47" name="Shape 45"/>
          <p:cNvSpPr/>
          <p:nvPr/>
        </p:nvSpPr>
        <p:spPr>
          <a:xfrm>
            <a:off x="6766560" y="5285232"/>
            <a:ext cx="2606040" cy="786384"/>
          </a:xfrm>
          <a:prstGeom prst="rect">
            <a:avLst/>
          </a:prstGeom>
          <a:solidFill>
            <a:srgbClr val="F5F9FF"/>
          </a:solidFill>
          <a:ln w="12700">
            <a:solidFill>
              <a:srgbClr val="E2E8F0"/>
            </a:solidFill>
            <a:prstDash val="solid"/>
          </a:ln>
        </p:spPr>
      </p:sp>
      <p:sp>
        <p:nvSpPr>
          <p:cNvPr id="48" name="Text 46"/>
          <p:cNvSpPr/>
          <p:nvPr/>
        </p:nvSpPr>
        <p:spPr>
          <a:xfrm>
            <a:off x="6858000" y="5285232"/>
            <a:ext cx="2423160" cy="786384"/>
          </a:xfrm>
          <a:prstGeom prst="rect">
            <a:avLst/>
          </a:prstGeom>
          <a:noFill/>
          <a:ln/>
        </p:spPr>
        <p:txBody>
          <a:bodyPr wrap="square" lIns="0" tIns="0" rIns="0" bIns="0" rtlCol="0" anchor="ctr"/>
          <a:lstStyle/>
          <a:p>
            <a:pPr indent="0" marL="0">
              <a:buNone/>
            </a:pPr>
            <a:r>
              <a:rPr lang="en-US" sz="1000" dirty="0">
                <a:solidFill>
                  <a:srgbClr val="334155"/>
                </a:solidFill>
              </a:rPr>
              <a:t>Very Low — TN</a:t>
            </a:r>
            <a:endParaRPr lang="en-US" sz="1000" dirty="0"/>
          </a:p>
          <a:p>
            <a:pPr indent="0" marL="0">
              <a:buNone/>
            </a:pPr>
            <a:r>
              <a:rPr lang="en-US" sz="1000" dirty="0">
                <a:solidFill>
                  <a:srgbClr val="334155"/>
                </a:solidFill>
              </a:rPr>
              <a:t>handles everything</a:t>
            </a:r>
            <a:endParaRPr lang="en-US" sz="1000" dirty="0"/>
          </a:p>
        </p:txBody>
      </p:sp>
      <p:sp>
        <p:nvSpPr>
          <p:cNvPr id="49" name="Shape 47"/>
          <p:cNvSpPr/>
          <p:nvPr/>
        </p:nvSpPr>
        <p:spPr>
          <a:xfrm>
            <a:off x="9418320" y="5285232"/>
            <a:ext cx="2606040" cy="786384"/>
          </a:xfrm>
          <a:prstGeom prst="rect">
            <a:avLst/>
          </a:prstGeom>
          <a:solidFill>
            <a:srgbClr val="F5FFF8"/>
          </a:solidFill>
          <a:ln w="12700">
            <a:solidFill>
              <a:srgbClr val="E2E8F0"/>
            </a:solidFill>
            <a:prstDash val="solid"/>
          </a:ln>
        </p:spPr>
      </p:sp>
      <p:sp>
        <p:nvSpPr>
          <p:cNvPr id="50" name="Text 48"/>
          <p:cNvSpPr/>
          <p:nvPr/>
        </p:nvSpPr>
        <p:spPr>
          <a:xfrm>
            <a:off x="9509760" y="5285232"/>
            <a:ext cx="2423160" cy="786384"/>
          </a:xfrm>
          <a:prstGeom prst="rect">
            <a:avLst/>
          </a:prstGeom>
          <a:noFill/>
          <a:ln/>
        </p:spPr>
        <p:txBody>
          <a:bodyPr wrap="square" lIns="0" tIns="0" rIns="0" bIns="0" rtlCol="0" anchor="ctr"/>
          <a:lstStyle/>
          <a:p>
            <a:pPr indent="0" marL="0">
              <a:buNone/>
            </a:pPr>
            <a:r>
              <a:rPr lang="en-US" sz="1000" dirty="0">
                <a:solidFill>
                  <a:srgbClr val="334155"/>
                </a:solidFill>
              </a:rPr>
              <a:t>Very Low — RT</a:t>
            </a:r>
            <a:endParaRPr lang="en-US" sz="1000" dirty="0"/>
          </a:p>
          <a:p>
            <a:pPr indent="0" marL="0">
              <a:buNone/>
            </a:pPr>
            <a:r>
              <a:rPr lang="en-US" sz="1000" dirty="0">
                <a:solidFill>
                  <a:srgbClr val="334155"/>
                </a:solidFill>
              </a:rPr>
              <a:t>handles everything</a:t>
            </a:r>
            <a:endParaRPr lang="en-US" sz="1000" dirty="0"/>
          </a:p>
        </p:txBody>
      </p:sp>
      <p:sp>
        <p:nvSpPr>
          <p:cNvPr id="51" name="Shape 49"/>
          <p:cNvSpPr/>
          <p:nvPr/>
        </p:nvSpPr>
        <p:spPr>
          <a:xfrm>
            <a:off x="4114800" y="6080760"/>
            <a:ext cx="2606040" cy="347472"/>
          </a:xfrm>
          <a:prstGeom prst="roundRect">
            <a:avLst>
              <a:gd name="adj" fmla="val 15789"/>
            </a:avLst>
          </a:prstGeom>
          <a:solidFill>
            <a:srgbClr val="E14B4B"/>
          </a:solidFill>
          <a:ln/>
        </p:spPr>
      </p:sp>
      <p:sp>
        <p:nvSpPr>
          <p:cNvPr id="52" name="Text 50"/>
          <p:cNvSpPr/>
          <p:nvPr/>
        </p:nvSpPr>
        <p:spPr>
          <a:xfrm>
            <a:off x="4114800" y="6080760"/>
            <a:ext cx="2606040" cy="347472"/>
          </a:xfrm>
          <a:prstGeom prst="rect">
            <a:avLst/>
          </a:prstGeom>
          <a:noFill/>
          <a:ln/>
        </p:spPr>
        <p:txBody>
          <a:bodyPr wrap="square" lIns="0" tIns="0" rIns="0" bIns="0" rtlCol="0" anchor="ctr"/>
          <a:lstStyle/>
          <a:p>
            <a:pPr algn="ctr" indent="0" marL="0">
              <a:buNone/>
            </a:pPr>
            <a:r>
              <a:rPr lang="en-US" sz="900" b="1" dirty="0">
                <a:solidFill>
                  <a:srgbClr val="FFFFFF"/>
                </a:solidFill>
              </a:rPr>
              <a:t>⚠ Biggest competitive threat</a:t>
            </a:r>
            <a:endParaRPr lang="en-US" sz="900" dirty="0"/>
          </a:p>
        </p:txBody>
      </p:sp>
      <p:sp>
        <p:nvSpPr>
          <p:cNvPr id="53" name="Text 51"/>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TalentNow.com.au/early-childhood-centres | TheSector.com.au (Feb 2025) | ACA Worker Retention Payment FAQ | Joy Victoria analysis, June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F2A93B"/>
          </a:solidFill>
          <a:ln w="12700">
            <a:solidFill>
              <a:srgbClr val="F2A93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PAY RATE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SA Pay Gap — Why Educators Are Choosing Competitors</a:t>
            </a:r>
            <a:endParaRPr lang="en-US" sz="3000" dirty="0"/>
          </a:p>
        </p:txBody>
      </p:sp>
      <p:graphicFrame>
        <p:nvGraphicFramePr>
          <p:cNvPr id="5" name="Chart 0" descr=""/>
          <p:cNvGraphicFramePr/>
          <p:nvPr/>
        </p:nvGraphicFramePr>
        <p:xfrm>
          <a:off x="457200" y="137160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89520" y="1371600"/>
            <a:ext cx="4206240" cy="960120"/>
          </a:xfrm>
          <a:prstGeom prst="roundRect">
            <a:avLst>
              <a:gd name="adj" fmla="val 7619"/>
            </a:avLst>
          </a:prstGeom>
          <a:solidFill>
            <a:srgbClr val="F7F8FD"/>
          </a:solidFill>
          <a:ln/>
          <a:effectLst>
            <a:outerShdw sx="100000" sy="100000" kx="0" ky="0" algn="bl" rotWithShape="0" blurRad="76200" dist="25400" dir="2700000">
              <a:srgbClr val="000000">
                <a:alpha val="7000"/>
              </a:srgbClr>
            </a:outerShdw>
          </a:effectLst>
        </p:spPr>
      </p:sp>
      <p:sp>
        <p:nvSpPr>
          <p:cNvPr id="7" name="Text 4"/>
          <p:cNvSpPr/>
          <p:nvPr/>
        </p:nvSpPr>
        <p:spPr>
          <a:xfrm>
            <a:off x="7772400" y="141732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Current Pay Gap</a:t>
            </a:r>
            <a:endParaRPr lang="en-US" sz="900" dirty="0"/>
          </a:p>
        </p:txBody>
      </p:sp>
      <p:sp>
        <p:nvSpPr>
          <p:cNvPr id="8" name="Text 5"/>
          <p:cNvSpPr/>
          <p:nvPr/>
        </p:nvSpPr>
        <p:spPr>
          <a:xfrm>
            <a:off x="7772400" y="1627632"/>
            <a:ext cx="2194560" cy="457200"/>
          </a:xfrm>
          <a:prstGeom prst="rect">
            <a:avLst/>
          </a:prstGeom>
          <a:noFill/>
          <a:ln/>
        </p:spPr>
        <p:txBody>
          <a:bodyPr wrap="square" lIns="0" tIns="0" rIns="0" bIns="0" rtlCol="0" anchor="ctr"/>
          <a:lstStyle/>
          <a:p>
            <a:pPr indent="0" marL="0">
              <a:buNone/>
            </a:pPr>
            <a:r>
              <a:rPr lang="en-US" sz="2600" b="1" dirty="0">
                <a:solidFill>
                  <a:srgbClr val="E14B4B"/>
                </a:solidFill>
                <a:latin typeface="Cambria" pitchFamily="34" charset="0"/>
                <a:ea typeface="Cambria" pitchFamily="34" charset="-122"/>
                <a:cs typeface="Cambria" pitchFamily="34" charset="-120"/>
              </a:rPr>
              <a:t>$4–5/hr</a:t>
            </a:r>
            <a:endParaRPr lang="en-US" sz="2600" dirty="0"/>
          </a:p>
        </p:txBody>
      </p:sp>
      <p:sp>
        <p:nvSpPr>
          <p:cNvPr id="9" name="Text 6"/>
          <p:cNvSpPr/>
          <p:nvPr/>
        </p:nvSpPr>
        <p:spPr>
          <a:xfrm>
            <a:off x="7772400" y="1993392"/>
            <a:ext cx="3840480" cy="256032"/>
          </a:xfrm>
          <a:prstGeom prst="rect">
            <a:avLst/>
          </a:prstGeom>
          <a:noFill/>
          <a:ln/>
        </p:spPr>
        <p:txBody>
          <a:bodyPr wrap="square" lIns="0" tIns="0" rIns="0" bIns="0" rtlCol="0" anchor="ctr"/>
          <a:lstStyle/>
          <a:p>
            <a:pPr indent="0" marL="0">
              <a:buNone/>
            </a:pPr>
            <a:r>
              <a:rPr lang="en-US" sz="900" dirty="0">
                <a:solidFill>
                  <a:srgbClr val="64748B"/>
                </a:solidFill>
              </a:rPr>
              <a:t>RT vs Entrée in SA</a:t>
            </a:r>
            <a:endParaRPr lang="en-US" sz="900" dirty="0"/>
          </a:p>
        </p:txBody>
      </p:sp>
      <p:sp>
        <p:nvSpPr>
          <p:cNvPr id="10" name="Shape 7"/>
          <p:cNvSpPr/>
          <p:nvPr/>
        </p:nvSpPr>
        <p:spPr>
          <a:xfrm>
            <a:off x="7589520" y="2423160"/>
            <a:ext cx="4206240" cy="960120"/>
          </a:xfrm>
          <a:prstGeom prst="roundRect">
            <a:avLst>
              <a:gd name="adj" fmla="val 7619"/>
            </a:avLst>
          </a:prstGeom>
          <a:solidFill>
            <a:srgbClr val="F7F8FD"/>
          </a:solidFill>
          <a:ln/>
          <a:effectLst>
            <a:outerShdw sx="100000" sy="100000" kx="0" ky="0" algn="bl" rotWithShape="0" blurRad="76200" dist="25400" dir="2700000">
              <a:srgbClr val="000000">
                <a:alpha val="7000"/>
              </a:srgbClr>
            </a:outerShdw>
          </a:effectLst>
        </p:spPr>
      </p:sp>
      <p:sp>
        <p:nvSpPr>
          <p:cNvPr id="11" name="Text 8"/>
          <p:cNvSpPr/>
          <p:nvPr/>
        </p:nvSpPr>
        <p:spPr>
          <a:xfrm>
            <a:off x="7772400" y="246888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WRP Uplift</a:t>
            </a:r>
            <a:endParaRPr lang="en-US" sz="900" dirty="0"/>
          </a:p>
        </p:txBody>
      </p:sp>
      <p:sp>
        <p:nvSpPr>
          <p:cNvPr id="12" name="Text 9"/>
          <p:cNvSpPr/>
          <p:nvPr/>
        </p:nvSpPr>
        <p:spPr>
          <a:xfrm>
            <a:off x="7772400" y="2679192"/>
            <a:ext cx="2194560" cy="457200"/>
          </a:xfrm>
          <a:prstGeom prst="rect">
            <a:avLst/>
          </a:prstGeom>
          <a:noFill/>
          <a:ln/>
        </p:spPr>
        <p:txBody>
          <a:bodyPr wrap="square" lIns="0" tIns="0" rIns="0" bIns="0" rtlCol="0" anchor="ctr"/>
          <a:lstStyle/>
          <a:p>
            <a:pPr indent="0" marL="0">
              <a:buNone/>
            </a:pPr>
            <a:r>
              <a:rPr lang="en-US" sz="2600" b="1" dirty="0">
                <a:solidFill>
                  <a:srgbClr val="F2A93B"/>
                </a:solidFill>
                <a:latin typeface="Cambria" pitchFamily="34" charset="0"/>
                <a:ea typeface="Cambria" pitchFamily="34" charset="-122"/>
                <a:cs typeface="Cambria" pitchFamily="34" charset="-120"/>
              </a:rPr>
              <a:t>+10%</a:t>
            </a:r>
            <a:endParaRPr lang="en-US" sz="2600" dirty="0"/>
          </a:p>
        </p:txBody>
      </p:sp>
      <p:sp>
        <p:nvSpPr>
          <p:cNvPr id="13" name="Text 10"/>
          <p:cNvSpPr/>
          <p:nvPr/>
        </p:nvSpPr>
        <p:spPr>
          <a:xfrm>
            <a:off x="7772400" y="3044952"/>
            <a:ext cx="3840480" cy="256032"/>
          </a:xfrm>
          <a:prstGeom prst="rect">
            <a:avLst/>
          </a:prstGeom>
          <a:noFill/>
          <a:ln/>
        </p:spPr>
        <p:txBody>
          <a:bodyPr wrap="square" lIns="0" tIns="0" rIns="0" bIns="0" rtlCol="0" anchor="ctr"/>
          <a:lstStyle/>
          <a:p>
            <a:pPr indent="0" marL="0">
              <a:buNone/>
            </a:pPr>
            <a:r>
              <a:rPr lang="en-US" sz="900" dirty="0">
                <a:solidFill>
                  <a:srgbClr val="64748B"/>
                </a:solidFill>
              </a:rPr>
              <a:t>from Dec 2024 (Yr 1)</a:t>
            </a:r>
            <a:endParaRPr lang="en-US" sz="900" dirty="0"/>
          </a:p>
        </p:txBody>
      </p:sp>
      <p:sp>
        <p:nvSpPr>
          <p:cNvPr id="14" name="Shape 11"/>
          <p:cNvSpPr/>
          <p:nvPr/>
        </p:nvSpPr>
        <p:spPr>
          <a:xfrm>
            <a:off x="7589520" y="3474720"/>
            <a:ext cx="4206240" cy="960120"/>
          </a:xfrm>
          <a:prstGeom prst="roundRect">
            <a:avLst>
              <a:gd name="adj" fmla="val 7619"/>
            </a:avLst>
          </a:prstGeom>
          <a:solidFill>
            <a:srgbClr val="F7F8FD"/>
          </a:solidFill>
          <a:ln/>
          <a:effectLst>
            <a:outerShdw sx="100000" sy="100000" kx="0" ky="0" algn="bl" rotWithShape="0" blurRad="76200" dist="25400" dir="2700000">
              <a:srgbClr val="000000">
                <a:alpha val="7000"/>
              </a:srgbClr>
            </a:outerShdw>
          </a:effectLst>
        </p:spPr>
      </p:sp>
      <p:sp>
        <p:nvSpPr>
          <p:cNvPr id="15" name="Text 12"/>
          <p:cNvSpPr/>
          <p:nvPr/>
        </p:nvSpPr>
        <p:spPr>
          <a:xfrm>
            <a:off x="7772400" y="352044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Gender Uplift (FWC)</a:t>
            </a:r>
            <a:endParaRPr lang="en-US" sz="900" dirty="0"/>
          </a:p>
        </p:txBody>
      </p:sp>
      <p:sp>
        <p:nvSpPr>
          <p:cNvPr id="16" name="Text 13"/>
          <p:cNvSpPr/>
          <p:nvPr/>
        </p:nvSpPr>
        <p:spPr>
          <a:xfrm>
            <a:off x="7772400" y="3730752"/>
            <a:ext cx="2194560" cy="457200"/>
          </a:xfrm>
          <a:prstGeom prst="rect">
            <a:avLst/>
          </a:prstGeom>
          <a:noFill/>
          <a:ln/>
        </p:spPr>
        <p:txBody>
          <a:bodyPr wrap="square" lIns="0" tIns="0" rIns="0" bIns="0" rtlCol="0" anchor="ctr"/>
          <a:lstStyle/>
          <a:p>
            <a:pPr indent="0" marL="0">
              <a:buNone/>
            </a:pPr>
            <a:r>
              <a:rPr lang="en-US" sz="2600" b="1" dirty="0">
                <a:solidFill>
                  <a:srgbClr val="3A6FF8"/>
                </a:solidFill>
                <a:latin typeface="Cambria" pitchFamily="34" charset="0"/>
                <a:ea typeface="Cambria" pitchFamily="34" charset="-122"/>
                <a:cs typeface="Cambria" pitchFamily="34" charset="-120"/>
              </a:rPr>
              <a:t>9–28%</a:t>
            </a:r>
            <a:endParaRPr lang="en-US" sz="2600" dirty="0"/>
          </a:p>
        </p:txBody>
      </p:sp>
      <p:sp>
        <p:nvSpPr>
          <p:cNvPr id="17" name="Text 14"/>
          <p:cNvSpPr/>
          <p:nvPr/>
        </p:nvSpPr>
        <p:spPr>
          <a:xfrm>
            <a:off x="7772400" y="4096512"/>
            <a:ext cx="3840480" cy="256032"/>
          </a:xfrm>
          <a:prstGeom prst="rect">
            <a:avLst/>
          </a:prstGeom>
          <a:noFill/>
          <a:ln/>
        </p:spPr>
        <p:txBody>
          <a:bodyPr wrap="square" lIns="0" tIns="0" rIns="0" bIns="0" rtlCol="0" anchor="ctr"/>
          <a:lstStyle/>
          <a:p>
            <a:pPr indent="0" marL="0">
              <a:buNone/>
            </a:pPr>
            <a:r>
              <a:rPr lang="en-US" sz="900" dirty="0">
                <a:solidFill>
                  <a:srgbClr val="64748B"/>
                </a:solidFill>
              </a:rPr>
              <a:t>proposed from Jan 2026</a:t>
            </a:r>
            <a:endParaRPr lang="en-US" sz="900" dirty="0"/>
          </a:p>
        </p:txBody>
      </p:sp>
      <p:sp>
        <p:nvSpPr>
          <p:cNvPr id="18" name="Shape 15"/>
          <p:cNvSpPr/>
          <p:nvPr/>
        </p:nvSpPr>
        <p:spPr>
          <a:xfrm>
            <a:off x="7589520" y="4526280"/>
            <a:ext cx="4206240" cy="960120"/>
          </a:xfrm>
          <a:prstGeom prst="roundRect">
            <a:avLst>
              <a:gd name="adj" fmla="val 7619"/>
            </a:avLst>
          </a:prstGeom>
          <a:solidFill>
            <a:srgbClr val="F7F8FD"/>
          </a:solidFill>
          <a:ln/>
          <a:effectLst>
            <a:outerShdw sx="100000" sy="100000" kx="0" ky="0" algn="bl" rotWithShape="0" blurRad="76200" dist="25400" dir="2700000">
              <a:srgbClr val="000000">
                <a:alpha val="7000"/>
              </a:srgbClr>
            </a:outerShdw>
          </a:effectLst>
        </p:spPr>
      </p:sp>
      <p:sp>
        <p:nvSpPr>
          <p:cNvPr id="19" name="Text 16"/>
          <p:cNvSpPr/>
          <p:nvPr/>
        </p:nvSpPr>
        <p:spPr>
          <a:xfrm>
            <a:off x="7772400" y="4572000"/>
            <a:ext cx="3840480" cy="256032"/>
          </a:xfrm>
          <a:prstGeom prst="rect">
            <a:avLst/>
          </a:prstGeom>
          <a:noFill/>
          <a:ln/>
        </p:spPr>
        <p:txBody>
          <a:bodyPr wrap="square" lIns="0" tIns="0" rIns="0" bIns="0" rtlCol="0" anchor="ctr"/>
          <a:lstStyle/>
          <a:p>
            <a:pPr indent="0" marL="0">
              <a:buNone/>
            </a:pPr>
            <a:r>
              <a:rPr lang="en-US" sz="900" b="1" dirty="0">
                <a:solidFill>
                  <a:srgbClr val="64748B"/>
                </a:solidFill>
              </a:rPr>
              <a:t>RT with WRP Toggle</a:t>
            </a:r>
            <a:endParaRPr lang="en-US" sz="900" dirty="0"/>
          </a:p>
        </p:txBody>
      </p:sp>
      <p:sp>
        <p:nvSpPr>
          <p:cNvPr id="20" name="Text 17"/>
          <p:cNvSpPr/>
          <p:nvPr/>
        </p:nvSpPr>
        <p:spPr>
          <a:xfrm>
            <a:off x="7772400" y="4782312"/>
            <a:ext cx="2194560" cy="457200"/>
          </a:xfrm>
          <a:prstGeom prst="rect">
            <a:avLst/>
          </a:prstGeom>
          <a:noFill/>
          <a:ln/>
        </p:spPr>
        <p:txBody>
          <a:bodyPr wrap="square" lIns="0" tIns="0" rIns="0" bIns="0" rtlCol="0" anchor="ctr"/>
          <a:lstStyle/>
          <a:p>
            <a:pPr indent="0" marL="0">
              <a:buNone/>
            </a:pPr>
            <a:r>
              <a:rPr lang="en-US" sz="2600" b="1" dirty="0">
                <a:solidFill>
                  <a:srgbClr val="27AE60"/>
                </a:solidFill>
                <a:latin typeface="Cambria" pitchFamily="34" charset="0"/>
                <a:ea typeface="Cambria" pitchFamily="34" charset="-122"/>
                <a:cs typeface="Cambria" pitchFamily="34" charset="-120"/>
              </a:rPr>
              <a:t>~$46.20</a:t>
            </a:r>
            <a:endParaRPr lang="en-US" sz="2600" dirty="0"/>
          </a:p>
        </p:txBody>
      </p:sp>
      <p:sp>
        <p:nvSpPr>
          <p:cNvPr id="21" name="Text 18"/>
          <p:cNvSpPr/>
          <p:nvPr/>
        </p:nvSpPr>
        <p:spPr>
          <a:xfrm>
            <a:off x="7772400" y="5148072"/>
            <a:ext cx="3840480" cy="256032"/>
          </a:xfrm>
          <a:prstGeom prst="rect">
            <a:avLst/>
          </a:prstGeom>
          <a:noFill/>
          <a:ln/>
        </p:spPr>
        <p:txBody>
          <a:bodyPr wrap="square" lIns="0" tIns="0" rIns="0" bIns="0" rtlCol="0" anchor="ctr"/>
          <a:lstStyle/>
          <a:p>
            <a:pPr indent="0" marL="0">
              <a:buNone/>
            </a:pPr>
            <a:r>
              <a:rPr lang="en-US" sz="900" dirty="0">
                <a:solidFill>
                  <a:srgbClr val="64748B"/>
                </a:solidFill>
              </a:rPr>
              <a:t>per hour (competitive)</a:t>
            </a:r>
            <a:endParaRPr lang="en-US" sz="900" dirty="0"/>
          </a:p>
        </p:txBody>
      </p:sp>
      <p:sp>
        <p:nvSpPr>
          <p:cNvPr id="22" name="Text 19"/>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Children's Services Award 2010 [MA000120] | ACA WRP Wage Calculator (aca-worker-retention-payment.org.au) | VECTEA Salary Guide 2026 | Raw Talent internal data | Competitor intel from educator re-engagement calls SA, June 2026. Note: TalentNow Casual Hire rate is estimated; exact rate not publicly disclosed.</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3A6FF8"/>
          </a:solidFill>
          <a:ln w="12700">
            <a:solidFill>
              <a:srgbClr val="3A6FF8"/>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REGULATORY</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Worker Retention Payment (WRP) — What It Is &amp; Why It Matters</a:t>
            </a:r>
            <a:endParaRPr lang="en-US" sz="3000" dirty="0"/>
          </a:p>
        </p:txBody>
      </p:sp>
      <p:sp>
        <p:nvSpPr>
          <p:cNvPr id="5" name="Text 3"/>
          <p:cNvSpPr/>
          <p:nvPr/>
        </p:nvSpPr>
        <p:spPr>
          <a:xfrm>
            <a:off x="457200" y="1417320"/>
            <a:ext cx="5303520" cy="347472"/>
          </a:xfrm>
          <a:prstGeom prst="rect">
            <a:avLst/>
          </a:prstGeom>
          <a:noFill/>
          <a:ln/>
        </p:spPr>
        <p:txBody>
          <a:bodyPr wrap="square" lIns="0" tIns="0" rIns="0" bIns="0" rtlCol="0" anchor="ctr"/>
          <a:lstStyle/>
          <a:p>
            <a:pPr indent="0" marL="0">
              <a:buNone/>
            </a:pPr>
            <a:r>
              <a:rPr lang="en-US" sz="1400" b="1" dirty="0">
                <a:solidFill>
                  <a:srgbClr val="1E2A3A"/>
                </a:solidFill>
              </a:rPr>
              <a:t>What is the WRP?</a:t>
            </a:r>
            <a:endParaRPr lang="en-US" sz="1400" dirty="0"/>
          </a:p>
        </p:txBody>
      </p:sp>
      <p:sp>
        <p:nvSpPr>
          <p:cNvPr id="6" name="Text 4"/>
          <p:cNvSpPr/>
          <p:nvPr/>
        </p:nvSpPr>
        <p:spPr>
          <a:xfrm>
            <a:off x="457200" y="1783080"/>
            <a:ext cx="5303520" cy="1463040"/>
          </a:xfrm>
          <a:prstGeom prst="rect">
            <a:avLst/>
          </a:prstGeom>
          <a:noFill/>
          <a:ln/>
        </p:spPr>
        <p:txBody>
          <a:bodyPr wrap="square" lIns="0" tIns="0" rIns="0" bIns="0" rtlCol="0" anchor="ctr"/>
          <a:lstStyle/>
          <a:p>
            <a:pPr indent="0" marL="0">
              <a:buNone/>
            </a:pPr>
            <a:r>
              <a:rPr lang="en-US" sz="1100" dirty="0">
                <a:solidFill>
                  <a:srgbClr val="334155"/>
                </a:solidFill>
              </a:rPr>
              <a:t>The WRP is a Federal Government grant running </a:t>
            </a:r>
            <a:pPr indent="0" marL="0">
              <a:buNone/>
            </a:pPr>
            <a:r>
              <a:rPr lang="en-US" sz="1100" b="1" dirty="0">
                <a:solidFill>
                  <a:srgbClr val="334155"/>
                </a:solidFill>
              </a:rPr>
              <a:t>2 December 2024 — 30 November 2026. </a:t>
            </a:r>
            <a:pPr indent="0" marL="0">
              <a:buNone/>
            </a:pPr>
            <a:r>
              <a:rPr lang="en-US" sz="1100" dirty="0">
                <a:solidFill>
                  <a:srgbClr val="334155"/>
                </a:solidFill>
              </a:rPr>
              <a:t>It funds a </a:t>
            </a:r>
            <a:pPr indent="0" marL="0">
              <a:buNone/>
            </a:pPr>
            <a:r>
              <a:rPr lang="en-US" sz="1100" b="1" dirty="0">
                <a:solidFill>
                  <a:srgbClr val="27AE60"/>
                </a:solidFill>
              </a:rPr>
              <a:t>10% wage increase in Year 1 </a:t>
            </a:r>
            <a:pPr indent="0" marL="0">
              <a:buNone/>
            </a:pPr>
            <a:r>
              <a:rPr lang="en-US" sz="1100" dirty="0">
                <a:solidFill>
                  <a:srgbClr val="334155"/>
                </a:solidFill>
              </a:rPr>
              <a:t>for eligible ECEC workers. The grant goes to approved centres, who must pass it on to their eligible employees. Further increases are legislated for Dec 2026 (+10%), Jul 2028 (+5%), and Jul 2029 (TBD).</a:t>
            </a:r>
            <a:endParaRPr lang="en-US" sz="1100" dirty="0"/>
          </a:p>
        </p:txBody>
      </p:sp>
      <p:sp>
        <p:nvSpPr>
          <p:cNvPr id="7" name="Shape 5"/>
          <p:cNvSpPr/>
          <p:nvPr/>
        </p:nvSpPr>
        <p:spPr>
          <a:xfrm>
            <a:off x="457200" y="3474720"/>
            <a:ext cx="1920240" cy="822960"/>
          </a:xfrm>
          <a:prstGeom prst="roundRect">
            <a:avLst>
              <a:gd name="adj" fmla="val 8889"/>
            </a:avLst>
          </a:prstGeom>
          <a:solidFill>
            <a:srgbClr val="1E2A3A"/>
          </a:solidFill>
          <a:ln/>
        </p:spPr>
      </p:sp>
      <p:sp>
        <p:nvSpPr>
          <p:cNvPr id="8" name="Text 6"/>
          <p:cNvSpPr/>
          <p:nvPr/>
        </p:nvSpPr>
        <p:spPr>
          <a:xfrm>
            <a:off x="45720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Australian</a:t>
            </a:r>
            <a:endParaRPr lang="en-US" sz="1000" dirty="0"/>
          </a:p>
          <a:p>
            <a:pPr algn="ctr" indent="0" marL="0">
              <a:buNone/>
            </a:pPr>
            <a:r>
              <a:rPr lang="en-US" sz="1000" b="1" dirty="0">
                <a:solidFill>
                  <a:srgbClr val="FFFFFF"/>
                </a:solidFill>
              </a:rPr>
              <a:t>Government</a:t>
            </a:r>
            <a:endParaRPr lang="en-US" sz="1000" dirty="0"/>
          </a:p>
        </p:txBody>
      </p:sp>
      <p:sp>
        <p:nvSpPr>
          <p:cNvPr id="9" name="Shape 7"/>
          <p:cNvSpPr/>
          <p:nvPr/>
        </p:nvSpPr>
        <p:spPr>
          <a:xfrm>
            <a:off x="2395728" y="3886200"/>
            <a:ext cx="512064" cy="0"/>
          </a:xfrm>
          <a:prstGeom prst="line">
            <a:avLst/>
          </a:prstGeom>
          <a:noFill/>
          <a:ln w="19050">
            <a:solidFill>
              <a:srgbClr val="64748B"/>
            </a:solidFill>
            <a:prstDash val="solid"/>
          </a:ln>
        </p:spPr>
      </p:sp>
      <p:sp>
        <p:nvSpPr>
          <p:cNvPr id="10" name="Text 8"/>
          <p:cNvSpPr/>
          <p:nvPr/>
        </p:nvSpPr>
        <p:spPr>
          <a:xfrm>
            <a:off x="2423160" y="3749040"/>
            <a:ext cx="45720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1" name="Shape 9"/>
          <p:cNvSpPr/>
          <p:nvPr/>
        </p:nvSpPr>
        <p:spPr>
          <a:xfrm>
            <a:off x="2560320" y="3474720"/>
            <a:ext cx="1920240" cy="822960"/>
          </a:xfrm>
          <a:prstGeom prst="roundRect">
            <a:avLst>
              <a:gd name="adj" fmla="val 8889"/>
            </a:avLst>
          </a:prstGeom>
          <a:solidFill>
            <a:srgbClr val="3A6FF8"/>
          </a:solidFill>
          <a:ln/>
        </p:spPr>
      </p:sp>
      <p:sp>
        <p:nvSpPr>
          <p:cNvPr id="12" name="Text 10"/>
          <p:cNvSpPr/>
          <p:nvPr/>
        </p:nvSpPr>
        <p:spPr>
          <a:xfrm>
            <a:off x="256032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WRP Grant</a:t>
            </a:r>
            <a:endParaRPr lang="en-US" sz="1000" dirty="0"/>
          </a:p>
          <a:p>
            <a:pPr algn="ctr" indent="0" marL="0">
              <a:buNone/>
            </a:pPr>
            <a:r>
              <a:rPr lang="en-US" sz="1000" b="1" dirty="0">
                <a:solidFill>
                  <a:srgbClr val="FFFFFF"/>
                </a:solidFill>
              </a:rPr>
              <a:t>Funding</a:t>
            </a:r>
            <a:endParaRPr lang="en-US" sz="1000" dirty="0"/>
          </a:p>
        </p:txBody>
      </p:sp>
      <p:sp>
        <p:nvSpPr>
          <p:cNvPr id="13" name="Shape 11"/>
          <p:cNvSpPr/>
          <p:nvPr/>
        </p:nvSpPr>
        <p:spPr>
          <a:xfrm>
            <a:off x="4498848" y="3886200"/>
            <a:ext cx="512064" cy="0"/>
          </a:xfrm>
          <a:prstGeom prst="line">
            <a:avLst/>
          </a:prstGeom>
          <a:noFill/>
          <a:ln w="19050">
            <a:solidFill>
              <a:srgbClr val="64748B"/>
            </a:solidFill>
            <a:prstDash val="solid"/>
          </a:ln>
        </p:spPr>
      </p:sp>
      <p:sp>
        <p:nvSpPr>
          <p:cNvPr id="14" name="Text 12"/>
          <p:cNvSpPr/>
          <p:nvPr/>
        </p:nvSpPr>
        <p:spPr>
          <a:xfrm>
            <a:off x="4526280" y="3749040"/>
            <a:ext cx="45720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5" name="Shape 13"/>
          <p:cNvSpPr/>
          <p:nvPr/>
        </p:nvSpPr>
        <p:spPr>
          <a:xfrm>
            <a:off x="4663440" y="3474720"/>
            <a:ext cx="1920240" cy="822960"/>
          </a:xfrm>
          <a:prstGeom prst="roundRect">
            <a:avLst>
              <a:gd name="adj" fmla="val 8889"/>
            </a:avLst>
          </a:prstGeom>
          <a:solidFill>
            <a:srgbClr val="F2A93B"/>
          </a:solidFill>
          <a:ln/>
        </p:spPr>
      </p:sp>
      <p:sp>
        <p:nvSpPr>
          <p:cNvPr id="16" name="Text 14"/>
          <p:cNvSpPr/>
          <p:nvPr/>
        </p:nvSpPr>
        <p:spPr>
          <a:xfrm>
            <a:off x="466344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Approved</a:t>
            </a:r>
            <a:endParaRPr lang="en-US" sz="1000" dirty="0"/>
          </a:p>
          <a:p>
            <a:pPr algn="ctr" indent="0" marL="0">
              <a:buNone/>
            </a:pPr>
            <a:r>
              <a:rPr lang="en-US" sz="1000" b="1" dirty="0">
                <a:solidFill>
                  <a:srgbClr val="FFFFFF"/>
                </a:solidFill>
              </a:rPr>
              <a:t>ECEC Centre</a:t>
            </a:r>
            <a:endParaRPr lang="en-US" sz="1000" dirty="0"/>
          </a:p>
        </p:txBody>
      </p:sp>
      <p:sp>
        <p:nvSpPr>
          <p:cNvPr id="17" name="Shape 15"/>
          <p:cNvSpPr/>
          <p:nvPr/>
        </p:nvSpPr>
        <p:spPr>
          <a:xfrm>
            <a:off x="6601968" y="3886200"/>
            <a:ext cx="512064" cy="0"/>
          </a:xfrm>
          <a:prstGeom prst="line">
            <a:avLst/>
          </a:prstGeom>
          <a:noFill/>
          <a:ln w="19050">
            <a:solidFill>
              <a:srgbClr val="64748B"/>
            </a:solidFill>
            <a:prstDash val="solid"/>
          </a:ln>
        </p:spPr>
      </p:sp>
      <p:sp>
        <p:nvSpPr>
          <p:cNvPr id="18" name="Text 16"/>
          <p:cNvSpPr/>
          <p:nvPr/>
        </p:nvSpPr>
        <p:spPr>
          <a:xfrm>
            <a:off x="6629400" y="3749040"/>
            <a:ext cx="457200" cy="274320"/>
          </a:xfrm>
          <a:prstGeom prst="rect">
            <a:avLst/>
          </a:prstGeom>
          <a:noFill/>
          <a:ln/>
        </p:spPr>
        <p:txBody>
          <a:bodyPr wrap="square" lIns="0" tIns="0" rIns="0" bIns="0" rtlCol="0" anchor="ctr"/>
          <a:lstStyle/>
          <a:p>
            <a:pPr algn="ctr" indent="0" marL="0">
              <a:buNone/>
            </a:pPr>
            <a:r>
              <a:rPr lang="en-US" sz="1400" dirty="0">
                <a:solidFill>
                  <a:srgbClr val="64748B"/>
                </a:solidFill>
              </a:rPr>
              <a:t>→</a:t>
            </a:r>
            <a:endParaRPr lang="en-US" sz="1400" dirty="0"/>
          </a:p>
        </p:txBody>
      </p:sp>
      <p:sp>
        <p:nvSpPr>
          <p:cNvPr id="19" name="Shape 17"/>
          <p:cNvSpPr/>
          <p:nvPr/>
        </p:nvSpPr>
        <p:spPr>
          <a:xfrm>
            <a:off x="6766560" y="3474720"/>
            <a:ext cx="1920240" cy="822960"/>
          </a:xfrm>
          <a:prstGeom prst="roundRect">
            <a:avLst>
              <a:gd name="adj" fmla="val 8889"/>
            </a:avLst>
          </a:prstGeom>
          <a:solidFill>
            <a:srgbClr val="27AE60"/>
          </a:solidFill>
          <a:ln/>
        </p:spPr>
      </p:sp>
      <p:sp>
        <p:nvSpPr>
          <p:cNvPr id="20" name="Text 18"/>
          <p:cNvSpPr/>
          <p:nvPr/>
        </p:nvSpPr>
        <p:spPr>
          <a:xfrm>
            <a:off x="6766560" y="3474720"/>
            <a:ext cx="1920240" cy="822960"/>
          </a:xfrm>
          <a:prstGeom prst="rect">
            <a:avLst/>
          </a:prstGeom>
          <a:noFill/>
          <a:ln/>
        </p:spPr>
        <p:txBody>
          <a:bodyPr wrap="square" lIns="0" tIns="0" rIns="0" bIns="0" rtlCol="0" anchor="ctr"/>
          <a:lstStyle/>
          <a:p>
            <a:pPr algn="ctr" indent="0" marL="0">
              <a:buNone/>
            </a:pPr>
            <a:r>
              <a:rPr lang="en-US" sz="1000" b="1" dirty="0">
                <a:solidFill>
                  <a:srgbClr val="FFFFFF"/>
                </a:solidFill>
              </a:rPr>
              <a:t>Eligible</a:t>
            </a:r>
            <a:endParaRPr lang="en-US" sz="1000" dirty="0"/>
          </a:p>
          <a:p>
            <a:pPr algn="ctr" indent="0" marL="0">
              <a:buNone/>
            </a:pPr>
            <a:r>
              <a:rPr lang="en-US" sz="1000" b="1" dirty="0">
                <a:solidFill>
                  <a:srgbClr val="FFFFFF"/>
                </a:solidFill>
              </a:rPr>
              <a:t>Educator</a:t>
            </a:r>
            <a:endParaRPr lang="en-US" sz="1000" dirty="0"/>
          </a:p>
        </p:txBody>
      </p:sp>
      <p:sp>
        <p:nvSpPr>
          <p:cNvPr id="21" name="Text 19"/>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900" i="1" dirty="0">
                <a:solidFill>
                  <a:srgbClr val="64748B"/>
                </a:solidFill>
              </a:rPr>
              <a:t>Grant flows to centres → centres pass increase to educators</a:t>
            </a:r>
            <a:endParaRPr lang="en-US" sz="900" dirty="0"/>
          </a:p>
        </p:txBody>
      </p:sp>
      <p:sp>
        <p:nvSpPr>
          <p:cNvPr id="22" name="Shape 20"/>
          <p:cNvSpPr/>
          <p:nvPr/>
        </p:nvSpPr>
        <p:spPr>
          <a:xfrm>
            <a:off x="8778240" y="1371600"/>
            <a:ext cx="3017520" cy="1828800"/>
          </a:xfrm>
          <a:prstGeom prst="roundRect">
            <a:avLst>
              <a:gd name="adj" fmla="val 5000"/>
            </a:avLst>
          </a:prstGeom>
          <a:solidFill>
            <a:srgbClr val="FFF5F5"/>
          </a:solidFill>
          <a:ln/>
          <a:effectLst>
            <a:outerShdw sx="100000" sy="100000" kx="0" ky="0" algn="bl" rotWithShape="0" blurRad="76200" dist="25400" dir="2700000">
              <a:srgbClr val="000000">
                <a:alpha val="8000"/>
              </a:srgbClr>
            </a:outerShdw>
          </a:effectLst>
        </p:spPr>
      </p:sp>
      <p:sp>
        <p:nvSpPr>
          <p:cNvPr id="23" name="Text 21"/>
          <p:cNvSpPr/>
          <p:nvPr/>
        </p:nvSpPr>
        <p:spPr>
          <a:xfrm>
            <a:off x="8869680" y="1463040"/>
            <a:ext cx="2834640" cy="292608"/>
          </a:xfrm>
          <a:prstGeom prst="rect">
            <a:avLst/>
          </a:prstGeom>
          <a:noFill/>
          <a:ln/>
        </p:spPr>
        <p:txBody>
          <a:bodyPr wrap="square" lIns="0" tIns="0" rIns="0" bIns="0" rtlCol="0" anchor="ctr"/>
          <a:lstStyle/>
          <a:p>
            <a:pPr indent="0" marL="0">
              <a:buNone/>
            </a:pPr>
            <a:r>
              <a:rPr lang="en-US" sz="1000" b="1" dirty="0">
                <a:solidFill>
                  <a:srgbClr val="E14B4B"/>
                </a:solidFill>
              </a:rPr>
              <a:t>TalentNow CONNECT</a:t>
            </a:r>
            <a:endParaRPr lang="en-US" sz="1000" dirty="0"/>
          </a:p>
        </p:txBody>
      </p:sp>
      <p:sp>
        <p:nvSpPr>
          <p:cNvPr id="24" name="Text 22"/>
          <p:cNvSpPr/>
          <p:nvPr/>
        </p:nvSpPr>
        <p:spPr>
          <a:xfrm>
            <a:off x="8869680" y="1783080"/>
            <a:ext cx="2834640" cy="1188720"/>
          </a:xfrm>
          <a:prstGeom prst="rect">
            <a:avLst/>
          </a:prstGeom>
          <a:noFill/>
          <a:ln/>
        </p:spPr>
        <p:txBody>
          <a:bodyPr wrap="square" lIns="0" tIns="0" rIns="0" bIns="0" rtlCol="0" anchor="ctr"/>
          <a:lstStyle/>
          <a:p>
            <a:pPr indent="0" marL="0">
              <a:buNone/>
            </a:pPr>
            <a:r>
              <a:rPr lang="en-US" sz="1000" dirty="0">
                <a:solidFill>
                  <a:srgbClr val="334155"/>
                </a:solidFill>
              </a:rPr>
              <a:t>Educators employed BY the centre → WRP flows directly from centre's own grant → educators get full WRP automatically</a:t>
            </a:r>
            <a:endParaRPr lang="en-US" sz="1000" dirty="0"/>
          </a:p>
        </p:txBody>
      </p:sp>
      <p:sp>
        <p:nvSpPr>
          <p:cNvPr id="25" name="Shape 23"/>
          <p:cNvSpPr/>
          <p:nvPr/>
        </p:nvSpPr>
        <p:spPr>
          <a:xfrm>
            <a:off x="8778240" y="3337560"/>
            <a:ext cx="3017520" cy="1828800"/>
          </a:xfrm>
          <a:prstGeom prst="roundRect">
            <a:avLst>
              <a:gd name="adj" fmla="val 5000"/>
            </a:avLst>
          </a:prstGeom>
          <a:solidFill>
            <a:srgbClr val="F0FFF4"/>
          </a:solidFill>
          <a:ln/>
          <a:effectLst>
            <a:outerShdw sx="100000" sy="100000" kx="0" ky="0" algn="bl" rotWithShape="0" blurRad="76200" dist="25400" dir="2700000">
              <a:srgbClr val="000000">
                <a:alpha val="8000"/>
              </a:srgbClr>
            </a:outerShdw>
          </a:effectLst>
        </p:spPr>
      </p:sp>
      <p:sp>
        <p:nvSpPr>
          <p:cNvPr id="26" name="Text 24"/>
          <p:cNvSpPr/>
          <p:nvPr/>
        </p:nvSpPr>
        <p:spPr>
          <a:xfrm>
            <a:off x="8869680" y="3429000"/>
            <a:ext cx="2834640" cy="292608"/>
          </a:xfrm>
          <a:prstGeom prst="rect">
            <a:avLst/>
          </a:prstGeom>
          <a:noFill/>
          <a:ln/>
        </p:spPr>
        <p:txBody>
          <a:bodyPr wrap="square" lIns="0" tIns="0" rIns="0" bIns="0" rtlCol="0" anchor="ctr"/>
          <a:lstStyle/>
          <a:p>
            <a:pPr indent="0" marL="0">
              <a:buNone/>
            </a:pPr>
            <a:r>
              <a:rPr lang="en-US" sz="1000" b="1" dirty="0">
                <a:solidFill>
                  <a:srgbClr val="27AE60"/>
                </a:solidFill>
              </a:rPr>
              <a:t>Raw Talent (Agency Model)</a:t>
            </a:r>
            <a:endParaRPr lang="en-US" sz="1000" dirty="0"/>
          </a:p>
        </p:txBody>
      </p:sp>
      <p:sp>
        <p:nvSpPr>
          <p:cNvPr id="27" name="Text 25"/>
          <p:cNvSpPr/>
          <p:nvPr/>
        </p:nvSpPr>
        <p:spPr>
          <a:xfrm>
            <a:off x="8869680" y="3749040"/>
            <a:ext cx="2834640" cy="1188720"/>
          </a:xfrm>
          <a:prstGeom prst="rect">
            <a:avLst/>
          </a:prstGeom>
          <a:noFill/>
          <a:ln/>
        </p:spPr>
        <p:txBody>
          <a:bodyPr wrap="square" lIns="0" tIns="0" rIns="0" bIns="0" rtlCol="0" anchor="ctr"/>
          <a:lstStyle/>
          <a:p>
            <a:pPr indent="0" marL="0">
              <a:buNone/>
            </a:pPr>
            <a:r>
              <a:rPr lang="en-US" sz="1000" dirty="0">
                <a:solidFill>
                  <a:srgbClr val="334155"/>
                </a:solidFill>
              </a:rPr>
              <a:t>RT employs educator → WRP toggle available for WRP-enrolled Edge SA centres → Joy must confirm RT's WRP enrolment status with Liam ASAP</a:t>
            </a:r>
            <a:endParaRPr lang="en-US" sz="1000" dirty="0"/>
          </a:p>
        </p:txBody>
      </p:sp>
      <p:sp>
        <p:nvSpPr>
          <p:cNvPr id="28" name="Text 26"/>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ACA Worker Retention Payment Support Service (aca-worker-retention-payment.org.au) | Department of Education WRP program | ACA WRP Wage Calculator | TheSector.com.au (Feb 2025) — TalentNow Employment Hero integration article | WRP applications close 30 September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E14B4B"/>
          </a:solidFill>
          <a:ln w="12700">
            <a:solidFill>
              <a:srgbClr val="E14B4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COMPLIANCE 2026</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Australian ECEC Regulatory Changes — What Both Agencies Must Track</a:t>
            </a:r>
            <a:endParaRPr lang="en-US" sz="3000" dirty="0"/>
          </a:p>
        </p:txBody>
      </p:sp>
      <p:sp>
        <p:nvSpPr>
          <p:cNvPr id="5" name="Shape 3"/>
          <p:cNvSpPr/>
          <p:nvPr/>
        </p:nvSpPr>
        <p:spPr>
          <a:xfrm>
            <a:off x="457200" y="1463040"/>
            <a:ext cx="5577840" cy="1508760"/>
          </a:xfrm>
          <a:prstGeom prst="roundRect">
            <a:avLst>
              <a:gd name="adj" fmla="val 6061"/>
            </a:avLst>
          </a:prstGeom>
          <a:solidFill>
            <a:srgbClr val="F7F8FD"/>
          </a:solidFill>
          <a:ln/>
          <a:effectLst>
            <a:outerShdw sx="100000" sy="100000" kx="0" ky="0" algn="bl" rotWithShape="0" blurRad="63500" dist="12700" dir="2700000">
              <a:srgbClr val="000000">
                <a:alpha val="7000"/>
              </a:srgbClr>
            </a:outerShdw>
          </a:effectLst>
        </p:spPr>
      </p:sp>
      <p:sp>
        <p:nvSpPr>
          <p:cNvPr id="6" name="Shape 4"/>
          <p:cNvSpPr/>
          <p:nvPr/>
        </p:nvSpPr>
        <p:spPr>
          <a:xfrm>
            <a:off x="566928" y="1572768"/>
            <a:ext cx="1005840" cy="292608"/>
          </a:xfrm>
          <a:prstGeom prst="roundRect">
            <a:avLst>
              <a:gd name="adj" fmla="val 18750"/>
            </a:avLst>
          </a:prstGeom>
          <a:solidFill>
            <a:srgbClr val="E14B4B"/>
          </a:solidFill>
          <a:ln/>
        </p:spPr>
      </p:sp>
      <p:sp>
        <p:nvSpPr>
          <p:cNvPr id="7" name="Text 5"/>
          <p:cNvSpPr/>
          <p:nvPr/>
        </p:nvSpPr>
        <p:spPr>
          <a:xfrm>
            <a:off x="566928" y="1572768"/>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URGENT</a:t>
            </a:r>
            <a:endParaRPr lang="en-US" sz="750" dirty="0"/>
          </a:p>
        </p:txBody>
      </p:sp>
      <p:sp>
        <p:nvSpPr>
          <p:cNvPr id="8" name="Text 6"/>
          <p:cNvSpPr/>
          <p:nvPr/>
        </p:nvSpPr>
        <p:spPr>
          <a:xfrm>
            <a:off x="1691640" y="1600200"/>
            <a:ext cx="4206240" cy="256032"/>
          </a:xfrm>
          <a:prstGeom prst="rect">
            <a:avLst/>
          </a:prstGeom>
          <a:noFill/>
          <a:ln/>
        </p:spPr>
        <p:txBody>
          <a:bodyPr wrap="square" lIns="0" tIns="0" rIns="0" bIns="0" rtlCol="0" anchor="ctr"/>
          <a:lstStyle/>
          <a:p>
            <a:pPr indent="0" marL="0">
              <a:buNone/>
            </a:pPr>
            <a:r>
              <a:rPr lang="en-US" sz="900" b="1" dirty="0">
                <a:solidFill>
                  <a:srgbClr val="E14B4B"/>
                </a:solidFill>
              </a:rPr>
              <a:t>Late August 2026</a:t>
            </a:r>
            <a:endParaRPr lang="en-US" sz="900" dirty="0"/>
          </a:p>
        </p:txBody>
      </p:sp>
      <p:sp>
        <p:nvSpPr>
          <p:cNvPr id="9" name="Text 7"/>
          <p:cNvSpPr/>
          <p:nvPr/>
        </p:nvSpPr>
        <p:spPr>
          <a:xfrm>
            <a:off x="594360" y="1901952"/>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National Child Safety Training</a:t>
            </a:r>
            <a:endParaRPr lang="en-US" sz="1100" dirty="0"/>
          </a:p>
        </p:txBody>
      </p:sp>
      <p:sp>
        <p:nvSpPr>
          <p:cNvPr id="10" name="Text 8"/>
          <p:cNvSpPr/>
          <p:nvPr/>
        </p:nvSpPr>
        <p:spPr>
          <a:xfrm>
            <a:off x="594360" y="2176272"/>
            <a:ext cx="5303520" cy="713232"/>
          </a:xfrm>
          <a:prstGeom prst="rect">
            <a:avLst/>
          </a:prstGeom>
          <a:noFill/>
          <a:ln/>
        </p:spPr>
        <p:txBody>
          <a:bodyPr wrap="square" lIns="0" tIns="0" rIns="0" bIns="0" rtlCol="0" anchor="ctr"/>
          <a:lstStyle/>
          <a:p>
            <a:pPr indent="0" marL="0">
              <a:buNone/>
            </a:pPr>
            <a:r>
              <a:rPr lang="en-US" sz="950" dirty="0">
                <a:solidFill>
                  <a:srgbClr val="334155"/>
                </a:solidFill>
              </a:rPr>
              <a:t>Mandatory for ALL ECEC workers, volunteers and students from 27 Feb 2026. Does NOT replace SA state Child Protection training or RAN Training. Approved providers face risk if educators are not compliant.</a:t>
            </a:r>
            <a:endParaRPr lang="en-US" sz="950" dirty="0"/>
          </a:p>
        </p:txBody>
      </p:sp>
      <p:sp>
        <p:nvSpPr>
          <p:cNvPr id="11" name="Shape 9"/>
          <p:cNvSpPr/>
          <p:nvPr/>
        </p:nvSpPr>
        <p:spPr>
          <a:xfrm>
            <a:off x="6309360" y="1463040"/>
            <a:ext cx="5577840" cy="1508760"/>
          </a:xfrm>
          <a:prstGeom prst="roundRect">
            <a:avLst>
              <a:gd name="adj" fmla="val 6061"/>
            </a:avLst>
          </a:prstGeom>
          <a:solidFill>
            <a:srgbClr val="F7F8FD"/>
          </a:solidFill>
          <a:ln/>
          <a:effectLst>
            <a:outerShdw sx="100000" sy="100000" kx="0" ky="0" algn="bl" rotWithShape="0" blurRad="63500" dist="12700" dir="2700000">
              <a:srgbClr val="000000">
                <a:alpha val="7000"/>
              </a:srgbClr>
            </a:outerShdw>
          </a:effectLst>
        </p:spPr>
      </p:sp>
      <p:sp>
        <p:nvSpPr>
          <p:cNvPr id="12" name="Shape 10"/>
          <p:cNvSpPr/>
          <p:nvPr/>
        </p:nvSpPr>
        <p:spPr>
          <a:xfrm>
            <a:off x="6419088" y="1572768"/>
            <a:ext cx="1005840" cy="292608"/>
          </a:xfrm>
          <a:prstGeom prst="roundRect">
            <a:avLst>
              <a:gd name="adj" fmla="val 18750"/>
            </a:avLst>
          </a:prstGeom>
          <a:solidFill>
            <a:srgbClr val="E14B4B"/>
          </a:solidFill>
          <a:ln/>
        </p:spPr>
      </p:sp>
      <p:sp>
        <p:nvSpPr>
          <p:cNvPr id="13" name="Text 11"/>
          <p:cNvSpPr/>
          <p:nvPr/>
        </p:nvSpPr>
        <p:spPr>
          <a:xfrm>
            <a:off x="6419088" y="1572768"/>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URGENT</a:t>
            </a:r>
            <a:endParaRPr lang="en-US" sz="750" dirty="0"/>
          </a:p>
        </p:txBody>
      </p:sp>
      <p:sp>
        <p:nvSpPr>
          <p:cNvPr id="14" name="Text 12"/>
          <p:cNvSpPr/>
          <p:nvPr/>
        </p:nvSpPr>
        <p:spPr>
          <a:xfrm>
            <a:off x="7543800" y="1600200"/>
            <a:ext cx="4206240" cy="256032"/>
          </a:xfrm>
          <a:prstGeom prst="rect">
            <a:avLst/>
          </a:prstGeom>
          <a:noFill/>
          <a:ln/>
        </p:spPr>
        <p:txBody>
          <a:bodyPr wrap="square" lIns="0" tIns="0" rIns="0" bIns="0" rtlCol="0" anchor="ctr"/>
          <a:lstStyle/>
          <a:p>
            <a:pPr indent="0" marL="0">
              <a:buNone/>
            </a:pPr>
            <a:r>
              <a:rPr lang="en-US" sz="900" b="1" dirty="0">
                <a:solidFill>
                  <a:srgbClr val="E14B4B"/>
                </a:solidFill>
              </a:rPr>
              <a:t>Late March 2026</a:t>
            </a:r>
            <a:endParaRPr lang="en-US" sz="900" dirty="0"/>
          </a:p>
        </p:txBody>
      </p:sp>
      <p:sp>
        <p:nvSpPr>
          <p:cNvPr id="15" name="Text 13"/>
          <p:cNvSpPr/>
          <p:nvPr/>
        </p:nvSpPr>
        <p:spPr>
          <a:xfrm>
            <a:off x="6446520" y="1901952"/>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National Early Childhood Worker Register</a:t>
            </a:r>
            <a:endParaRPr lang="en-US" sz="1100" dirty="0"/>
          </a:p>
        </p:txBody>
      </p:sp>
      <p:sp>
        <p:nvSpPr>
          <p:cNvPr id="16" name="Text 14"/>
          <p:cNvSpPr/>
          <p:nvPr/>
        </p:nvSpPr>
        <p:spPr>
          <a:xfrm>
            <a:off x="6446520" y="2176272"/>
            <a:ext cx="5303520" cy="713232"/>
          </a:xfrm>
          <a:prstGeom prst="rect">
            <a:avLst/>
          </a:prstGeom>
          <a:noFill/>
          <a:ln/>
        </p:spPr>
        <p:txBody>
          <a:bodyPr wrap="square" lIns="0" tIns="0" rIns="0" bIns="0" rtlCol="0" anchor="ctr"/>
          <a:lstStyle/>
          <a:p>
            <a:pPr indent="0" marL="0">
              <a:buNone/>
            </a:pPr>
            <a:r>
              <a:rPr lang="en-US" sz="950" dirty="0">
                <a:solidFill>
                  <a:srgbClr val="334155"/>
                </a:solidFill>
              </a:rPr>
              <a:t>Approved providers must enter all workforce information into the new national register. RT must confirm this is in place for all SA educators.</a:t>
            </a:r>
            <a:endParaRPr lang="en-US" sz="950" dirty="0"/>
          </a:p>
        </p:txBody>
      </p:sp>
      <p:sp>
        <p:nvSpPr>
          <p:cNvPr id="17" name="Shape 15"/>
          <p:cNvSpPr/>
          <p:nvPr/>
        </p:nvSpPr>
        <p:spPr>
          <a:xfrm>
            <a:off x="457200" y="3090672"/>
            <a:ext cx="5577840" cy="1508760"/>
          </a:xfrm>
          <a:prstGeom prst="roundRect">
            <a:avLst>
              <a:gd name="adj" fmla="val 6061"/>
            </a:avLst>
          </a:prstGeom>
          <a:solidFill>
            <a:srgbClr val="F7F8FD"/>
          </a:solidFill>
          <a:ln/>
          <a:effectLst>
            <a:outerShdw sx="100000" sy="100000" kx="0" ky="0" algn="bl" rotWithShape="0" blurRad="63500" dist="12700" dir="2700000">
              <a:srgbClr val="000000">
                <a:alpha val="7000"/>
              </a:srgbClr>
            </a:outerShdw>
          </a:effectLst>
        </p:spPr>
      </p:sp>
      <p:sp>
        <p:nvSpPr>
          <p:cNvPr id="18" name="Shape 16"/>
          <p:cNvSpPr/>
          <p:nvPr/>
        </p:nvSpPr>
        <p:spPr>
          <a:xfrm>
            <a:off x="566928" y="3200400"/>
            <a:ext cx="1005840" cy="292608"/>
          </a:xfrm>
          <a:prstGeom prst="roundRect">
            <a:avLst>
              <a:gd name="adj" fmla="val 18750"/>
            </a:avLst>
          </a:prstGeom>
          <a:solidFill>
            <a:srgbClr val="F2A93B"/>
          </a:solidFill>
          <a:ln/>
        </p:spPr>
      </p:sp>
      <p:sp>
        <p:nvSpPr>
          <p:cNvPr id="19" name="Text 17"/>
          <p:cNvSpPr/>
          <p:nvPr/>
        </p:nvSpPr>
        <p:spPr>
          <a:xfrm>
            <a:off x="566928" y="3200400"/>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ACTION</a:t>
            </a:r>
            <a:endParaRPr lang="en-US" sz="750" dirty="0"/>
          </a:p>
        </p:txBody>
      </p:sp>
      <p:sp>
        <p:nvSpPr>
          <p:cNvPr id="20" name="Text 18"/>
          <p:cNvSpPr/>
          <p:nvPr/>
        </p:nvSpPr>
        <p:spPr>
          <a:xfrm>
            <a:off x="1691640" y="3227832"/>
            <a:ext cx="4206240" cy="256032"/>
          </a:xfrm>
          <a:prstGeom prst="rect">
            <a:avLst/>
          </a:prstGeom>
          <a:noFill/>
          <a:ln/>
        </p:spPr>
        <p:txBody>
          <a:bodyPr wrap="square" lIns="0" tIns="0" rIns="0" bIns="0" rtlCol="0" anchor="ctr"/>
          <a:lstStyle/>
          <a:p>
            <a:pPr indent="0" marL="0">
              <a:buNone/>
            </a:pPr>
            <a:r>
              <a:rPr lang="en-US" sz="900" b="1" dirty="0">
                <a:solidFill>
                  <a:srgbClr val="F2A93B"/>
                </a:solidFill>
              </a:rPr>
              <a:t>30 September 2026</a:t>
            </a:r>
            <a:endParaRPr lang="en-US" sz="900" dirty="0"/>
          </a:p>
        </p:txBody>
      </p:sp>
      <p:sp>
        <p:nvSpPr>
          <p:cNvPr id="21" name="Text 19"/>
          <p:cNvSpPr/>
          <p:nvPr/>
        </p:nvSpPr>
        <p:spPr>
          <a:xfrm>
            <a:off x="594360" y="3529584"/>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WRP Application Deadline</a:t>
            </a:r>
            <a:endParaRPr lang="en-US" sz="1100" dirty="0"/>
          </a:p>
        </p:txBody>
      </p:sp>
      <p:sp>
        <p:nvSpPr>
          <p:cNvPr id="22" name="Text 20"/>
          <p:cNvSpPr/>
          <p:nvPr/>
        </p:nvSpPr>
        <p:spPr>
          <a:xfrm>
            <a:off x="594360" y="3803904"/>
            <a:ext cx="5303520" cy="713232"/>
          </a:xfrm>
          <a:prstGeom prst="rect">
            <a:avLst/>
          </a:prstGeom>
          <a:noFill/>
          <a:ln/>
        </p:spPr>
        <p:txBody>
          <a:bodyPr wrap="square" lIns="0" tIns="0" rIns="0" bIns="0" rtlCol="0" anchor="ctr"/>
          <a:lstStyle/>
          <a:p>
            <a:pPr indent="0" marL="0">
              <a:buNone/>
            </a:pPr>
            <a:r>
              <a:rPr lang="en-US" sz="950" dirty="0">
                <a:solidFill>
                  <a:srgbClr val="334155"/>
                </a:solidFill>
              </a:rPr>
              <a:t>Final deadline to apply. Backdating to 2 December 2024 required applications by 30 September 2025. WRP payments run until 30 November 2026, with further increases legislated from December 2026.</a:t>
            </a:r>
            <a:endParaRPr lang="en-US" sz="950" dirty="0"/>
          </a:p>
        </p:txBody>
      </p:sp>
      <p:sp>
        <p:nvSpPr>
          <p:cNvPr id="23" name="Shape 21"/>
          <p:cNvSpPr/>
          <p:nvPr/>
        </p:nvSpPr>
        <p:spPr>
          <a:xfrm>
            <a:off x="6309360" y="3090672"/>
            <a:ext cx="5577840" cy="1508760"/>
          </a:xfrm>
          <a:prstGeom prst="roundRect">
            <a:avLst>
              <a:gd name="adj" fmla="val 6061"/>
            </a:avLst>
          </a:prstGeom>
          <a:solidFill>
            <a:srgbClr val="F7F8FD"/>
          </a:solidFill>
          <a:ln/>
          <a:effectLst>
            <a:outerShdw sx="100000" sy="100000" kx="0" ky="0" algn="bl" rotWithShape="0" blurRad="63500" dist="12700" dir="2700000">
              <a:srgbClr val="000000">
                <a:alpha val="7000"/>
              </a:srgbClr>
            </a:outerShdw>
          </a:effectLst>
        </p:spPr>
      </p:sp>
      <p:sp>
        <p:nvSpPr>
          <p:cNvPr id="24" name="Shape 22"/>
          <p:cNvSpPr/>
          <p:nvPr/>
        </p:nvSpPr>
        <p:spPr>
          <a:xfrm>
            <a:off x="6419088" y="3200400"/>
            <a:ext cx="1005840" cy="292608"/>
          </a:xfrm>
          <a:prstGeom prst="roundRect">
            <a:avLst>
              <a:gd name="adj" fmla="val 18750"/>
            </a:avLst>
          </a:prstGeom>
          <a:solidFill>
            <a:srgbClr val="F2A93B"/>
          </a:solidFill>
          <a:ln/>
        </p:spPr>
      </p:sp>
      <p:sp>
        <p:nvSpPr>
          <p:cNvPr id="25" name="Text 23"/>
          <p:cNvSpPr/>
          <p:nvPr/>
        </p:nvSpPr>
        <p:spPr>
          <a:xfrm>
            <a:off x="6419088" y="3200400"/>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SA SPECIFIC</a:t>
            </a:r>
            <a:endParaRPr lang="en-US" sz="750" dirty="0"/>
          </a:p>
        </p:txBody>
      </p:sp>
      <p:sp>
        <p:nvSpPr>
          <p:cNvPr id="26" name="Text 24"/>
          <p:cNvSpPr/>
          <p:nvPr/>
        </p:nvSpPr>
        <p:spPr>
          <a:xfrm>
            <a:off x="7543800" y="3227832"/>
            <a:ext cx="4206240" cy="256032"/>
          </a:xfrm>
          <a:prstGeom prst="rect">
            <a:avLst/>
          </a:prstGeom>
          <a:noFill/>
          <a:ln/>
        </p:spPr>
        <p:txBody>
          <a:bodyPr wrap="square" lIns="0" tIns="0" rIns="0" bIns="0" rtlCol="0" anchor="ctr"/>
          <a:lstStyle/>
          <a:p>
            <a:pPr indent="0" marL="0">
              <a:buNone/>
            </a:pPr>
            <a:r>
              <a:rPr lang="en-US" sz="900" b="1" dirty="0">
                <a:solidFill>
                  <a:srgbClr val="F2A93B"/>
                </a:solidFill>
              </a:rPr>
              <a:t>Ongoing — check expiry</a:t>
            </a:r>
            <a:endParaRPr lang="en-US" sz="900" dirty="0"/>
          </a:p>
        </p:txBody>
      </p:sp>
      <p:sp>
        <p:nvSpPr>
          <p:cNvPr id="27" name="Text 25"/>
          <p:cNvSpPr/>
          <p:nvPr/>
        </p:nvSpPr>
        <p:spPr>
          <a:xfrm>
            <a:off x="6446520" y="3529584"/>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SA DCSI Screening (SA Only)</a:t>
            </a:r>
            <a:endParaRPr lang="en-US" sz="1100" dirty="0"/>
          </a:p>
        </p:txBody>
      </p:sp>
      <p:sp>
        <p:nvSpPr>
          <p:cNvPr id="28" name="Text 26"/>
          <p:cNvSpPr/>
          <p:nvPr/>
        </p:nvSpPr>
        <p:spPr>
          <a:xfrm>
            <a:off x="6446520" y="3803904"/>
            <a:ext cx="5303520" cy="713232"/>
          </a:xfrm>
          <a:prstGeom prst="rect">
            <a:avLst/>
          </a:prstGeom>
          <a:noFill/>
          <a:ln/>
        </p:spPr>
        <p:txBody>
          <a:bodyPr wrap="square" lIns="0" tIns="0" rIns="0" bIns="0" rtlCol="0" anchor="ctr"/>
          <a:lstStyle/>
          <a:p>
            <a:pPr indent="0" marL="0">
              <a:buNone/>
            </a:pPr>
            <a:r>
              <a:rPr lang="en-US" sz="950" dirty="0">
                <a:solidFill>
                  <a:srgbClr val="334155"/>
                </a:solidFill>
              </a:rPr>
              <a:t>South Australia's Working with Children equivalent. NOT the same as VIC WWCC. Educators cannot work across both SA and VIC without BOTH checks. Raw Talent must track separately.</a:t>
            </a:r>
            <a:endParaRPr lang="en-US" sz="950" dirty="0"/>
          </a:p>
        </p:txBody>
      </p:sp>
      <p:sp>
        <p:nvSpPr>
          <p:cNvPr id="29" name="Shape 27"/>
          <p:cNvSpPr/>
          <p:nvPr/>
        </p:nvSpPr>
        <p:spPr>
          <a:xfrm>
            <a:off x="457200" y="4718304"/>
            <a:ext cx="5577840" cy="1508760"/>
          </a:xfrm>
          <a:prstGeom prst="roundRect">
            <a:avLst>
              <a:gd name="adj" fmla="val 6061"/>
            </a:avLst>
          </a:prstGeom>
          <a:solidFill>
            <a:srgbClr val="F7F8FD"/>
          </a:solidFill>
          <a:ln/>
          <a:effectLst>
            <a:outerShdw sx="100000" sy="100000" kx="0" ky="0" algn="bl" rotWithShape="0" blurRad="63500" dist="12700" dir="2700000">
              <a:srgbClr val="000000">
                <a:alpha val="7000"/>
              </a:srgbClr>
            </a:outerShdw>
          </a:effectLst>
        </p:spPr>
      </p:sp>
      <p:sp>
        <p:nvSpPr>
          <p:cNvPr id="30" name="Shape 28"/>
          <p:cNvSpPr/>
          <p:nvPr/>
        </p:nvSpPr>
        <p:spPr>
          <a:xfrm>
            <a:off x="566928" y="4828032"/>
            <a:ext cx="1005840" cy="292608"/>
          </a:xfrm>
          <a:prstGeom prst="roundRect">
            <a:avLst>
              <a:gd name="adj" fmla="val 18750"/>
            </a:avLst>
          </a:prstGeom>
          <a:solidFill>
            <a:srgbClr val="3A6FF8"/>
          </a:solidFill>
          <a:ln/>
        </p:spPr>
      </p:sp>
      <p:sp>
        <p:nvSpPr>
          <p:cNvPr id="31" name="Text 29"/>
          <p:cNvSpPr/>
          <p:nvPr/>
        </p:nvSpPr>
        <p:spPr>
          <a:xfrm>
            <a:off x="566928" y="4828032"/>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SA SPECIFIC</a:t>
            </a:r>
            <a:endParaRPr lang="en-US" sz="750" dirty="0"/>
          </a:p>
        </p:txBody>
      </p:sp>
      <p:sp>
        <p:nvSpPr>
          <p:cNvPr id="32" name="Text 30"/>
          <p:cNvSpPr/>
          <p:nvPr/>
        </p:nvSpPr>
        <p:spPr>
          <a:xfrm>
            <a:off x="1691640" y="4855464"/>
            <a:ext cx="4206240" cy="256032"/>
          </a:xfrm>
          <a:prstGeom prst="rect">
            <a:avLst/>
          </a:prstGeom>
          <a:noFill/>
          <a:ln/>
        </p:spPr>
        <p:txBody>
          <a:bodyPr wrap="square" lIns="0" tIns="0" rIns="0" bIns="0" rtlCol="0" anchor="ctr"/>
          <a:lstStyle/>
          <a:p>
            <a:pPr indent="0" marL="0">
              <a:buNone/>
            </a:pPr>
            <a:r>
              <a:rPr lang="en-US" sz="900" b="1" dirty="0">
                <a:solidFill>
                  <a:srgbClr val="3A6FF8"/>
                </a:solidFill>
              </a:rPr>
              <a:t>Ongoing — check renewal</a:t>
            </a:r>
            <a:endParaRPr lang="en-US" sz="900" dirty="0"/>
          </a:p>
        </p:txBody>
      </p:sp>
      <p:sp>
        <p:nvSpPr>
          <p:cNvPr id="33" name="Text 31"/>
          <p:cNvSpPr/>
          <p:nvPr/>
        </p:nvSpPr>
        <p:spPr>
          <a:xfrm>
            <a:off x="594360" y="5157216"/>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RAN Training (SA Only)</a:t>
            </a:r>
            <a:endParaRPr lang="en-US" sz="1100" dirty="0"/>
          </a:p>
        </p:txBody>
      </p:sp>
      <p:sp>
        <p:nvSpPr>
          <p:cNvPr id="34" name="Text 32"/>
          <p:cNvSpPr/>
          <p:nvPr/>
        </p:nvSpPr>
        <p:spPr>
          <a:xfrm>
            <a:off x="594360" y="5431536"/>
            <a:ext cx="5303520" cy="713232"/>
          </a:xfrm>
          <a:prstGeom prst="rect">
            <a:avLst/>
          </a:prstGeom>
          <a:noFill/>
          <a:ln/>
        </p:spPr>
        <p:txBody>
          <a:bodyPr wrap="square" lIns="0" tIns="0" rIns="0" bIns="0" rtlCol="0" anchor="ctr"/>
          <a:lstStyle/>
          <a:p>
            <a:pPr indent="0" marL="0">
              <a:buNone/>
            </a:pPr>
            <a:r>
              <a:rPr lang="en-US" sz="950" dirty="0">
                <a:solidFill>
                  <a:srgbClr val="334155"/>
                </a:solidFill>
              </a:rPr>
              <a:t>Responding to Abuse and Neglect — SA legislative requirement separate from national NCS Training. Must be verified for every SA educator before deployment.</a:t>
            </a:r>
            <a:endParaRPr lang="en-US" sz="950" dirty="0"/>
          </a:p>
        </p:txBody>
      </p:sp>
      <p:sp>
        <p:nvSpPr>
          <p:cNvPr id="35" name="Shape 33"/>
          <p:cNvSpPr/>
          <p:nvPr/>
        </p:nvSpPr>
        <p:spPr>
          <a:xfrm>
            <a:off x="6309360" y="4718304"/>
            <a:ext cx="5577840" cy="1508760"/>
          </a:xfrm>
          <a:prstGeom prst="roundRect">
            <a:avLst>
              <a:gd name="adj" fmla="val 6061"/>
            </a:avLst>
          </a:prstGeom>
          <a:solidFill>
            <a:srgbClr val="F7F8FD"/>
          </a:solidFill>
          <a:ln/>
          <a:effectLst>
            <a:outerShdw sx="100000" sy="100000" kx="0" ky="0" algn="bl" rotWithShape="0" blurRad="63500" dist="12700" dir="2700000">
              <a:srgbClr val="000000">
                <a:alpha val="7000"/>
              </a:srgbClr>
            </a:outerShdw>
          </a:effectLst>
        </p:spPr>
      </p:sp>
      <p:sp>
        <p:nvSpPr>
          <p:cNvPr id="36" name="Shape 34"/>
          <p:cNvSpPr/>
          <p:nvPr/>
        </p:nvSpPr>
        <p:spPr>
          <a:xfrm>
            <a:off x="6419088" y="4828032"/>
            <a:ext cx="1005840" cy="292608"/>
          </a:xfrm>
          <a:prstGeom prst="roundRect">
            <a:avLst>
              <a:gd name="adj" fmla="val 18750"/>
            </a:avLst>
          </a:prstGeom>
          <a:solidFill>
            <a:srgbClr val="3A6FF8"/>
          </a:solidFill>
          <a:ln/>
        </p:spPr>
      </p:sp>
      <p:sp>
        <p:nvSpPr>
          <p:cNvPr id="37" name="Text 35"/>
          <p:cNvSpPr/>
          <p:nvPr/>
        </p:nvSpPr>
        <p:spPr>
          <a:xfrm>
            <a:off x="6419088" y="4828032"/>
            <a:ext cx="1005840" cy="292608"/>
          </a:xfrm>
          <a:prstGeom prst="rect">
            <a:avLst/>
          </a:prstGeom>
          <a:noFill/>
          <a:ln/>
        </p:spPr>
        <p:txBody>
          <a:bodyPr wrap="square" lIns="0" tIns="0" rIns="0" bIns="0" rtlCol="0" anchor="ctr"/>
          <a:lstStyle/>
          <a:p>
            <a:pPr algn="ctr" indent="0" marL="0">
              <a:buNone/>
            </a:pPr>
            <a:r>
              <a:rPr lang="en-US" sz="750" b="1" dirty="0">
                <a:solidFill>
                  <a:srgbClr val="FFFFFF"/>
                </a:solidFill>
              </a:rPr>
              <a:t>WAGE REFORM</a:t>
            </a:r>
            <a:endParaRPr lang="en-US" sz="750" dirty="0"/>
          </a:p>
        </p:txBody>
      </p:sp>
      <p:sp>
        <p:nvSpPr>
          <p:cNvPr id="38" name="Text 36"/>
          <p:cNvSpPr/>
          <p:nvPr/>
        </p:nvSpPr>
        <p:spPr>
          <a:xfrm>
            <a:off x="7543800" y="4855464"/>
            <a:ext cx="4206240" cy="256032"/>
          </a:xfrm>
          <a:prstGeom prst="rect">
            <a:avLst/>
          </a:prstGeom>
          <a:noFill/>
          <a:ln/>
        </p:spPr>
        <p:txBody>
          <a:bodyPr wrap="square" lIns="0" tIns="0" rIns="0" bIns="0" rtlCol="0" anchor="ctr"/>
          <a:lstStyle/>
          <a:p>
            <a:pPr indent="0" marL="0">
              <a:buNone/>
            </a:pPr>
            <a:r>
              <a:rPr lang="en-US" sz="900" b="1" dirty="0">
                <a:solidFill>
                  <a:srgbClr val="3A6FF8"/>
                </a:solidFill>
              </a:rPr>
              <a:t>From January 2026 (est.)</a:t>
            </a:r>
            <a:endParaRPr lang="en-US" sz="900" dirty="0"/>
          </a:p>
        </p:txBody>
      </p:sp>
      <p:sp>
        <p:nvSpPr>
          <p:cNvPr id="39" name="Text 37"/>
          <p:cNvSpPr/>
          <p:nvPr/>
        </p:nvSpPr>
        <p:spPr>
          <a:xfrm>
            <a:off x="6446520" y="5157216"/>
            <a:ext cx="5303520" cy="274320"/>
          </a:xfrm>
          <a:prstGeom prst="rect">
            <a:avLst/>
          </a:prstGeom>
          <a:noFill/>
          <a:ln/>
        </p:spPr>
        <p:txBody>
          <a:bodyPr wrap="square" lIns="0" tIns="0" rIns="0" bIns="0" rtlCol="0" anchor="ctr"/>
          <a:lstStyle/>
          <a:p>
            <a:pPr indent="0" marL="0">
              <a:buNone/>
            </a:pPr>
            <a:r>
              <a:rPr lang="en-US" sz="1100" b="1" dirty="0">
                <a:solidFill>
                  <a:srgbClr val="1E2A3A"/>
                </a:solidFill>
              </a:rPr>
              <a:t>FWC Gender Undervaluation Increase</a:t>
            </a:r>
            <a:endParaRPr lang="en-US" sz="1100" dirty="0"/>
          </a:p>
        </p:txBody>
      </p:sp>
      <p:sp>
        <p:nvSpPr>
          <p:cNvPr id="40" name="Text 38"/>
          <p:cNvSpPr/>
          <p:nvPr/>
        </p:nvSpPr>
        <p:spPr>
          <a:xfrm>
            <a:off x="6446520" y="5431536"/>
            <a:ext cx="5303520" cy="713232"/>
          </a:xfrm>
          <a:prstGeom prst="rect">
            <a:avLst/>
          </a:prstGeom>
          <a:noFill/>
          <a:ln/>
        </p:spPr>
        <p:txBody>
          <a:bodyPr wrap="square" lIns="0" tIns="0" rIns="0" bIns="0" rtlCol="0" anchor="ctr"/>
          <a:lstStyle/>
          <a:p>
            <a:pPr indent="0" marL="0">
              <a:buNone/>
            </a:pPr>
            <a:r>
              <a:rPr lang="en-US" sz="950" dirty="0">
                <a:solidFill>
                  <a:srgbClr val="334155"/>
                </a:solidFill>
              </a:rPr>
              <a:t>Fair Work Commission provisional decision: 9–28% uplift for Children's Services Award classifications. Timeline revised from Aug 2025 to Jan 2026. Affects charge rates and educator pay calculations.</a:t>
            </a:r>
            <a:endParaRPr lang="en-US" sz="950" dirty="0"/>
          </a:p>
        </p:txBody>
      </p:sp>
      <p:sp>
        <p:nvSpPr>
          <p:cNvPr id="41" name="Text 39"/>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ACECQA.gov.au (May 2026) | TalentNow 2026 Reform Update — Child Safety Training | ACA WRP Support Service FAQ | Education and Care Services National Regulations | SA Department for Child Protection (DCSI) | SA Department for Human Services (RAN Training) | FWC Children's Services Award provisional determination, 2025</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1E2A3A"/>
          </a:solidFill>
          <a:ln w="12700">
            <a:solidFill>
              <a:srgbClr val="1E2A3A"/>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FEATURE COMPARISON</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Raw Talent vs TalentNow — Head to Head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2560320"/>
                <a:gridCol w="3108960"/>
                <a:gridCol w="3108960"/>
                <a:gridCol w="2468880"/>
              </a:tblGrid>
              <a:tr h="35661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Advantage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A3A"/>
                    </a:solidFill>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Founded / Experience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2018 — 8 years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2021–22 — 3–4 years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Business model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2 models: Connect + Casual Hire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1 model: Agency only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National reach</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All states and territories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SA and VIC only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SA market depth</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Limited — based in NSW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Strong — Edge partnership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WRP optimisation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Connect model built around WRP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Toggle available, needs confirmation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Flat fee option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$30/shift (Connect model)</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No — agency rate only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Payroll automation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Employment Hero integration</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Manual processing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Compliance tracking</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Automated real-time alerts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Manual review process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Educator ratings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Centres rate educators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Not yet available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Personal relationships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Remote, national scale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Liam's centre visits — SA</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Edge SA partnership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No known partnership</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CONFIRMED primary agency</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27AE60"/>
                          </a:solidFill>
                          <a:latin typeface="Calibri" pitchFamily="34" charset="0"/>
                          <a:ea typeface="Calibri" pitchFamily="34" charset="-122"/>
                          <a:cs typeface="Calibri" pitchFamily="34" charset="-120"/>
                        </a:rPr>
                        <a:t>Raw Talent</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56616">
                <a:tc>
                  <a:txBody>
                    <a:bodyPr/>
                    <a:lstStyle/>
                    <a:p>
                      <a:pPr algn="l" indent="0" marL="0">
                        <a:buNone/>
                      </a:pPr>
                      <a:r>
                        <a:rPr lang="en-US" sz="1050" b="1" dirty="0">
                          <a:solidFill>
                            <a:srgbClr val="1E2A3A"/>
                          </a:solidFill>
                          <a:latin typeface="Calibri" pitchFamily="34" charset="0"/>
                          <a:ea typeface="Calibri" pitchFamily="34" charset="-122"/>
                          <a:cs typeface="Calibri" pitchFamily="34" charset="-120"/>
                        </a:rPr>
                        <a:t>Pay rate competitiveness</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~$44/hr (est. Casual Hire)</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l" indent="0" marL="0">
                        <a:buNone/>
                      </a:pPr>
                      <a:r>
                        <a:rPr lang="en-US" sz="1050" dirty="0">
                          <a:solidFill>
                            <a:srgbClr val="334155"/>
                          </a:solidFill>
                          <a:latin typeface="Calibri" pitchFamily="34" charset="0"/>
                          <a:ea typeface="Calibri" pitchFamily="34" charset="-122"/>
                          <a:cs typeface="Calibri" pitchFamily="34" charset="-120"/>
                        </a:rPr>
                        <a:t>~$42/hr (gap = $4–5)</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50" b="1" dirty="0">
                          <a:solidFill>
                            <a:srgbClr val="E14B4B"/>
                          </a:solidFill>
                          <a:latin typeface="Calibri" pitchFamily="34" charset="0"/>
                          <a:ea typeface="Calibri" pitchFamily="34" charset="-122"/>
                          <a:cs typeface="Calibri" pitchFamily="34" charset="-120"/>
                        </a:rPr>
                        <a:t>TalentNow</a:t>
                      </a:r>
                      <a:endParaRPr lang="en-US" sz="105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Sources: TalentNow.com.au | LinkedIn company profile (Talent Now) | Raw Talent internal data | Edge SA partnership confirmed June 2026 | Joy Victoria analysis, June 2026. Note: TalentNow Casual Hire rate is estimated as exact pricing is not publicly disclosed.</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E14B4B"/>
          </a:solidFill>
          <a:ln w="12700">
            <a:solidFill>
              <a:srgbClr val="E14B4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COMPETITIVE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TalentNow Beats Raw Talent — Right Now</a:t>
            </a:r>
            <a:endParaRPr lang="en-US" sz="3000" dirty="0"/>
          </a:p>
        </p:txBody>
      </p:sp>
      <p:sp>
        <p:nvSpPr>
          <p:cNvPr id="5" name="Shape 3"/>
          <p:cNvSpPr/>
          <p:nvPr/>
        </p:nvSpPr>
        <p:spPr>
          <a:xfrm>
            <a:off x="457200" y="1417320"/>
            <a:ext cx="3566160" cy="1874520"/>
          </a:xfrm>
          <a:prstGeom prst="roundRect">
            <a:avLst>
              <a:gd name="adj" fmla="val 4878"/>
            </a:avLst>
          </a:prstGeom>
          <a:solidFill>
            <a:srgbClr val="FFF5F5"/>
          </a:solidFill>
          <a:ln/>
          <a:effectLst>
            <a:outerShdw sx="100000" sy="100000" kx="0" ky="0" algn="bl" rotWithShape="0" blurRad="76200" dist="25400" dir="2700000">
              <a:srgbClr val="000000">
                <a:alpha val="7000"/>
              </a:srgbClr>
            </a:outerShdw>
          </a:effectLst>
        </p:spPr>
      </p:sp>
      <p:sp>
        <p:nvSpPr>
          <p:cNvPr id="6" name="Text 4"/>
          <p:cNvSpPr/>
          <p:nvPr/>
        </p:nvSpPr>
        <p:spPr>
          <a:xfrm>
            <a:off x="621792" y="152704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17043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WRP-Native Connect Model</a:t>
            </a:r>
            <a:endParaRPr lang="en-US" sz="1100" dirty="0"/>
          </a:p>
        </p:txBody>
      </p:sp>
      <p:sp>
        <p:nvSpPr>
          <p:cNvPr id="8" name="Text 6"/>
          <p:cNvSpPr/>
          <p:nvPr/>
        </p:nvSpPr>
        <p:spPr>
          <a:xfrm>
            <a:off x="62179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$30/shift flat fee with centre as employer. Educators get WRP without agency involvement. Unbeatable cost structure for price-sensitive centres.</a:t>
            </a:r>
            <a:endParaRPr lang="en-US" sz="1000" dirty="0"/>
          </a:p>
        </p:txBody>
      </p:sp>
      <p:sp>
        <p:nvSpPr>
          <p:cNvPr id="9" name="Shape 7"/>
          <p:cNvSpPr/>
          <p:nvPr/>
        </p:nvSpPr>
        <p:spPr>
          <a:xfrm>
            <a:off x="4297680" y="1417320"/>
            <a:ext cx="3566160" cy="1874520"/>
          </a:xfrm>
          <a:prstGeom prst="roundRect">
            <a:avLst>
              <a:gd name="adj" fmla="val 4878"/>
            </a:avLst>
          </a:prstGeom>
          <a:solidFill>
            <a:srgbClr val="FFF5F5"/>
          </a:solidFill>
          <a:ln/>
          <a:effectLst>
            <a:outerShdw sx="100000" sy="100000" kx="0" ky="0" algn="bl" rotWithShape="0" blurRad="76200" dist="25400" dir="2700000">
              <a:srgbClr val="000000">
                <a:alpha val="7000"/>
              </a:srgbClr>
            </a:outerShdw>
          </a:effectLst>
        </p:spPr>
      </p:sp>
      <p:sp>
        <p:nvSpPr>
          <p:cNvPr id="10" name="Text 8"/>
          <p:cNvSpPr/>
          <p:nvPr/>
        </p:nvSpPr>
        <p:spPr>
          <a:xfrm>
            <a:off x="4462272" y="152704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501091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8 Years of Technology</a:t>
            </a:r>
            <a:endParaRPr lang="en-US" sz="1100" dirty="0"/>
          </a:p>
        </p:txBody>
      </p:sp>
      <p:sp>
        <p:nvSpPr>
          <p:cNvPr id="12" name="Text 10"/>
          <p:cNvSpPr/>
          <p:nvPr/>
        </p:nvSpPr>
        <p:spPr>
          <a:xfrm>
            <a:off x="446227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Automated compliance tracking, Employment Hero payroll integration, educator ratings, real-time shift matching. RT is 4–5 years behind on platform maturity.</a:t>
            </a:r>
            <a:endParaRPr lang="en-US" sz="1000" dirty="0"/>
          </a:p>
        </p:txBody>
      </p:sp>
      <p:sp>
        <p:nvSpPr>
          <p:cNvPr id="13" name="Shape 11"/>
          <p:cNvSpPr/>
          <p:nvPr/>
        </p:nvSpPr>
        <p:spPr>
          <a:xfrm>
            <a:off x="8138160" y="1417320"/>
            <a:ext cx="3566160" cy="1874520"/>
          </a:xfrm>
          <a:prstGeom prst="roundRect">
            <a:avLst>
              <a:gd name="adj" fmla="val 4878"/>
            </a:avLst>
          </a:prstGeom>
          <a:solidFill>
            <a:srgbClr val="FFF5F5"/>
          </a:solidFill>
          <a:ln/>
          <a:effectLst>
            <a:outerShdw sx="100000" sy="100000" kx="0" ky="0" algn="bl" rotWithShape="0" blurRad="76200" dist="25400" dir="2700000">
              <a:srgbClr val="000000">
                <a:alpha val="7000"/>
              </a:srgbClr>
            </a:outerShdw>
          </a:effectLst>
        </p:spPr>
      </p:sp>
      <p:sp>
        <p:nvSpPr>
          <p:cNvPr id="14" name="Text 12"/>
          <p:cNvSpPr/>
          <p:nvPr/>
        </p:nvSpPr>
        <p:spPr>
          <a:xfrm>
            <a:off x="8302752" y="152704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885139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National Educator Pool</a:t>
            </a:r>
            <a:endParaRPr lang="en-US" sz="1100" dirty="0"/>
          </a:p>
        </p:txBody>
      </p:sp>
      <p:sp>
        <p:nvSpPr>
          <p:cNvPr id="16" name="Text 14"/>
          <p:cNvSpPr/>
          <p:nvPr/>
        </p:nvSpPr>
        <p:spPr>
          <a:xfrm>
            <a:off x="830275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Thousands of screened educators across all states. RT's pool is limited to SA and VIC — a vulnerability if Edge expands interstate.</a:t>
            </a:r>
            <a:endParaRPr lang="en-US" sz="1000" dirty="0"/>
          </a:p>
        </p:txBody>
      </p:sp>
      <p:sp>
        <p:nvSpPr>
          <p:cNvPr id="17" name="Shape 15"/>
          <p:cNvSpPr/>
          <p:nvPr/>
        </p:nvSpPr>
        <p:spPr>
          <a:xfrm>
            <a:off x="457200" y="3429000"/>
            <a:ext cx="3566160" cy="1874520"/>
          </a:xfrm>
          <a:prstGeom prst="roundRect">
            <a:avLst>
              <a:gd name="adj" fmla="val 4878"/>
            </a:avLst>
          </a:prstGeom>
          <a:solidFill>
            <a:srgbClr val="FFF5F5"/>
          </a:solidFill>
          <a:ln/>
          <a:effectLst>
            <a:outerShdw sx="100000" sy="100000" kx="0" ky="0" algn="bl" rotWithShape="0" blurRad="76200" dist="25400" dir="2700000">
              <a:srgbClr val="000000">
                <a:alpha val="7000"/>
              </a:srgbClr>
            </a:outerShdw>
          </a:effectLst>
        </p:spPr>
      </p:sp>
      <p:sp>
        <p:nvSpPr>
          <p:cNvPr id="18" name="Text 16"/>
          <p:cNvSpPr/>
          <p:nvPr/>
        </p:nvSpPr>
        <p:spPr>
          <a:xfrm>
            <a:off x="621792" y="353872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117043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Automated Compliance Tracking</a:t>
            </a:r>
            <a:endParaRPr lang="en-US" sz="1100" dirty="0"/>
          </a:p>
        </p:txBody>
      </p:sp>
      <p:sp>
        <p:nvSpPr>
          <p:cNvPr id="20" name="Text 18"/>
          <p:cNvSpPr/>
          <p:nvPr/>
        </p:nvSpPr>
        <p:spPr>
          <a:xfrm>
            <a:off x="62179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TalentNow tracks document expiry dates in real-time and alerts educators automatically. RT does this manually — creating deployment risk.</a:t>
            </a:r>
            <a:endParaRPr lang="en-US" sz="1000" dirty="0"/>
          </a:p>
        </p:txBody>
      </p:sp>
      <p:sp>
        <p:nvSpPr>
          <p:cNvPr id="21" name="Shape 19"/>
          <p:cNvSpPr/>
          <p:nvPr/>
        </p:nvSpPr>
        <p:spPr>
          <a:xfrm>
            <a:off x="4297680" y="3429000"/>
            <a:ext cx="3566160" cy="1874520"/>
          </a:xfrm>
          <a:prstGeom prst="roundRect">
            <a:avLst>
              <a:gd name="adj" fmla="val 4878"/>
            </a:avLst>
          </a:prstGeom>
          <a:solidFill>
            <a:srgbClr val="FFF5F5"/>
          </a:solidFill>
          <a:ln/>
          <a:effectLst>
            <a:outerShdw sx="100000" sy="100000" kx="0" ky="0" algn="bl" rotWithShape="0" blurRad="76200" dist="25400" dir="2700000">
              <a:srgbClr val="000000">
                <a:alpha val="7000"/>
              </a:srgbClr>
            </a:outerShdw>
          </a:effectLst>
        </p:spPr>
      </p:sp>
      <p:sp>
        <p:nvSpPr>
          <p:cNvPr id="22" name="Text 20"/>
          <p:cNvSpPr/>
          <p:nvPr/>
        </p:nvSpPr>
        <p:spPr>
          <a:xfrm>
            <a:off x="4462272" y="353872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05</a:t>
            </a:r>
            <a:endParaRPr lang="en-US" sz="2200" dirty="0"/>
          </a:p>
        </p:txBody>
      </p:sp>
      <p:sp>
        <p:nvSpPr>
          <p:cNvPr id="23" name="Text 21"/>
          <p:cNvSpPr/>
          <p:nvPr/>
        </p:nvSpPr>
        <p:spPr>
          <a:xfrm>
            <a:off x="501091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Regulatory Thought Leadership</a:t>
            </a:r>
            <a:endParaRPr lang="en-US" sz="1100" dirty="0"/>
          </a:p>
        </p:txBody>
      </p:sp>
      <p:sp>
        <p:nvSpPr>
          <p:cNvPr id="24" name="Text 22"/>
          <p:cNvSpPr/>
          <p:nvPr/>
        </p:nvSpPr>
        <p:spPr>
          <a:xfrm>
            <a:off x="446227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Dedicated NCS Training 2026 guide, WRP wage change explainer published months ahead. RT has no equivalent. Centres see TalentNow as the compliance authority.</a:t>
            </a:r>
            <a:endParaRPr lang="en-US" sz="1000" dirty="0"/>
          </a:p>
        </p:txBody>
      </p:sp>
      <p:sp>
        <p:nvSpPr>
          <p:cNvPr id="25" name="Shape 23"/>
          <p:cNvSpPr/>
          <p:nvPr/>
        </p:nvSpPr>
        <p:spPr>
          <a:xfrm>
            <a:off x="8138160" y="3429000"/>
            <a:ext cx="3566160" cy="1874520"/>
          </a:xfrm>
          <a:prstGeom prst="roundRect">
            <a:avLst>
              <a:gd name="adj" fmla="val 4878"/>
            </a:avLst>
          </a:prstGeom>
          <a:solidFill>
            <a:srgbClr val="FFF5F5"/>
          </a:solidFill>
          <a:ln/>
          <a:effectLst>
            <a:outerShdw sx="100000" sy="100000" kx="0" ky="0" algn="bl" rotWithShape="0" blurRad="76200" dist="25400" dir="2700000">
              <a:srgbClr val="000000">
                <a:alpha val="7000"/>
              </a:srgbClr>
            </a:outerShdw>
          </a:effectLst>
        </p:spPr>
      </p:sp>
      <p:sp>
        <p:nvSpPr>
          <p:cNvPr id="26" name="Text 24"/>
          <p:cNvSpPr/>
          <p:nvPr/>
        </p:nvSpPr>
        <p:spPr>
          <a:xfrm>
            <a:off x="8302752" y="3538728"/>
            <a:ext cx="502920" cy="457200"/>
          </a:xfrm>
          <a:prstGeom prst="rect">
            <a:avLst/>
          </a:prstGeom>
          <a:noFill/>
          <a:ln/>
        </p:spPr>
        <p:txBody>
          <a:bodyPr wrap="square" lIns="0" tIns="0" rIns="0" bIns="0" rtlCol="0" anchor="ctr"/>
          <a:lstStyle/>
          <a:p>
            <a:pPr indent="0" marL="0">
              <a:buNone/>
            </a:pPr>
            <a:r>
              <a:rPr lang="en-US" sz="2200" b="1" dirty="0">
                <a:solidFill>
                  <a:srgbClr val="E14B4B"/>
                </a:solidFill>
                <a:latin typeface="Cambria" pitchFamily="34" charset="0"/>
                <a:ea typeface="Cambria" pitchFamily="34" charset="-122"/>
                <a:cs typeface="Cambria" pitchFamily="34" charset="-120"/>
              </a:rPr>
              <a:t>06</a:t>
            </a:r>
            <a:endParaRPr lang="en-US" sz="2200" dirty="0"/>
          </a:p>
        </p:txBody>
      </p:sp>
      <p:sp>
        <p:nvSpPr>
          <p:cNvPr id="27" name="Text 25"/>
          <p:cNvSpPr/>
          <p:nvPr/>
        </p:nvSpPr>
        <p:spPr>
          <a:xfrm>
            <a:off x="885139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Flat Fee Pricing Simplicity</a:t>
            </a:r>
            <a:endParaRPr lang="en-US" sz="1100" dirty="0"/>
          </a:p>
        </p:txBody>
      </p:sp>
      <p:sp>
        <p:nvSpPr>
          <p:cNvPr id="28" name="Text 26"/>
          <p:cNvSpPr/>
          <p:nvPr/>
        </p:nvSpPr>
        <p:spPr>
          <a:xfrm>
            <a:off x="830275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$30/shift regardless of qualification or duration. Simple, predictable, and cheap. RT's charge rate structure is more complex and less transparent to centres.</a:t>
            </a:r>
            <a:endParaRPr lang="en-US" sz="1000" dirty="0"/>
          </a:p>
        </p:txBody>
      </p:sp>
      <p:sp>
        <p:nvSpPr>
          <p:cNvPr id="29" name="Text 27"/>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TalentNow.com.au | TheSector.com.au | ACECQA.gov.au | Employment Hero payroll integration (pilot Feb 2025) | Joy Victoria competitive analysis, June 2026</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27AE60"/>
          </a:solidFill>
          <a:ln w="12700">
            <a:solidFill>
              <a:srgbClr val="27AE60"/>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COMPETITIVE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Where Raw Talent Has the Edge — SA Specific Advantages</a:t>
            </a:r>
            <a:endParaRPr lang="en-US" sz="3000" dirty="0"/>
          </a:p>
        </p:txBody>
      </p:sp>
      <p:sp>
        <p:nvSpPr>
          <p:cNvPr id="5" name="Shape 3"/>
          <p:cNvSpPr/>
          <p:nvPr/>
        </p:nvSpPr>
        <p:spPr>
          <a:xfrm>
            <a:off x="457200" y="1417320"/>
            <a:ext cx="3566160" cy="1874520"/>
          </a:xfrm>
          <a:prstGeom prst="roundRect">
            <a:avLst>
              <a:gd name="adj" fmla="val 4878"/>
            </a:avLst>
          </a:prstGeom>
          <a:solidFill>
            <a:srgbClr val="F0FFF4"/>
          </a:solidFill>
          <a:ln/>
          <a:effectLst>
            <a:outerShdw sx="100000" sy="100000" kx="0" ky="0" algn="bl" rotWithShape="0" blurRad="76200" dist="25400" dir="2700000">
              <a:srgbClr val="000000">
                <a:alpha val="7000"/>
              </a:srgbClr>
            </a:outerShdw>
          </a:effectLst>
        </p:spPr>
      </p:sp>
      <p:sp>
        <p:nvSpPr>
          <p:cNvPr id="6" name="Text 4"/>
          <p:cNvSpPr/>
          <p:nvPr/>
        </p:nvSpPr>
        <p:spPr>
          <a:xfrm>
            <a:off x="621792" y="152704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17043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Edge SA — Confirmed Primary Agency</a:t>
            </a:r>
            <a:endParaRPr lang="en-US" sz="1100" dirty="0"/>
          </a:p>
        </p:txBody>
      </p:sp>
      <p:sp>
        <p:nvSpPr>
          <p:cNvPr id="8" name="Text 6"/>
          <p:cNvSpPr/>
          <p:nvPr/>
        </p:nvSpPr>
        <p:spPr>
          <a:xfrm>
            <a:off x="62179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TalentNow has no known Edge partnership. This is a captive centre base that gives RT guaranteed shift volume in SA. Protect this at all costs.</a:t>
            </a:r>
            <a:endParaRPr lang="en-US" sz="1000" dirty="0"/>
          </a:p>
        </p:txBody>
      </p:sp>
      <p:sp>
        <p:nvSpPr>
          <p:cNvPr id="9" name="Shape 7"/>
          <p:cNvSpPr/>
          <p:nvPr/>
        </p:nvSpPr>
        <p:spPr>
          <a:xfrm>
            <a:off x="4297680" y="1417320"/>
            <a:ext cx="3566160" cy="1874520"/>
          </a:xfrm>
          <a:prstGeom prst="roundRect">
            <a:avLst>
              <a:gd name="adj" fmla="val 4878"/>
            </a:avLst>
          </a:prstGeom>
          <a:solidFill>
            <a:srgbClr val="F0FFF4"/>
          </a:solidFill>
          <a:ln/>
          <a:effectLst>
            <a:outerShdw sx="100000" sy="100000" kx="0" ky="0" algn="bl" rotWithShape="0" blurRad="76200" dist="25400" dir="2700000">
              <a:srgbClr val="000000">
                <a:alpha val="7000"/>
              </a:srgbClr>
            </a:outerShdw>
          </a:effectLst>
        </p:spPr>
      </p:sp>
      <p:sp>
        <p:nvSpPr>
          <p:cNvPr id="10" name="Text 8"/>
          <p:cNvSpPr/>
          <p:nvPr/>
        </p:nvSpPr>
        <p:spPr>
          <a:xfrm>
            <a:off x="4462272" y="152704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501091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Liam's Personal Centre Relationships</a:t>
            </a:r>
            <a:endParaRPr lang="en-US" sz="1100" dirty="0"/>
          </a:p>
        </p:txBody>
      </p:sp>
      <p:sp>
        <p:nvSpPr>
          <p:cNvPr id="12" name="Text 10"/>
          <p:cNvSpPr/>
          <p:nvPr/>
        </p:nvSpPr>
        <p:spPr>
          <a:xfrm>
            <a:off x="446227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SA centre directors know Liam personally. A national agency based in NSW cannot replicate this trust. These relationships are RT's most defensible asset.</a:t>
            </a:r>
            <a:endParaRPr lang="en-US" sz="1000" dirty="0"/>
          </a:p>
        </p:txBody>
      </p:sp>
      <p:sp>
        <p:nvSpPr>
          <p:cNvPr id="13" name="Shape 11"/>
          <p:cNvSpPr/>
          <p:nvPr/>
        </p:nvSpPr>
        <p:spPr>
          <a:xfrm>
            <a:off x="8138160" y="1417320"/>
            <a:ext cx="3566160" cy="1874520"/>
          </a:xfrm>
          <a:prstGeom prst="roundRect">
            <a:avLst>
              <a:gd name="adj" fmla="val 4878"/>
            </a:avLst>
          </a:prstGeom>
          <a:solidFill>
            <a:srgbClr val="F0FFF4"/>
          </a:solidFill>
          <a:ln/>
          <a:effectLst>
            <a:outerShdw sx="100000" sy="100000" kx="0" ky="0" algn="bl" rotWithShape="0" blurRad="76200" dist="25400" dir="2700000">
              <a:srgbClr val="000000">
                <a:alpha val="7000"/>
              </a:srgbClr>
            </a:outerShdw>
          </a:effectLst>
        </p:spPr>
      </p:sp>
      <p:sp>
        <p:nvSpPr>
          <p:cNvPr id="14" name="Text 12"/>
          <p:cNvSpPr/>
          <p:nvPr/>
        </p:nvSpPr>
        <p:spPr>
          <a:xfrm>
            <a:off x="8302752" y="152704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03</a:t>
            </a:r>
            <a:endParaRPr lang="en-US" sz="2200" dirty="0"/>
          </a:p>
        </p:txBody>
      </p:sp>
      <p:sp>
        <p:nvSpPr>
          <p:cNvPr id="15" name="Text 13"/>
          <p:cNvSpPr/>
          <p:nvPr/>
        </p:nvSpPr>
        <p:spPr>
          <a:xfrm>
            <a:off x="8851392" y="155448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SA-Specific Compliance Depth</a:t>
            </a:r>
            <a:endParaRPr lang="en-US" sz="1100" dirty="0"/>
          </a:p>
        </p:txBody>
      </p:sp>
      <p:sp>
        <p:nvSpPr>
          <p:cNvPr id="16" name="Text 14"/>
          <p:cNvSpPr/>
          <p:nvPr/>
        </p:nvSpPr>
        <p:spPr>
          <a:xfrm>
            <a:off x="8302752" y="203911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RT understands DCSI Screening, RAN Training, and SA Child Protection requirements in detail. A national platform like TN may apply generic national compliance.</a:t>
            </a:r>
            <a:endParaRPr lang="en-US" sz="1000" dirty="0"/>
          </a:p>
        </p:txBody>
      </p:sp>
      <p:sp>
        <p:nvSpPr>
          <p:cNvPr id="17" name="Shape 15"/>
          <p:cNvSpPr/>
          <p:nvPr/>
        </p:nvSpPr>
        <p:spPr>
          <a:xfrm>
            <a:off x="457200" y="3429000"/>
            <a:ext cx="3566160" cy="1874520"/>
          </a:xfrm>
          <a:prstGeom prst="roundRect">
            <a:avLst>
              <a:gd name="adj" fmla="val 4878"/>
            </a:avLst>
          </a:prstGeom>
          <a:solidFill>
            <a:srgbClr val="F0FFF4"/>
          </a:solidFill>
          <a:ln/>
          <a:effectLst>
            <a:outerShdw sx="100000" sy="100000" kx="0" ky="0" algn="bl" rotWithShape="0" blurRad="76200" dist="25400" dir="2700000">
              <a:srgbClr val="000000">
                <a:alpha val="7000"/>
              </a:srgbClr>
            </a:outerShdw>
          </a:effectLst>
        </p:spPr>
      </p:sp>
      <p:sp>
        <p:nvSpPr>
          <p:cNvPr id="18" name="Text 16"/>
          <p:cNvSpPr/>
          <p:nvPr/>
        </p:nvSpPr>
        <p:spPr>
          <a:xfrm>
            <a:off x="621792" y="353872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04</a:t>
            </a:r>
            <a:endParaRPr lang="en-US" sz="2200" dirty="0"/>
          </a:p>
        </p:txBody>
      </p:sp>
      <p:sp>
        <p:nvSpPr>
          <p:cNvPr id="19" name="Text 17"/>
          <p:cNvSpPr/>
          <p:nvPr/>
        </p:nvSpPr>
        <p:spPr>
          <a:xfrm>
            <a:off x="117043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Custom Technology Platform</a:t>
            </a:r>
            <a:endParaRPr lang="en-US" sz="1100" dirty="0"/>
          </a:p>
        </p:txBody>
      </p:sp>
      <p:sp>
        <p:nvSpPr>
          <p:cNvPr id="20" name="Text 18"/>
          <p:cNvSpPr/>
          <p:nvPr/>
        </p:nvSpPr>
        <p:spPr>
          <a:xfrm>
            <a:off x="62179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RT owns its own app (Raj/Prince). While currently limited, ownership means custom features can be built for the specific SA market without SaaS dependencies.</a:t>
            </a:r>
            <a:endParaRPr lang="en-US" sz="1000" dirty="0"/>
          </a:p>
        </p:txBody>
      </p:sp>
      <p:sp>
        <p:nvSpPr>
          <p:cNvPr id="21" name="Shape 19"/>
          <p:cNvSpPr/>
          <p:nvPr/>
        </p:nvSpPr>
        <p:spPr>
          <a:xfrm>
            <a:off x="4297680" y="3429000"/>
            <a:ext cx="3566160" cy="1874520"/>
          </a:xfrm>
          <a:prstGeom prst="roundRect">
            <a:avLst>
              <a:gd name="adj" fmla="val 4878"/>
            </a:avLst>
          </a:prstGeom>
          <a:solidFill>
            <a:srgbClr val="F0FFF4"/>
          </a:solidFill>
          <a:ln/>
          <a:effectLst>
            <a:outerShdw sx="100000" sy="100000" kx="0" ky="0" algn="bl" rotWithShape="0" blurRad="76200" dist="25400" dir="2700000">
              <a:srgbClr val="000000">
                <a:alpha val="7000"/>
              </a:srgbClr>
            </a:outerShdw>
          </a:effectLst>
        </p:spPr>
      </p:sp>
      <p:sp>
        <p:nvSpPr>
          <p:cNvPr id="22" name="Text 20"/>
          <p:cNvSpPr/>
          <p:nvPr/>
        </p:nvSpPr>
        <p:spPr>
          <a:xfrm>
            <a:off x="4462272" y="353872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05</a:t>
            </a:r>
            <a:endParaRPr lang="en-US" sz="2200" dirty="0"/>
          </a:p>
        </p:txBody>
      </p:sp>
      <p:sp>
        <p:nvSpPr>
          <p:cNvPr id="23" name="Text 21"/>
          <p:cNvSpPr/>
          <p:nvPr/>
        </p:nvSpPr>
        <p:spPr>
          <a:xfrm>
            <a:off x="501091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Educator Appreciation Program</a:t>
            </a:r>
            <a:endParaRPr lang="en-US" sz="1100" dirty="0"/>
          </a:p>
        </p:txBody>
      </p:sp>
      <p:sp>
        <p:nvSpPr>
          <p:cNvPr id="24" name="Text 22"/>
          <p:cNvSpPr/>
          <p:nvPr/>
        </p:nvSpPr>
        <p:spPr>
          <a:xfrm>
            <a:off x="446227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Liam's personal calls, $50 gift cards, and named appreciation are human differentiators TalentNow cannot scale. Educators remember how they are treated.</a:t>
            </a:r>
            <a:endParaRPr lang="en-US" sz="1000" dirty="0"/>
          </a:p>
        </p:txBody>
      </p:sp>
      <p:sp>
        <p:nvSpPr>
          <p:cNvPr id="25" name="Shape 23"/>
          <p:cNvSpPr/>
          <p:nvPr/>
        </p:nvSpPr>
        <p:spPr>
          <a:xfrm>
            <a:off x="8138160" y="3429000"/>
            <a:ext cx="3566160" cy="1874520"/>
          </a:xfrm>
          <a:prstGeom prst="roundRect">
            <a:avLst>
              <a:gd name="adj" fmla="val 4878"/>
            </a:avLst>
          </a:prstGeom>
          <a:solidFill>
            <a:srgbClr val="F0FFF4"/>
          </a:solidFill>
          <a:ln/>
          <a:effectLst>
            <a:outerShdw sx="100000" sy="100000" kx="0" ky="0" algn="bl" rotWithShape="0" blurRad="76200" dist="25400" dir="2700000">
              <a:srgbClr val="000000">
                <a:alpha val="7000"/>
              </a:srgbClr>
            </a:outerShdw>
          </a:effectLst>
        </p:spPr>
      </p:sp>
      <p:sp>
        <p:nvSpPr>
          <p:cNvPr id="26" name="Text 24"/>
          <p:cNvSpPr/>
          <p:nvPr/>
        </p:nvSpPr>
        <p:spPr>
          <a:xfrm>
            <a:off x="8302752" y="3538728"/>
            <a:ext cx="502920" cy="457200"/>
          </a:xfrm>
          <a:prstGeom prst="rect">
            <a:avLst/>
          </a:prstGeom>
          <a:noFill/>
          <a:ln/>
        </p:spPr>
        <p:txBody>
          <a:bodyPr wrap="square" lIns="0" tIns="0" rIns="0" bIns="0" rtlCol="0" anchor="ctr"/>
          <a:lstStyle/>
          <a:p>
            <a:pPr indent="0" marL="0">
              <a:buNone/>
            </a:pPr>
            <a:r>
              <a:rPr lang="en-US" sz="2200" b="1" dirty="0">
                <a:solidFill>
                  <a:srgbClr val="27AE60"/>
                </a:solidFill>
                <a:latin typeface="Cambria" pitchFamily="34" charset="0"/>
                <a:ea typeface="Cambria" pitchFamily="34" charset="-122"/>
                <a:cs typeface="Cambria" pitchFamily="34" charset="-120"/>
              </a:rPr>
              <a:t>06</a:t>
            </a:r>
            <a:endParaRPr lang="en-US" sz="2200" dirty="0"/>
          </a:p>
        </p:txBody>
      </p:sp>
      <p:sp>
        <p:nvSpPr>
          <p:cNvPr id="27" name="Text 25"/>
          <p:cNvSpPr/>
          <p:nvPr/>
        </p:nvSpPr>
        <p:spPr>
          <a:xfrm>
            <a:off x="8851392" y="3566160"/>
            <a:ext cx="2697480" cy="457200"/>
          </a:xfrm>
          <a:prstGeom prst="rect">
            <a:avLst/>
          </a:prstGeom>
          <a:noFill/>
          <a:ln/>
        </p:spPr>
        <p:txBody>
          <a:bodyPr wrap="square" lIns="0" tIns="0" rIns="0" bIns="0" rtlCol="0" anchor="ctr"/>
          <a:lstStyle/>
          <a:p>
            <a:pPr indent="0" marL="0">
              <a:buNone/>
            </a:pPr>
            <a:r>
              <a:rPr lang="en-US" sz="1100" b="1" dirty="0">
                <a:solidFill>
                  <a:srgbClr val="1E2A3A"/>
                </a:solidFill>
              </a:rPr>
              <a:t>Shift Incentive Program (Proposed)</a:t>
            </a:r>
            <a:endParaRPr lang="en-US" sz="1100" dirty="0"/>
          </a:p>
        </p:txBody>
      </p:sp>
      <p:sp>
        <p:nvSpPr>
          <p:cNvPr id="28" name="Text 26"/>
          <p:cNvSpPr/>
          <p:nvPr/>
        </p:nvSpPr>
        <p:spPr>
          <a:xfrm>
            <a:off x="8302752" y="4050792"/>
            <a:ext cx="3246120" cy="1115568"/>
          </a:xfrm>
          <a:prstGeom prst="rect">
            <a:avLst/>
          </a:prstGeom>
          <a:noFill/>
          <a:ln/>
        </p:spPr>
        <p:txBody>
          <a:bodyPr wrap="square" lIns="0" tIns="0" rIns="0" bIns="0" rtlCol="0" anchor="ctr"/>
          <a:lstStyle/>
          <a:p>
            <a:pPr indent="0" marL="0">
              <a:buNone/>
            </a:pPr>
            <a:r>
              <a:rPr lang="en-US" sz="1000" dirty="0">
                <a:solidFill>
                  <a:srgbClr val="334155"/>
                </a:solidFill>
              </a:rPr>
              <a:t>$50 bonus for 5 completed shifts/week creates financial loyalty. TalentNow does not prominently offer this. Once live, it creates a reason to prefer RT shifts.</a:t>
            </a:r>
            <a:endParaRPr lang="en-US" sz="1000" dirty="0"/>
          </a:p>
        </p:txBody>
      </p:sp>
      <p:sp>
        <p:nvSpPr>
          <p:cNvPr id="29" name="Text 27"/>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Raw Talent internal data | Edge SA confirmation June 2026 | Raw Talent educator engagement calls, June 2026 | Joy Victoria analysis, June 2026. Note: shift incentive program is proposed, pending Liam approval.</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F2A93B"/>
          </a:solidFill>
          <a:ln w="12700">
            <a:solidFill>
              <a:srgbClr val="F2A93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GAP ANALYSIS</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The Gaps Raw Talent Must Close — SA Growth Readiness Score</a:t>
            </a:r>
            <a:endParaRPr lang="en-US" sz="3000" dirty="0"/>
          </a:p>
        </p:txBody>
      </p:sp>
      <p:graphicFrame>
        <p:nvGraphicFramePr>
          <p:cNvPr id="5" name="Chart 0" descr=""/>
          <p:cNvGraphicFramePr/>
          <p:nvPr/>
        </p:nvGraphicFramePr>
        <p:xfrm>
          <a:off x="457200" y="1417320"/>
          <a:ext cx="8229600" cy="48463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961120" y="1371600"/>
            <a:ext cx="2834640" cy="4892040"/>
          </a:xfrm>
          <a:prstGeom prst="roundRect">
            <a:avLst>
              <a:gd name="adj" fmla="val 3226"/>
            </a:avLst>
          </a:prstGeom>
          <a:solidFill>
            <a:srgbClr val="F7F8FD"/>
          </a:solidFill>
          <a:ln/>
          <a:effectLst>
            <a:outerShdw sx="100000" sy="100000" kx="0" ky="0" algn="bl" rotWithShape="0" blurRad="76200" dist="25400" dir="2700000">
              <a:srgbClr val="000000">
                <a:alpha val="8000"/>
              </a:srgbClr>
            </a:outerShdw>
          </a:effectLst>
        </p:spPr>
      </p:sp>
      <p:sp>
        <p:nvSpPr>
          <p:cNvPr id="7" name="Text 4"/>
          <p:cNvSpPr/>
          <p:nvPr/>
        </p:nvSpPr>
        <p:spPr>
          <a:xfrm>
            <a:off x="9098280" y="1508760"/>
            <a:ext cx="2560320" cy="320040"/>
          </a:xfrm>
          <a:prstGeom prst="rect">
            <a:avLst/>
          </a:prstGeom>
          <a:noFill/>
          <a:ln/>
        </p:spPr>
        <p:txBody>
          <a:bodyPr wrap="square" lIns="0" tIns="0" rIns="0" bIns="0" rtlCol="0" anchor="ctr"/>
          <a:lstStyle/>
          <a:p>
            <a:pPr indent="0" marL="0">
              <a:buNone/>
            </a:pPr>
            <a:r>
              <a:rPr lang="en-US" sz="1100" b="1" dirty="0">
                <a:solidFill>
                  <a:srgbClr val="1E2A3A"/>
                </a:solidFill>
              </a:rPr>
              <a:t>Scoring Methodology</a:t>
            </a:r>
            <a:endParaRPr lang="en-US" sz="1100" dirty="0"/>
          </a:p>
        </p:txBody>
      </p:sp>
      <p:sp>
        <p:nvSpPr>
          <p:cNvPr id="8" name="Text 5"/>
          <p:cNvSpPr/>
          <p:nvPr/>
        </p:nvSpPr>
        <p:spPr>
          <a:xfrm>
            <a:off x="9098280" y="1874520"/>
            <a:ext cx="2560320" cy="822960"/>
          </a:xfrm>
          <a:prstGeom prst="rect">
            <a:avLst/>
          </a:prstGeom>
          <a:noFill/>
          <a:ln/>
        </p:spPr>
        <p:txBody>
          <a:bodyPr wrap="square" lIns="0" tIns="0" rIns="0" bIns="0" rtlCol="0" anchor="ctr"/>
          <a:lstStyle/>
          <a:p>
            <a:pPr indent="0" marL="0">
              <a:buNone/>
            </a:pPr>
            <a:r>
              <a:rPr lang="en-US" sz="950" dirty="0">
                <a:solidFill>
                  <a:srgbClr val="334155"/>
                </a:solidFill>
              </a:rPr>
              <a:t>Scores out of 10 represent relative capability based on publicly available data, platform observation, and educator call intelligence. Not financial metrics.</a:t>
            </a:r>
            <a:endParaRPr lang="en-US" sz="950" dirty="0"/>
          </a:p>
        </p:txBody>
      </p:sp>
      <p:sp>
        <p:nvSpPr>
          <p:cNvPr id="9" name="Text 6"/>
          <p:cNvSpPr/>
          <p:nvPr/>
        </p:nvSpPr>
        <p:spPr>
          <a:xfrm>
            <a:off x="9098280" y="2834640"/>
            <a:ext cx="2560320" cy="274320"/>
          </a:xfrm>
          <a:prstGeom prst="rect">
            <a:avLst/>
          </a:prstGeom>
          <a:noFill/>
          <a:ln/>
        </p:spPr>
        <p:txBody>
          <a:bodyPr wrap="square" lIns="0" tIns="0" rIns="0" bIns="0" rtlCol="0" anchor="ctr"/>
          <a:lstStyle/>
          <a:p>
            <a:pPr indent="0" marL="0">
              <a:buNone/>
            </a:pPr>
            <a:r>
              <a:rPr lang="en-US" sz="1100" b="1" dirty="0">
                <a:solidFill>
                  <a:srgbClr val="E14B4B"/>
                </a:solidFill>
              </a:rPr>
              <a:t>RT Priority Gaps:</a:t>
            </a:r>
            <a:endParaRPr lang="en-US" sz="1100" dirty="0"/>
          </a:p>
        </p:txBody>
      </p:sp>
      <p:sp>
        <p:nvSpPr>
          <p:cNvPr id="10" name="Text 7"/>
          <p:cNvSpPr/>
          <p:nvPr/>
        </p:nvSpPr>
        <p:spPr>
          <a:xfrm>
            <a:off x="9098280" y="3154680"/>
            <a:ext cx="2560320" cy="347472"/>
          </a:xfrm>
          <a:prstGeom prst="rect">
            <a:avLst/>
          </a:prstGeom>
          <a:noFill/>
          <a:ln/>
        </p:spPr>
        <p:txBody>
          <a:bodyPr wrap="square" lIns="0" tIns="0" rIns="0" bIns="0" rtlCol="0" anchor="ctr"/>
          <a:lstStyle/>
          <a:p>
            <a:pPr indent="0" marL="0">
              <a:buNone/>
            </a:pPr>
            <a:r>
              <a:rPr lang="en-US" sz="1000" dirty="0">
                <a:solidFill>
                  <a:srgbClr val="334155"/>
                </a:solidFill>
              </a:rPr>
              <a:t>1. Compliance tracking automation</a:t>
            </a:r>
            <a:endParaRPr lang="en-US" sz="1000" dirty="0"/>
          </a:p>
        </p:txBody>
      </p:sp>
      <p:sp>
        <p:nvSpPr>
          <p:cNvPr id="11" name="Text 8"/>
          <p:cNvSpPr/>
          <p:nvPr/>
        </p:nvSpPr>
        <p:spPr>
          <a:xfrm>
            <a:off x="9098280" y="3538728"/>
            <a:ext cx="2560320" cy="347472"/>
          </a:xfrm>
          <a:prstGeom prst="rect">
            <a:avLst/>
          </a:prstGeom>
          <a:noFill/>
          <a:ln/>
        </p:spPr>
        <p:txBody>
          <a:bodyPr wrap="square" lIns="0" tIns="0" rIns="0" bIns="0" rtlCol="0" anchor="ctr"/>
          <a:lstStyle/>
          <a:p>
            <a:pPr indent="0" marL="0">
              <a:buNone/>
            </a:pPr>
            <a:r>
              <a:rPr lang="en-US" sz="1000" dirty="0">
                <a:solidFill>
                  <a:srgbClr val="334155"/>
                </a:solidFill>
              </a:rPr>
              <a:t>2. Onboarding speed &amp; funnel</a:t>
            </a:r>
            <a:endParaRPr lang="en-US" sz="1000" dirty="0"/>
          </a:p>
        </p:txBody>
      </p:sp>
      <p:sp>
        <p:nvSpPr>
          <p:cNvPr id="12" name="Text 9"/>
          <p:cNvSpPr/>
          <p:nvPr/>
        </p:nvSpPr>
        <p:spPr>
          <a:xfrm>
            <a:off x="9098280" y="3922776"/>
            <a:ext cx="2560320" cy="347472"/>
          </a:xfrm>
          <a:prstGeom prst="rect">
            <a:avLst/>
          </a:prstGeom>
          <a:noFill/>
          <a:ln/>
        </p:spPr>
        <p:txBody>
          <a:bodyPr wrap="square" lIns="0" tIns="0" rIns="0" bIns="0" rtlCol="0" anchor="ctr"/>
          <a:lstStyle/>
          <a:p>
            <a:pPr indent="0" marL="0">
              <a:buNone/>
            </a:pPr>
            <a:r>
              <a:rPr lang="en-US" sz="1000" dirty="0">
                <a:solidFill>
                  <a:srgbClr val="334155"/>
                </a:solidFill>
              </a:rPr>
              <a:t>3. Regulatory communications</a:t>
            </a:r>
            <a:endParaRPr lang="en-US" sz="1000" dirty="0"/>
          </a:p>
        </p:txBody>
      </p:sp>
      <p:sp>
        <p:nvSpPr>
          <p:cNvPr id="13" name="Text 10"/>
          <p:cNvSpPr/>
          <p:nvPr/>
        </p:nvSpPr>
        <p:spPr>
          <a:xfrm>
            <a:off x="9098280" y="4306824"/>
            <a:ext cx="2560320" cy="347472"/>
          </a:xfrm>
          <a:prstGeom prst="rect">
            <a:avLst/>
          </a:prstGeom>
          <a:noFill/>
          <a:ln/>
        </p:spPr>
        <p:txBody>
          <a:bodyPr wrap="square" lIns="0" tIns="0" rIns="0" bIns="0" rtlCol="0" anchor="ctr"/>
          <a:lstStyle/>
          <a:p>
            <a:pPr indent="0" marL="0">
              <a:buNone/>
            </a:pPr>
            <a:r>
              <a:rPr lang="en-US" sz="1000" dirty="0">
                <a:solidFill>
                  <a:srgbClr val="334155"/>
                </a:solidFill>
              </a:rPr>
              <a:t>4. Tech platform capability</a:t>
            </a:r>
            <a:endParaRPr lang="en-US" sz="1000" dirty="0"/>
          </a:p>
        </p:txBody>
      </p:sp>
      <p:sp>
        <p:nvSpPr>
          <p:cNvPr id="14" name="Text 11"/>
          <p:cNvSpPr/>
          <p:nvPr/>
        </p:nvSpPr>
        <p:spPr>
          <a:xfrm>
            <a:off x="9098280" y="4690872"/>
            <a:ext cx="2560320" cy="347472"/>
          </a:xfrm>
          <a:prstGeom prst="rect">
            <a:avLst/>
          </a:prstGeom>
          <a:noFill/>
          <a:ln/>
        </p:spPr>
        <p:txBody>
          <a:bodyPr wrap="square" lIns="0" tIns="0" rIns="0" bIns="0" rtlCol="0" anchor="ctr"/>
          <a:lstStyle/>
          <a:p>
            <a:pPr indent="0" marL="0">
              <a:buNone/>
            </a:pPr>
            <a:r>
              <a:rPr lang="en-US" sz="1000" dirty="0">
                <a:solidFill>
                  <a:srgbClr val="334155"/>
                </a:solidFill>
              </a:rPr>
              <a:t>5. WRP toggle activation</a:t>
            </a:r>
            <a:endParaRPr lang="en-US" sz="1000" dirty="0"/>
          </a:p>
        </p:txBody>
      </p:sp>
      <p:sp>
        <p:nvSpPr>
          <p:cNvPr id="15" name="Text 12"/>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Note: Scores are qualitative assessments by Joy Victoria based on competitive research (June 2026). Sources: TalentNow.com.au | ACECQA.gov.au | Raw Talent internal data | Educator call intelligence. 1 = very low capability, 10 = market leading. These scores represent the analyst's best assessment and should be updated as new intelligence is gathered.</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2194560" cy="292608"/>
          </a:xfrm>
          <a:prstGeom prst="roundRect">
            <a:avLst>
              <a:gd name="adj" fmla="val 18750"/>
            </a:avLst>
          </a:prstGeom>
          <a:solidFill>
            <a:srgbClr val="F2A93B"/>
          </a:solidFill>
          <a:ln w="12700">
            <a:solidFill>
              <a:srgbClr val="F2A93B"/>
            </a:solidFill>
            <a:prstDash val="solid"/>
          </a:ln>
        </p:spPr>
      </p:sp>
      <p:sp>
        <p:nvSpPr>
          <p:cNvPr id="3" name="Text 1"/>
          <p:cNvSpPr/>
          <p:nvPr/>
        </p:nvSpPr>
        <p:spPr>
          <a:xfrm>
            <a:off x="457200" y="256032"/>
            <a:ext cx="2194560" cy="292608"/>
          </a:xfrm>
          <a:prstGeom prst="rect">
            <a:avLst/>
          </a:prstGeom>
          <a:noFill/>
          <a:ln/>
        </p:spPr>
        <p:txBody>
          <a:bodyPr wrap="square" lIns="0" tIns="0" rIns="0" bIns="0" rtlCol="0" anchor="ctr"/>
          <a:lstStyle/>
          <a:p>
            <a:pPr algn="ctr" indent="0" marL="0">
              <a:buNone/>
            </a:pPr>
            <a:r>
              <a:rPr lang="en-US" sz="850" b="1" dirty="0">
                <a:solidFill>
                  <a:srgbClr val="FFFFFF"/>
                </a:solidFill>
              </a:rPr>
              <a:t>ACTION PLAN</a:t>
            </a:r>
            <a:endParaRPr lang="en-US" sz="850" dirty="0"/>
          </a:p>
        </p:txBody>
      </p:sp>
      <p:sp>
        <p:nvSpPr>
          <p:cNvPr id="4" name="Text 2"/>
          <p:cNvSpPr/>
          <p:nvPr/>
        </p:nvSpPr>
        <p:spPr>
          <a:xfrm>
            <a:off x="457200" y="640080"/>
            <a:ext cx="11247120" cy="594360"/>
          </a:xfrm>
          <a:prstGeom prst="rect">
            <a:avLst/>
          </a:prstGeom>
          <a:noFill/>
          <a:ln/>
        </p:spPr>
        <p:txBody>
          <a:bodyPr wrap="square" lIns="0" tIns="0" rIns="0" bIns="0" rtlCol="0" anchor="ctr"/>
          <a:lstStyle/>
          <a:p>
            <a:pPr indent="0" marL="0">
              <a:buNone/>
            </a:pPr>
            <a:r>
              <a:rPr lang="en-US" sz="3000" b="1" dirty="0">
                <a:solidFill>
                  <a:srgbClr val="1E2A3A"/>
                </a:solidFill>
                <a:latin typeface="Cambria" pitchFamily="34" charset="0"/>
                <a:ea typeface="Cambria" pitchFamily="34" charset="-122"/>
                <a:cs typeface="Cambria" pitchFamily="34" charset="-120"/>
              </a:rPr>
              <a:t>SA Growth — Top 10 Priority Actions (June 2026)</a:t>
            </a:r>
            <a:endParaRPr lang="en-US" sz="3000" dirty="0"/>
          </a:p>
        </p:txBody>
      </p:sp>
      <p:sp>
        <p:nvSpPr>
          <p:cNvPr id="5" name="Shape 3"/>
          <p:cNvSpPr/>
          <p:nvPr/>
        </p:nvSpPr>
        <p:spPr>
          <a:xfrm>
            <a:off x="457200" y="1417320"/>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6" name="Shape 4"/>
          <p:cNvSpPr/>
          <p:nvPr/>
        </p:nvSpPr>
        <p:spPr>
          <a:xfrm>
            <a:off x="566928" y="1618488"/>
            <a:ext cx="475488" cy="475488"/>
          </a:xfrm>
          <a:prstGeom prst="ellipse">
            <a:avLst/>
          </a:prstGeom>
          <a:solidFill>
            <a:srgbClr val="E14B4B"/>
          </a:solidFill>
          <a:ln/>
        </p:spPr>
      </p:sp>
      <p:sp>
        <p:nvSpPr>
          <p:cNvPr id="7" name="Text 5"/>
          <p:cNvSpPr/>
          <p:nvPr/>
        </p:nvSpPr>
        <p:spPr>
          <a:xfrm>
            <a:off x="566928" y="161848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Shape 6"/>
          <p:cNvSpPr/>
          <p:nvPr/>
        </p:nvSpPr>
        <p:spPr>
          <a:xfrm>
            <a:off x="1133856" y="1527048"/>
            <a:ext cx="731520" cy="237744"/>
          </a:xfrm>
          <a:prstGeom prst="roundRect">
            <a:avLst>
              <a:gd name="adj" fmla="val 19231"/>
            </a:avLst>
          </a:prstGeom>
          <a:solidFill>
            <a:srgbClr val="E14B4B">
              <a:alpha val="20000"/>
            </a:srgbClr>
          </a:solidFill>
          <a:ln/>
        </p:spPr>
      </p:sp>
      <p:sp>
        <p:nvSpPr>
          <p:cNvPr id="9" name="Text 7"/>
          <p:cNvSpPr/>
          <p:nvPr/>
        </p:nvSpPr>
        <p:spPr>
          <a:xfrm>
            <a:off x="1133856" y="1527048"/>
            <a:ext cx="731520" cy="237744"/>
          </a:xfrm>
          <a:prstGeom prst="rect">
            <a:avLst/>
          </a:prstGeom>
          <a:noFill/>
          <a:ln/>
        </p:spPr>
        <p:txBody>
          <a:bodyPr wrap="square" lIns="0" tIns="0" rIns="0" bIns="0" rtlCol="0" anchor="ctr"/>
          <a:lstStyle/>
          <a:p>
            <a:pPr algn="ctr" indent="0" marL="0">
              <a:buNone/>
            </a:pPr>
            <a:r>
              <a:rPr lang="en-US" sz="750" b="1" dirty="0">
                <a:solidFill>
                  <a:srgbClr val="E14B4B"/>
                </a:solidFill>
              </a:rPr>
              <a:t>WEEK 1</a:t>
            </a:r>
            <a:endParaRPr lang="en-US" sz="750" dirty="0"/>
          </a:p>
        </p:txBody>
      </p:sp>
      <p:sp>
        <p:nvSpPr>
          <p:cNvPr id="10" name="Text 8"/>
          <p:cNvSpPr/>
          <p:nvPr/>
        </p:nvSpPr>
        <p:spPr>
          <a:xfrm>
            <a:off x="1938528" y="1508760"/>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Activate WRP Toggle</a:t>
            </a:r>
            <a:endParaRPr lang="en-US" sz="1100" dirty="0"/>
          </a:p>
        </p:txBody>
      </p:sp>
      <p:sp>
        <p:nvSpPr>
          <p:cNvPr id="11" name="Text 9"/>
          <p:cNvSpPr/>
          <p:nvPr/>
        </p:nvSpPr>
        <p:spPr>
          <a:xfrm>
            <a:off x="1938528" y="1801368"/>
            <a:ext cx="3977640" cy="457200"/>
          </a:xfrm>
          <a:prstGeom prst="rect">
            <a:avLst/>
          </a:prstGeom>
          <a:noFill/>
          <a:ln/>
        </p:spPr>
        <p:txBody>
          <a:bodyPr wrap="square" lIns="0" tIns="0" rIns="0" bIns="0" rtlCol="0" anchor="ctr"/>
          <a:lstStyle/>
          <a:p>
            <a:pPr indent="0" marL="0">
              <a:buNone/>
            </a:pPr>
            <a:r>
              <a:rPr lang="en-US" sz="950" dirty="0">
                <a:solidFill>
                  <a:srgbClr val="334155"/>
                </a:solidFill>
              </a:rPr>
              <a:t>Build profitability model → get Liam to enable WRP toggle for top 4 low-fill SA centres. Closes pay gap with Entrée immediately.</a:t>
            </a:r>
            <a:endParaRPr lang="en-US" sz="950" dirty="0"/>
          </a:p>
        </p:txBody>
      </p:sp>
      <p:sp>
        <p:nvSpPr>
          <p:cNvPr id="12" name="Shape 10"/>
          <p:cNvSpPr/>
          <p:nvPr/>
        </p:nvSpPr>
        <p:spPr>
          <a:xfrm>
            <a:off x="6309360" y="1417320"/>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13" name="Shape 11"/>
          <p:cNvSpPr/>
          <p:nvPr/>
        </p:nvSpPr>
        <p:spPr>
          <a:xfrm>
            <a:off x="6419088" y="1618488"/>
            <a:ext cx="475488" cy="475488"/>
          </a:xfrm>
          <a:prstGeom prst="ellipse">
            <a:avLst/>
          </a:prstGeom>
          <a:solidFill>
            <a:srgbClr val="E14B4B"/>
          </a:solidFill>
          <a:ln/>
        </p:spPr>
      </p:sp>
      <p:sp>
        <p:nvSpPr>
          <p:cNvPr id="14" name="Text 12"/>
          <p:cNvSpPr/>
          <p:nvPr/>
        </p:nvSpPr>
        <p:spPr>
          <a:xfrm>
            <a:off x="6419088" y="161848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5" name="Shape 13"/>
          <p:cNvSpPr/>
          <p:nvPr/>
        </p:nvSpPr>
        <p:spPr>
          <a:xfrm>
            <a:off x="6986016" y="1527048"/>
            <a:ext cx="731520" cy="237744"/>
          </a:xfrm>
          <a:prstGeom prst="roundRect">
            <a:avLst>
              <a:gd name="adj" fmla="val 19231"/>
            </a:avLst>
          </a:prstGeom>
          <a:solidFill>
            <a:srgbClr val="E14B4B">
              <a:alpha val="20000"/>
            </a:srgbClr>
          </a:solidFill>
          <a:ln/>
        </p:spPr>
      </p:sp>
      <p:sp>
        <p:nvSpPr>
          <p:cNvPr id="16" name="Text 14"/>
          <p:cNvSpPr/>
          <p:nvPr/>
        </p:nvSpPr>
        <p:spPr>
          <a:xfrm>
            <a:off x="6986016" y="1527048"/>
            <a:ext cx="731520" cy="237744"/>
          </a:xfrm>
          <a:prstGeom prst="rect">
            <a:avLst/>
          </a:prstGeom>
          <a:noFill/>
          <a:ln/>
        </p:spPr>
        <p:txBody>
          <a:bodyPr wrap="square" lIns="0" tIns="0" rIns="0" bIns="0" rtlCol="0" anchor="ctr"/>
          <a:lstStyle/>
          <a:p>
            <a:pPr algn="ctr" indent="0" marL="0">
              <a:buNone/>
            </a:pPr>
            <a:r>
              <a:rPr lang="en-US" sz="750" b="1" dirty="0">
                <a:solidFill>
                  <a:srgbClr val="E14B4B"/>
                </a:solidFill>
              </a:rPr>
              <a:t>WEEK 1</a:t>
            </a:r>
            <a:endParaRPr lang="en-US" sz="750" dirty="0"/>
          </a:p>
        </p:txBody>
      </p:sp>
      <p:sp>
        <p:nvSpPr>
          <p:cNvPr id="17" name="Text 15"/>
          <p:cNvSpPr/>
          <p:nvPr/>
        </p:nvSpPr>
        <p:spPr>
          <a:xfrm>
            <a:off x="7790688" y="1508760"/>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Prince: Full SA Educator Export</a:t>
            </a:r>
            <a:endParaRPr lang="en-US" sz="1100" dirty="0"/>
          </a:p>
        </p:txBody>
      </p:sp>
      <p:sp>
        <p:nvSpPr>
          <p:cNvPr id="18" name="Text 16"/>
          <p:cNvSpPr/>
          <p:nvPr/>
        </p:nvSpPr>
        <p:spPr>
          <a:xfrm>
            <a:off x="7790688" y="1801368"/>
            <a:ext cx="3977640" cy="457200"/>
          </a:xfrm>
          <a:prstGeom prst="rect">
            <a:avLst/>
          </a:prstGeom>
          <a:noFill/>
          <a:ln/>
        </p:spPr>
        <p:txBody>
          <a:bodyPr wrap="square" lIns="0" tIns="0" rIns="0" bIns="0" rtlCol="0" anchor="ctr"/>
          <a:lstStyle/>
          <a:p>
            <a:pPr indent="0" marL="0">
              <a:buNone/>
            </a:pPr>
            <a:r>
              <a:rPr lang="en-US" sz="950" dirty="0">
                <a:solidFill>
                  <a:srgbClr val="334155"/>
                </a:solidFill>
              </a:rPr>
              <a:t>Name, status, last active date, compliance expiry for every SA educator. Segment into A/B/C groups.</a:t>
            </a:r>
            <a:endParaRPr lang="en-US" sz="950" dirty="0"/>
          </a:p>
        </p:txBody>
      </p:sp>
      <p:sp>
        <p:nvSpPr>
          <p:cNvPr id="19" name="Shape 17"/>
          <p:cNvSpPr/>
          <p:nvPr/>
        </p:nvSpPr>
        <p:spPr>
          <a:xfrm>
            <a:off x="457200" y="2441448"/>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20" name="Shape 18"/>
          <p:cNvSpPr/>
          <p:nvPr/>
        </p:nvSpPr>
        <p:spPr>
          <a:xfrm>
            <a:off x="566928" y="2642616"/>
            <a:ext cx="475488" cy="475488"/>
          </a:xfrm>
          <a:prstGeom prst="ellipse">
            <a:avLst/>
          </a:prstGeom>
          <a:solidFill>
            <a:srgbClr val="E14B4B"/>
          </a:solidFill>
          <a:ln/>
        </p:spPr>
      </p:sp>
      <p:sp>
        <p:nvSpPr>
          <p:cNvPr id="21" name="Text 19"/>
          <p:cNvSpPr/>
          <p:nvPr/>
        </p:nvSpPr>
        <p:spPr>
          <a:xfrm>
            <a:off x="566928" y="2642616"/>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2" name="Shape 20"/>
          <p:cNvSpPr/>
          <p:nvPr/>
        </p:nvSpPr>
        <p:spPr>
          <a:xfrm>
            <a:off x="1133856" y="2551176"/>
            <a:ext cx="731520" cy="237744"/>
          </a:xfrm>
          <a:prstGeom prst="roundRect">
            <a:avLst>
              <a:gd name="adj" fmla="val 19231"/>
            </a:avLst>
          </a:prstGeom>
          <a:solidFill>
            <a:srgbClr val="E14B4B">
              <a:alpha val="20000"/>
            </a:srgbClr>
          </a:solidFill>
          <a:ln/>
        </p:spPr>
      </p:sp>
      <p:sp>
        <p:nvSpPr>
          <p:cNvPr id="23" name="Text 21"/>
          <p:cNvSpPr/>
          <p:nvPr/>
        </p:nvSpPr>
        <p:spPr>
          <a:xfrm>
            <a:off x="1133856" y="2551176"/>
            <a:ext cx="731520" cy="237744"/>
          </a:xfrm>
          <a:prstGeom prst="rect">
            <a:avLst/>
          </a:prstGeom>
          <a:noFill/>
          <a:ln/>
        </p:spPr>
        <p:txBody>
          <a:bodyPr wrap="square" lIns="0" tIns="0" rIns="0" bIns="0" rtlCol="0" anchor="ctr"/>
          <a:lstStyle/>
          <a:p>
            <a:pPr algn="ctr" indent="0" marL="0">
              <a:buNone/>
            </a:pPr>
            <a:r>
              <a:rPr lang="en-US" sz="750" b="1" dirty="0">
                <a:solidFill>
                  <a:srgbClr val="E14B4B"/>
                </a:solidFill>
              </a:rPr>
              <a:t>WEEK 1</a:t>
            </a:r>
            <a:endParaRPr lang="en-US" sz="750" dirty="0"/>
          </a:p>
        </p:txBody>
      </p:sp>
      <p:sp>
        <p:nvSpPr>
          <p:cNvPr id="24" name="Text 22"/>
          <p:cNvSpPr/>
          <p:nvPr/>
        </p:nvSpPr>
        <p:spPr>
          <a:xfrm>
            <a:off x="1938528" y="2532888"/>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NCS Training Audit</a:t>
            </a:r>
            <a:endParaRPr lang="en-US" sz="1100" dirty="0"/>
          </a:p>
        </p:txBody>
      </p:sp>
      <p:sp>
        <p:nvSpPr>
          <p:cNvPr id="25" name="Text 23"/>
          <p:cNvSpPr/>
          <p:nvPr/>
        </p:nvSpPr>
        <p:spPr>
          <a:xfrm>
            <a:off x="1938528" y="2825496"/>
            <a:ext cx="3977640" cy="457200"/>
          </a:xfrm>
          <a:prstGeom prst="rect">
            <a:avLst/>
          </a:prstGeom>
          <a:noFill/>
          <a:ln/>
        </p:spPr>
        <p:txBody>
          <a:bodyPr wrap="square" lIns="0" tIns="0" rIns="0" bIns="0" rtlCol="0" anchor="ctr"/>
          <a:lstStyle/>
          <a:p>
            <a:pPr indent="0" marL="0">
              <a:buNone/>
            </a:pPr>
            <a:r>
              <a:rPr lang="en-US" sz="950" dirty="0">
                <a:solidFill>
                  <a:srgbClr val="334155"/>
                </a:solidFill>
              </a:rPr>
              <a:t>Identify every active SA educator who has NOT completed National Child Safety Training. Deadline late August 2026.</a:t>
            </a:r>
            <a:endParaRPr lang="en-US" sz="950" dirty="0"/>
          </a:p>
        </p:txBody>
      </p:sp>
      <p:sp>
        <p:nvSpPr>
          <p:cNvPr id="26" name="Shape 24"/>
          <p:cNvSpPr/>
          <p:nvPr/>
        </p:nvSpPr>
        <p:spPr>
          <a:xfrm>
            <a:off x="6309360" y="2441448"/>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27" name="Shape 25"/>
          <p:cNvSpPr/>
          <p:nvPr/>
        </p:nvSpPr>
        <p:spPr>
          <a:xfrm>
            <a:off x="6419088" y="2642616"/>
            <a:ext cx="475488" cy="475488"/>
          </a:xfrm>
          <a:prstGeom prst="ellipse">
            <a:avLst/>
          </a:prstGeom>
          <a:solidFill>
            <a:srgbClr val="E14B4B"/>
          </a:solidFill>
          <a:ln/>
        </p:spPr>
      </p:sp>
      <p:sp>
        <p:nvSpPr>
          <p:cNvPr id="28" name="Text 26"/>
          <p:cNvSpPr/>
          <p:nvPr/>
        </p:nvSpPr>
        <p:spPr>
          <a:xfrm>
            <a:off x="6419088" y="2642616"/>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9" name="Shape 27"/>
          <p:cNvSpPr/>
          <p:nvPr/>
        </p:nvSpPr>
        <p:spPr>
          <a:xfrm>
            <a:off x="6986016" y="2551176"/>
            <a:ext cx="731520" cy="237744"/>
          </a:xfrm>
          <a:prstGeom prst="roundRect">
            <a:avLst>
              <a:gd name="adj" fmla="val 19231"/>
            </a:avLst>
          </a:prstGeom>
          <a:solidFill>
            <a:srgbClr val="E14B4B">
              <a:alpha val="20000"/>
            </a:srgbClr>
          </a:solidFill>
          <a:ln/>
        </p:spPr>
      </p:sp>
      <p:sp>
        <p:nvSpPr>
          <p:cNvPr id="30" name="Text 28"/>
          <p:cNvSpPr/>
          <p:nvPr/>
        </p:nvSpPr>
        <p:spPr>
          <a:xfrm>
            <a:off x="6986016" y="2551176"/>
            <a:ext cx="731520" cy="237744"/>
          </a:xfrm>
          <a:prstGeom prst="rect">
            <a:avLst/>
          </a:prstGeom>
          <a:noFill/>
          <a:ln/>
        </p:spPr>
        <p:txBody>
          <a:bodyPr wrap="square" lIns="0" tIns="0" rIns="0" bIns="0" rtlCol="0" anchor="ctr"/>
          <a:lstStyle/>
          <a:p>
            <a:pPr algn="ctr" indent="0" marL="0">
              <a:buNone/>
            </a:pPr>
            <a:r>
              <a:rPr lang="en-US" sz="750" b="1" dirty="0">
                <a:solidFill>
                  <a:srgbClr val="E14B4B"/>
                </a:solidFill>
              </a:rPr>
              <a:t>WEEK 1</a:t>
            </a:r>
            <a:endParaRPr lang="en-US" sz="750" dirty="0"/>
          </a:p>
        </p:txBody>
      </p:sp>
      <p:sp>
        <p:nvSpPr>
          <p:cNvPr id="31" name="Text 29"/>
          <p:cNvSpPr/>
          <p:nvPr/>
        </p:nvSpPr>
        <p:spPr>
          <a:xfrm>
            <a:off x="7790688" y="2532888"/>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Fix Push Notifications</a:t>
            </a:r>
            <a:endParaRPr lang="en-US" sz="1100" dirty="0"/>
          </a:p>
        </p:txBody>
      </p:sp>
      <p:sp>
        <p:nvSpPr>
          <p:cNvPr id="32" name="Text 30"/>
          <p:cNvSpPr/>
          <p:nvPr/>
        </p:nvSpPr>
        <p:spPr>
          <a:xfrm>
            <a:off x="7790688" y="2825496"/>
            <a:ext cx="3977640" cy="457200"/>
          </a:xfrm>
          <a:prstGeom prst="rect">
            <a:avLst/>
          </a:prstGeom>
          <a:noFill/>
          <a:ln/>
        </p:spPr>
        <p:txBody>
          <a:bodyPr wrap="square" lIns="0" tIns="0" rIns="0" bIns="0" rtlCol="0" anchor="ctr"/>
          <a:lstStyle/>
          <a:p>
            <a:pPr indent="0" marL="0">
              <a:buNone/>
            </a:pPr>
            <a:r>
              <a:rPr lang="en-US" sz="950" dirty="0">
                <a:solidFill>
                  <a:srgbClr val="334155"/>
                </a:solidFill>
              </a:rPr>
              <a:t>Committed delivery date from Prince: SMS fallback + high-priority channel upgrade. Prerequisite for all supply actions.</a:t>
            </a:r>
            <a:endParaRPr lang="en-US" sz="950" dirty="0"/>
          </a:p>
        </p:txBody>
      </p:sp>
      <p:sp>
        <p:nvSpPr>
          <p:cNvPr id="33" name="Shape 31"/>
          <p:cNvSpPr/>
          <p:nvPr/>
        </p:nvSpPr>
        <p:spPr>
          <a:xfrm>
            <a:off x="457200" y="3465576"/>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34" name="Shape 32"/>
          <p:cNvSpPr/>
          <p:nvPr/>
        </p:nvSpPr>
        <p:spPr>
          <a:xfrm>
            <a:off x="566928" y="3666744"/>
            <a:ext cx="475488" cy="475488"/>
          </a:xfrm>
          <a:prstGeom prst="ellipse">
            <a:avLst/>
          </a:prstGeom>
          <a:solidFill>
            <a:srgbClr val="F2A93B"/>
          </a:solidFill>
          <a:ln/>
        </p:spPr>
      </p:sp>
      <p:sp>
        <p:nvSpPr>
          <p:cNvPr id="35" name="Text 33"/>
          <p:cNvSpPr/>
          <p:nvPr/>
        </p:nvSpPr>
        <p:spPr>
          <a:xfrm>
            <a:off x="566928" y="3666744"/>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36" name="Shape 34"/>
          <p:cNvSpPr/>
          <p:nvPr/>
        </p:nvSpPr>
        <p:spPr>
          <a:xfrm>
            <a:off x="1133856" y="3575304"/>
            <a:ext cx="731520" cy="237744"/>
          </a:xfrm>
          <a:prstGeom prst="roundRect">
            <a:avLst>
              <a:gd name="adj" fmla="val 19231"/>
            </a:avLst>
          </a:prstGeom>
          <a:solidFill>
            <a:srgbClr val="F2A93B">
              <a:alpha val="20000"/>
            </a:srgbClr>
          </a:solidFill>
          <a:ln/>
        </p:spPr>
      </p:sp>
      <p:sp>
        <p:nvSpPr>
          <p:cNvPr id="37" name="Text 35"/>
          <p:cNvSpPr/>
          <p:nvPr/>
        </p:nvSpPr>
        <p:spPr>
          <a:xfrm>
            <a:off x="1133856" y="3575304"/>
            <a:ext cx="731520" cy="237744"/>
          </a:xfrm>
          <a:prstGeom prst="rect">
            <a:avLst/>
          </a:prstGeom>
          <a:noFill/>
          <a:ln/>
        </p:spPr>
        <p:txBody>
          <a:bodyPr wrap="square" lIns="0" tIns="0" rIns="0" bIns="0" rtlCol="0" anchor="ctr"/>
          <a:lstStyle/>
          <a:p>
            <a:pPr algn="ctr" indent="0" marL="0">
              <a:buNone/>
            </a:pPr>
            <a:r>
              <a:rPr lang="en-US" sz="750" b="1" dirty="0">
                <a:solidFill>
                  <a:srgbClr val="F2A93B"/>
                </a:solidFill>
              </a:rPr>
              <a:t>WEEK 2</a:t>
            </a:r>
            <a:endParaRPr lang="en-US" sz="750" dirty="0"/>
          </a:p>
        </p:txBody>
      </p:sp>
      <p:sp>
        <p:nvSpPr>
          <p:cNvPr id="38" name="Text 36"/>
          <p:cNvSpPr/>
          <p:nvPr/>
        </p:nvSpPr>
        <p:spPr>
          <a:xfrm>
            <a:off x="1938528" y="3557016"/>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Re-engagement Calls Begin</a:t>
            </a:r>
            <a:endParaRPr lang="en-US" sz="1100" dirty="0"/>
          </a:p>
        </p:txBody>
      </p:sp>
      <p:sp>
        <p:nvSpPr>
          <p:cNvPr id="39" name="Text 37"/>
          <p:cNvSpPr/>
          <p:nvPr/>
        </p:nvSpPr>
        <p:spPr>
          <a:xfrm>
            <a:off x="1938528" y="3849624"/>
            <a:ext cx="3977640" cy="457200"/>
          </a:xfrm>
          <a:prstGeom prst="rect">
            <a:avLst/>
          </a:prstGeom>
          <a:noFill/>
          <a:ln/>
        </p:spPr>
        <p:txBody>
          <a:bodyPr wrap="square" lIns="0" tIns="0" rIns="0" bIns="0" rtlCol="0" anchor="ctr"/>
          <a:lstStyle/>
          <a:p>
            <a:pPr indent="0" marL="0">
              <a:buNone/>
            </a:pPr>
            <a:r>
              <a:rPr lang="en-US" sz="950" dirty="0">
                <a:solidFill>
                  <a:srgbClr val="334155"/>
                </a:solidFill>
              </a:rPr>
              <a:t>Joy + Sophia call Group A and B SA educators using re-engagement call structure. Capture competitor pay intel.</a:t>
            </a:r>
            <a:endParaRPr lang="en-US" sz="950" dirty="0"/>
          </a:p>
        </p:txBody>
      </p:sp>
      <p:sp>
        <p:nvSpPr>
          <p:cNvPr id="40" name="Shape 38"/>
          <p:cNvSpPr/>
          <p:nvPr/>
        </p:nvSpPr>
        <p:spPr>
          <a:xfrm>
            <a:off x="6309360" y="3465576"/>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41" name="Shape 39"/>
          <p:cNvSpPr/>
          <p:nvPr/>
        </p:nvSpPr>
        <p:spPr>
          <a:xfrm>
            <a:off x="6419088" y="3666744"/>
            <a:ext cx="475488" cy="475488"/>
          </a:xfrm>
          <a:prstGeom prst="ellipse">
            <a:avLst/>
          </a:prstGeom>
          <a:solidFill>
            <a:srgbClr val="F2A93B"/>
          </a:solidFill>
          <a:ln/>
        </p:spPr>
      </p:sp>
      <p:sp>
        <p:nvSpPr>
          <p:cNvPr id="42" name="Text 40"/>
          <p:cNvSpPr/>
          <p:nvPr/>
        </p:nvSpPr>
        <p:spPr>
          <a:xfrm>
            <a:off x="6419088" y="3666744"/>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43" name="Shape 41"/>
          <p:cNvSpPr/>
          <p:nvPr/>
        </p:nvSpPr>
        <p:spPr>
          <a:xfrm>
            <a:off x="6986016" y="3575304"/>
            <a:ext cx="731520" cy="237744"/>
          </a:xfrm>
          <a:prstGeom prst="roundRect">
            <a:avLst>
              <a:gd name="adj" fmla="val 19231"/>
            </a:avLst>
          </a:prstGeom>
          <a:solidFill>
            <a:srgbClr val="F2A93B">
              <a:alpha val="20000"/>
            </a:srgbClr>
          </a:solidFill>
          <a:ln/>
        </p:spPr>
      </p:sp>
      <p:sp>
        <p:nvSpPr>
          <p:cNvPr id="44" name="Text 42"/>
          <p:cNvSpPr/>
          <p:nvPr/>
        </p:nvSpPr>
        <p:spPr>
          <a:xfrm>
            <a:off x="6986016" y="3575304"/>
            <a:ext cx="731520" cy="237744"/>
          </a:xfrm>
          <a:prstGeom prst="rect">
            <a:avLst/>
          </a:prstGeom>
          <a:noFill/>
          <a:ln/>
        </p:spPr>
        <p:txBody>
          <a:bodyPr wrap="square" lIns="0" tIns="0" rIns="0" bIns="0" rtlCol="0" anchor="ctr"/>
          <a:lstStyle/>
          <a:p>
            <a:pPr algn="ctr" indent="0" marL="0">
              <a:buNone/>
            </a:pPr>
            <a:r>
              <a:rPr lang="en-US" sz="750" b="1" dirty="0">
                <a:solidFill>
                  <a:srgbClr val="F2A93B"/>
                </a:solidFill>
              </a:rPr>
              <a:t>WEEK 2</a:t>
            </a:r>
            <a:endParaRPr lang="en-US" sz="750" dirty="0"/>
          </a:p>
        </p:txBody>
      </p:sp>
      <p:sp>
        <p:nvSpPr>
          <p:cNvPr id="45" name="Text 43"/>
          <p:cNvSpPr/>
          <p:nvPr/>
        </p:nvSpPr>
        <p:spPr>
          <a:xfrm>
            <a:off x="7790688" y="3557016"/>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Facebook Lead Ads — SA</a:t>
            </a:r>
            <a:endParaRPr lang="en-US" sz="1100" dirty="0"/>
          </a:p>
        </p:txBody>
      </p:sp>
      <p:sp>
        <p:nvSpPr>
          <p:cNvPr id="46" name="Text 44"/>
          <p:cNvSpPr/>
          <p:nvPr/>
        </p:nvSpPr>
        <p:spPr>
          <a:xfrm>
            <a:off x="7790688" y="3849624"/>
            <a:ext cx="3977640" cy="457200"/>
          </a:xfrm>
          <a:prstGeom prst="rect">
            <a:avLst/>
          </a:prstGeom>
          <a:noFill/>
          <a:ln/>
        </p:spPr>
        <p:txBody>
          <a:bodyPr wrap="square" lIns="0" tIns="0" rIns="0" bIns="0" rtlCol="0" anchor="ctr"/>
          <a:lstStyle/>
          <a:p>
            <a:pPr indent="0" marL="0">
              <a:buNone/>
            </a:pPr>
            <a:r>
              <a:rPr lang="en-US" sz="950" dirty="0">
                <a:solidFill>
                  <a:srgbClr val="334155"/>
                </a:solidFill>
              </a:rPr>
              <a:t>Paid ads targeting Adelaide, 20–45, childcare/TAFE interests. Lead form → JobAdder pipeline.</a:t>
            </a:r>
            <a:endParaRPr lang="en-US" sz="950" dirty="0"/>
          </a:p>
        </p:txBody>
      </p:sp>
      <p:sp>
        <p:nvSpPr>
          <p:cNvPr id="47" name="Shape 45"/>
          <p:cNvSpPr/>
          <p:nvPr/>
        </p:nvSpPr>
        <p:spPr>
          <a:xfrm>
            <a:off x="457200" y="4489704"/>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48" name="Shape 46"/>
          <p:cNvSpPr/>
          <p:nvPr/>
        </p:nvSpPr>
        <p:spPr>
          <a:xfrm>
            <a:off x="566928" y="4690872"/>
            <a:ext cx="475488" cy="475488"/>
          </a:xfrm>
          <a:prstGeom prst="ellipse">
            <a:avLst/>
          </a:prstGeom>
          <a:solidFill>
            <a:srgbClr val="F2A93B"/>
          </a:solidFill>
          <a:ln/>
        </p:spPr>
      </p:sp>
      <p:sp>
        <p:nvSpPr>
          <p:cNvPr id="49" name="Text 47"/>
          <p:cNvSpPr/>
          <p:nvPr/>
        </p:nvSpPr>
        <p:spPr>
          <a:xfrm>
            <a:off x="566928" y="4690872"/>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50" name="Shape 48"/>
          <p:cNvSpPr/>
          <p:nvPr/>
        </p:nvSpPr>
        <p:spPr>
          <a:xfrm>
            <a:off x="1133856" y="4599432"/>
            <a:ext cx="731520" cy="237744"/>
          </a:xfrm>
          <a:prstGeom prst="roundRect">
            <a:avLst>
              <a:gd name="adj" fmla="val 19231"/>
            </a:avLst>
          </a:prstGeom>
          <a:solidFill>
            <a:srgbClr val="F2A93B">
              <a:alpha val="20000"/>
            </a:srgbClr>
          </a:solidFill>
          <a:ln/>
        </p:spPr>
      </p:sp>
      <p:sp>
        <p:nvSpPr>
          <p:cNvPr id="51" name="Text 49"/>
          <p:cNvSpPr/>
          <p:nvPr/>
        </p:nvSpPr>
        <p:spPr>
          <a:xfrm>
            <a:off x="1133856" y="4599432"/>
            <a:ext cx="731520" cy="237744"/>
          </a:xfrm>
          <a:prstGeom prst="rect">
            <a:avLst/>
          </a:prstGeom>
          <a:noFill/>
          <a:ln/>
        </p:spPr>
        <p:txBody>
          <a:bodyPr wrap="square" lIns="0" tIns="0" rIns="0" bIns="0" rtlCol="0" anchor="ctr"/>
          <a:lstStyle/>
          <a:p>
            <a:pPr algn="ctr" indent="0" marL="0">
              <a:buNone/>
            </a:pPr>
            <a:r>
              <a:rPr lang="en-US" sz="750" b="1" dirty="0">
                <a:solidFill>
                  <a:srgbClr val="F2A93B"/>
                </a:solidFill>
              </a:rPr>
              <a:t>WEEK 2</a:t>
            </a:r>
            <a:endParaRPr lang="en-US" sz="750" dirty="0"/>
          </a:p>
        </p:txBody>
      </p:sp>
      <p:sp>
        <p:nvSpPr>
          <p:cNvPr id="52" name="Text 50"/>
          <p:cNvSpPr/>
          <p:nvPr/>
        </p:nvSpPr>
        <p:spPr>
          <a:xfrm>
            <a:off x="1938528" y="4581144"/>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Activate Referral Program</a:t>
            </a:r>
            <a:endParaRPr lang="en-US" sz="1100" dirty="0"/>
          </a:p>
        </p:txBody>
      </p:sp>
      <p:sp>
        <p:nvSpPr>
          <p:cNvPr id="53" name="Text 51"/>
          <p:cNvSpPr/>
          <p:nvPr/>
        </p:nvSpPr>
        <p:spPr>
          <a:xfrm>
            <a:off x="1938528" y="4873752"/>
            <a:ext cx="3977640" cy="457200"/>
          </a:xfrm>
          <a:prstGeom prst="rect">
            <a:avLst/>
          </a:prstGeom>
          <a:noFill/>
          <a:ln/>
        </p:spPr>
        <p:txBody>
          <a:bodyPr wrap="square" lIns="0" tIns="0" rIns="0" bIns="0" rtlCol="0" anchor="ctr"/>
          <a:lstStyle/>
          <a:p>
            <a:pPr indent="0" marL="0">
              <a:buNone/>
            </a:pPr>
            <a:r>
              <a:rPr lang="en-US" sz="950" dirty="0">
                <a:solidFill>
                  <a:srgbClr val="334155"/>
                </a:solidFill>
              </a:rPr>
              <a:t>Confirm $50 bonus with Liam, manual tracking spreadsheet, brief all consultants to ask for referrals every call.</a:t>
            </a:r>
            <a:endParaRPr lang="en-US" sz="950" dirty="0"/>
          </a:p>
        </p:txBody>
      </p:sp>
      <p:sp>
        <p:nvSpPr>
          <p:cNvPr id="54" name="Shape 52"/>
          <p:cNvSpPr/>
          <p:nvPr/>
        </p:nvSpPr>
        <p:spPr>
          <a:xfrm>
            <a:off x="6309360" y="4489704"/>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55" name="Shape 53"/>
          <p:cNvSpPr/>
          <p:nvPr/>
        </p:nvSpPr>
        <p:spPr>
          <a:xfrm>
            <a:off x="6419088" y="4690872"/>
            <a:ext cx="475488" cy="475488"/>
          </a:xfrm>
          <a:prstGeom prst="ellipse">
            <a:avLst/>
          </a:prstGeom>
          <a:solidFill>
            <a:srgbClr val="F2A93B"/>
          </a:solidFill>
          <a:ln/>
        </p:spPr>
      </p:sp>
      <p:sp>
        <p:nvSpPr>
          <p:cNvPr id="56" name="Text 54"/>
          <p:cNvSpPr/>
          <p:nvPr/>
        </p:nvSpPr>
        <p:spPr>
          <a:xfrm>
            <a:off x="6419088" y="4690872"/>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57" name="Shape 55"/>
          <p:cNvSpPr/>
          <p:nvPr/>
        </p:nvSpPr>
        <p:spPr>
          <a:xfrm>
            <a:off x="6986016" y="4599432"/>
            <a:ext cx="731520" cy="237744"/>
          </a:xfrm>
          <a:prstGeom prst="roundRect">
            <a:avLst>
              <a:gd name="adj" fmla="val 19231"/>
            </a:avLst>
          </a:prstGeom>
          <a:solidFill>
            <a:srgbClr val="F2A93B">
              <a:alpha val="20000"/>
            </a:srgbClr>
          </a:solidFill>
          <a:ln/>
        </p:spPr>
      </p:sp>
      <p:sp>
        <p:nvSpPr>
          <p:cNvPr id="58" name="Text 56"/>
          <p:cNvSpPr/>
          <p:nvPr/>
        </p:nvSpPr>
        <p:spPr>
          <a:xfrm>
            <a:off x="6986016" y="4599432"/>
            <a:ext cx="731520" cy="237744"/>
          </a:xfrm>
          <a:prstGeom prst="rect">
            <a:avLst/>
          </a:prstGeom>
          <a:noFill/>
          <a:ln/>
        </p:spPr>
        <p:txBody>
          <a:bodyPr wrap="square" lIns="0" tIns="0" rIns="0" bIns="0" rtlCol="0" anchor="ctr"/>
          <a:lstStyle/>
          <a:p>
            <a:pPr algn="ctr" indent="0" marL="0">
              <a:buNone/>
            </a:pPr>
            <a:r>
              <a:rPr lang="en-US" sz="750" b="1" dirty="0">
                <a:solidFill>
                  <a:srgbClr val="F2A93B"/>
                </a:solidFill>
              </a:rPr>
              <a:t>WEEK 2</a:t>
            </a:r>
            <a:endParaRPr lang="en-US" sz="750" dirty="0"/>
          </a:p>
        </p:txBody>
      </p:sp>
      <p:sp>
        <p:nvSpPr>
          <p:cNvPr id="59" name="Text 57"/>
          <p:cNvSpPr/>
          <p:nvPr/>
        </p:nvSpPr>
        <p:spPr>
          <a:xfrm>
            <a:off x="7790688" y="4581144"/>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Cancellation SOP Live</a:t>
            </a:r>
            <a:endParaRPr lang="en-US" sz="1100" dirty="0"/>
          </a:p>
        </p:txBody>
      </p:sp>
      <p:sp>
        <p:nvSpPr>
          <p:cNvPr id="60" name="Text 58"/>
          <p:cNvSpPr/>
          <p:nvPr/>
        </p:nvSpPr>
        <p:spPr>
          <a:xfrm>
            <a:off x="7790688" y="4873752"/>
            <a:ext cx="3977640" cy="457200"/>
          </a:xfrm>
          <a:prstGeom prst="rect">
            <a:avLst/>
          </a:prstGeom>
          <a:noFill/>
          <a:ln/>
        </p:spPr>
        <p:txBody>
          <a:bodyPr wrap="square" lIns="0" tIns="0" rIns="0" bIns="0" rtlCol="0" anchor="ctr"/>
          <a:lstStyle/>
          <a:p>
            <a:pPr indent="0" marL="0">
              <a:buNone/>
            </a:pPr>
            <a:r>
              <a:rPr lang="en-US" sz="950" dirty="0">
                <a:solidFill>
                  <a:srgbClr val="334155"/>
                </a:solidFill>
              </a:rPr>
              <a:t>Sophia + Lorie: formal warning on second cancellation, removal on third. Log all cancellations in ClickUp.</a:t>
            </a:r>
            <a:endParaRPr lang="en-US" sz="950" dirty="0"/>
          </a:p>
        </p:txBody>
      </p:sp>
      <p:sp>
        <p:nvSpPr>
          <p:cNvPr id="61" name="Shape 59"/>
          <p:cNvSpPr/>
          <p:nvPr/>
        </p:nvSpPr>
        <p:spPr>
          <a:xfrm>
            <a:off x="457200" y="5513832"/>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62" name="Shape 60"/>
          <p:cNvSpPr/>
          <p:nvPr/>
        </p:nvSpPr>
        <p:spPr>
          <a:xfrm>
            <a:off x="566928" y="5715000"/>
            <a:ext cx="475488" cy="475488"/>
          </a:xfrm>
          <a:prstGeom prst="ellipse">
            <a:avLst/>
          </a:prstGeom>
          <a:solidFill>
            <a:srgbClr val="3A6FF8"/>
          </a:solidFill>
          <a:ln/>
        </p:spPr>
      </p:sp>
      <p:sp>
        <p:nvSpPr>
          <p:cNvPr id="63" name="Text 61"/>
          <p:cNvSpPr/>
          <p:nvPr/>
        </p:nvSpPr>
        <p:spPr>
          <a:xfrm>
            <a:off x="566928" y="571500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64" name="Shape 62"/>
          <p:cNvSpPr/>
          <p:nvPr/>
        </p:nvSpPr>
        <p:spPr>
          <a:xfrm>
            <a:off x="1133856" y="5623560"/>
            <a:ext cx="731520" cy="237744"/>
          </a:xfrm>
          <a:prstGeom prst="roundRect">
            <a:avLst>
              <a:gd name="adj" fmla="val 19231"/>
            </a:avLst>
          </a:prstGeom>
          <a:solidFill>
            <a:srgbClr val="3A6FF8">
              <a:alpha val="20000"/>
            </a:srgbClr>
          </a:solidFill>
          <a:ln/>
        </p:spPr>
      </p:sp>
      <p:sp>
        <p:nvSpPr>
          <p:cNvPr id="65" name="Text 63"/>
          <p:cNvSpPr/>
          <p:nvPr/>
        </p:nvSpPr>
        <p:spPr>
          <a:xfrm>
            <a:off x="1133856" y="5623560"/>
            <a:ext cx="731520" cy="237744"/>
          </a:xfrm>
          <a:prstGeom prst="rect">
            <a:avLst/>
          </a:prstGeom>
          <a:noFill/>
          <a:ln/>
        </p:spPr>
        <p:txBody>
          <a:bodyPr wrap="square" lIns="0" tIns="0" rIns="0" bIns="0" rtlCol="0" anchor="ctr"/>
          <a:lstStyle/>
          <a:p>
            <a:pPr algn="ctr" indent="0" marL="0">
              <a:buNone/>
            </a:pPr>
            <a:r>
              <a:rPr lang="en-US" sz="750" b="1" dirty="0">
                <a:solidFill>
                  <a:srgbClr val="3A6FF8"/>
                </a:solidFill>
              </a:rPr>
              <a:t>MONTH 1</a:t>
            </a:r>
            <a:endParaRPr lang="en-US" sz="750" dirty="0"/>
          </a:p>
        </p:txBody>
      </p:sp>
      <p:sp>
        <p:nvSpPr>
          <p:cNvPr id="66" name="Text 64"/>
          <p:cNvSpPr/>
          <p:nvPr/>
        </p:nvSpPr>
        <p:spPr>
          <a:xfrm>
            <a:off x="1938528" y="5605272"/>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TAFE SA Partnership</a:t>
            </a:r>
            <a:endParaRPr lang="en-US" sz="1100" dirty="0"/>
          </a:p>
        </p:txBody>
      </p:sp>
      <p:sp>
        <p:nvSpPr>
          <p:cNvPr id="67" name="Text 65"/>
          <p:cNvSpPr/>
          <p:nvPr/>
        </p:nvSpPr>
        <p:spPr>
          <a:xfrm>
            <a:off x="1938528" y="5897880"/>
            <a:ext cx="3977640" cy="457200"/>
          </a:xfrm>
          <a:prstGeom prst="rect">
            <a:avLst/>
          </a:prstGeom>
          <a:noFill/>
          <a:ln/>
        </p:spPr>
        <p:txBody>
          <a:bodyPr wrap="square" lIns="0" tIns="0" rIns="0" bIns="0" rtlCol="0" anchor="ctr"/>
          <a:lstStyle/>
          <a:p>
            <a:pPr indent="0" marL="0">
              <a:buNone/>
            </a:pPr>
            <a:r>
              <a:rPr lang="en-US" sz="950" dirty="0">
                <a:solidFill>
                  <a:srgbClr val="334155"/>
                </a:solidFill>
              </a:rPr>
              <a:t>Liam contacts TAFE SA for access to graduating Cert III cohorts. Pipeline of pre-qualified SA educators.</a:t>
            </a:r>
            <a:endParaRPr lang="en-US" sz="950" dirty="0"/>
          </a:p>
        </p:txBody>
      </p:sp>
      <p:sp>
        <p:nvSpPr>
          <p:cNvPr id="68" name="Shape 66"/>
          <p:cNvSpPr/>
          <p:nvPr/>
        </p:nvSpPr>
        <p:spPr>
          <a:xfrm>
            <a:off x="6309360" y="5513832"/>
            <a:ext cx="5577840" cy="914400"/>
          </a:xfrm>
          <a:prstGeom prst="roundRect">
            <a:avLst>
              <a:gd name="adj" fmla="val 8000"/>
            </a:avLst>
          </a:prstGeom>
          <a:solidFill>
            <a:srgbClr val="F7F8FD"/>
          </a:solidFill>
          <a:ln/>
          <a:effectLst>
            <a:outerShdw sx="100000" sy="100000" kx="0" ky="0" algn="bl" rotWithShape="0" blurRad="50800" dist="12700" dir="2700000">
              <a:srgbClr val="000000">
                <a:alpha val="6000"/>
              </a:srgbClr>
            </a:outerShdw>
          </a:effectLst>
        </p:spPr>
      </p:sp>
      <p:sp>
        <p:nvSpPr>
          <p:cNvPr id="69" name="Shape 67"/>
          <p:cNvSpPr/>
          <p:nvPr/>
        </p:nvSpPr>
        <p:spPr>
          <a:xfrm>
            <a:off x="6419088" y="5715000"/>
            <a:ext cx="475488" cy="475488"/>
          </a:xfrm>
          <a:prstGeom prst="ellipse">
            <a:avLst/>
          </a:prstGeom>
          <a:solidFill>
            <a:srgbClr val="3A6FF8"/>
          </a:solidFill>
          <a:ln/>
        </p:spPr>
      </p:sp>
      <p:sp>
        <p:nvSpPr>
          <p:cNvPr id="70" name="Text 68"/>
          <p:cNvSpPr/>
          <p:nvPr/>
        </p:nvSpPr>
        <p:spPr>
          <a:xfrm>
            <a:off x="6419088" y="5715000"/>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71" name="Shape 69"/>
          <p:cNvSpPr/>
          <p:nvPr/>
        </p:nvSpPr>
        <p:spPr>
          <a:xfrm>
            <a:off x="6986016" y="5623560"/>
            <a:ext cx="731520" cy="237744"/>
          </a:xfrm>
          <a:prstGeom prst="roundRect">
            <a:avLst>
              <a:gd name="adj" fmla="val 19231"/>
            </a:avLst>
          </a:prstGeom>
          <a:solidFill>
            <a:srgbClr val="3A6FF8">
              <a:alpha val="20000"/>
            </a:srgbClr>
          </a:solidFill>
          <a:ln/>
        </p:spPr>
      </p:sp>
      <p:sp>
        <p:nvSpPr>
          <p:cNvPr id="72" name="Text 70"/>
          <p:cNvSpPr/>
          <p:nvPr/>
        </p:nvSpPr>
        <p:spPr>
          <a:xfrm>
            <a:off x="6986016" y="5623560"/>
            <a:ext cx="731520" cy="237744"/>
          </a:xfrm>
          <a:prstGeom prst="rect">
            <a:avLst/>
          </a:prstGeom>
          <a:noFill/>
          <a:ln/>
        </p:spPr>
        <p:txBody>
          <a:bodyPr wrap="square" lIns="0" tIns="0" rIns="0" bIns="0" rtlCol="0" anchor="ctr"/>
          <a:lstStyle/>
          <a:p>
            <a:pPr algn="ctr" indent="0" marL="0">
              <a:buNone/>
            </a:pPr>
            <a:r>
              <a:rPr lang="en-US" sz="750" b="1" dirty="0">
                <a:solidFill>
                  <a:srgbClr val="3A6FF8"/>
                </a:solidFill>
              </a:rPr>
              <a:t>MONTH 1</a:t>
            </a:r>
            <a:endParaRPr lang="en-US" sz="750" dirty="0"/>
          </a:p>
        </p:txBody>
      </p:sp>
      <p:sp>
        <p:nvSpPr>
          <p:cNvPr id="73" name="Text 71"/>
          <p:cNvSpPr/>
          <p:nvPr/>
        </p:nvSpPr>
        <p:spPr>
          <a:xfrm>
            <a:off x="7790688" y="5605272"/>
            <a:ext cx="3977640" cy="274320"/>
          </a:xfrm>
          <a:prstGeom prst="rect">
            <a:avLst/>
          </a:prstGeom>
          <a:noFill/>
          <a:ln/>
        </p:spPr>
        <p:txBody>
          <a:bodyPr wrap="square" lIns="0" tIns="0" rIns="0" bIns="0" rtlCol="0" anchor="ctr"/>
          <a:lstStyle/>
          <a:p>
            <a:pPr indent="0" marL="0">
              <a:buNone/>
            </a:pPr>
            <a:r>
              <a:rPr lang="en-US" sz="1100" b="1" dirty="0">
                <a:solidFill>
                  <a:srgbClr val="1E2A3A"/>
                </a:solidFill>
              </a:rPr>
              <a:t>Onboarding Funnel Restructure</a:t>
            </a:r>
            <a:endParaRPr lang="en-US" sz="1100" dirty="0"/>
          </a:p>
        </p:txBody>
      </p:sp>
      <p:sp>
        <p:nvSpPr>
          <p:cNvPr id="74" name="Text 72"/>
          <p:cNvSpPr/>
          <p:nvPr/>
        </p:nvSpPr>
        <p:spPr>
          <a:xfrm>
            <a:off x="7790688" y="5897880"/>
            <a:ext cx="3977640" cy="457200"/>
          </a:xfrm>
          <a:prstGeom prst="rect">
            <a:avLst/>
          </a:prstGeom>
          <a:noFill/>
          <a:ln/>
        </p:spPr>
        <p:txBody>
          <a:bodyPr wrap="square" lIns="0" tIns="0" rIns="0" bIns="0" rtlCol="0" anchor="ctr"/>
          <a:lstStyle/>
          <a:p>
            <a:pPr indent="0" marL="0">
              <a:buNone/>
            </a:pPr>
            <a:r>
              <a:rPr lang="en-US" sz="950" dirty="0">
                <a:solidFill>
                  <a:srgbClr val="334155"/>
                </a:solidFill>
              </a:rPr>
              <a:t>Qualifying filter at registration live. Student pipeline created. Joy + Jane scope all changes in ONE IT build.</a:t>
            </a:r>
            <a:endParaRPr lang="en-US" sz="950" dirty="0"/>
          </a:p>
        </p:txBody>
      </p:sp>
      <p:sp>
        <p:nvSpPr>
          <p:cNvPr id="75" name="Text 73"/>
          <p:cNvSpPr/>
          <p:nvPr/>
        </p:nvSpPr>
        <p:spPr>
          <a:xfrm>
            <a:off x="365760" y="6510528"/>
            <a:ext cx="11430000" cy="256032"/>
          </a:xfrm>
          <a:prstGeom prst="rect">
            <a:avLst/>
          </a:prstGeom>
          <a:noFill/>
          <a:ln/>
        </p:spPr>
        <p:txBody>
          <a:bodyPr wrap="square" lIns="0" tIns="0" rIns="0" bIns="0" rtlCol="0" anchor="b"/>
          <a:lstStyle/>
          <a:p>
            <a:pPr algn="l" indent="0" marL="0">
              <a:buNone/>
            </a:pPr>
            <a:r>
              <a:rPr lang="en-US" sz="750" i="1" dirty="0">
                <a:solidFill>
                  <a:srgbClr val="94A3B8"/>
                </a:solidFill>
              </a:rPr>
              <a:t>Source: Raw Talent strategic planning session June 2026 | Joy Victoria analysis | Edge SA partnership confirmation June 2026 | ACA WRP Support Service | ACECQA NCS Training requirements. Action owners: Joy Victoria (strategy, calls, SOPs), Sophia Arwae (operations), Liam Baxter (WRP toggle, TAFE SA, Lorie brief), Prince/Yuvraj (tech).</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Text 0"/>
          <p:cNvSpPr/>
          <p:nvPr/>
        </p:nvSpPr>
        <p:spPr>
          <a:xfrm>
            <a:off x="640080" y="731520"/>
            <a:ext cx="107899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Summary &amp; Recommendation</a:t>
            </a:r>
            <a:endParaRPr lang="en-US" sz="3200" dirty="0"/>
          </a:p>
        </p:txBody>
      </p:sp>
      <p:sp>
        <p:nvSpPr>
          <p:cNvPr id="3" name="Shape 1"/>
          <p:cNvSpPr/>
          <p:nvPr/>
        </p:nvSpPr>
        <p:spPr>
          <a:xfrm>
            <a:off x="457200" y="1645920"/>
            <a:ext cx="3566160" cy="3840480"/>
          </a:xfrm>
          <a:prstGeom prst="roundRect">
            <a:avLst>
              <a:gd name="adj" fmla="val 3077"/>
            </a:avLst>
          </a:prstGeom>
          <a:solidFill>
            <a:srgbClr val="243147"/>
          </a:solidFill>
          <a:ln/>
        </p:spPr>
      </p:sp>
      <p:sp>
        <p:nvSpPr>
          <p:cNvPr id="4" name="Shape 2"/>
          <p:cNvSpPr/>
          <p:nvPr/>
        </p:nvSpPr>
        <p:spPr>
          <a:xfrm>
            <a:off x="457200" y="1645920"/>
            <a:ext cx="3566160" cy="502920"/>
          </a:xfrm>
          <a:prstGeom prst="roundRect">
            <a:avLst>
              <a:gd name="adj" fmla="val 18182"/>
            </a:avLst>
          </a:prstGeom>
          <a:solidFill>
            <a:srgbClr val="E14B4B"/>
          </a:solidFill>
          <a:ln/>
        </p:spPr>
      </p:sp>
      <p:sp>
        <p:nvSpPr>
          <p:cNvPr id="5" name="Text 3"/>
          <p:cNvSpPr/>
          <p:nvPr/>
        </p:nvSpPr>
        <p:spPr>
          <a:xfrm>
            <a:off x="457200" y="164592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621792" y="2240280"/>
            <a:ext cx="3246120" cy="777240"/>
          </a:xfrm>
          <a:prstGeom prst="rect">
            <a:avLst/>
          </a:prstGeom>
          <a:noFill/>
          <a:ln/>
        </p:spPr>
        <p:txBody>
          <a:bodyPr wrap="square" lIns="0" tIns="0" rIns="0" bIns="0" rtlCol="0" anchor="ctr"/>
          <a:lstStyle/>
          <a:p>
            <a:pPr indent="0" marL="0">
              <a:buNone/>
            </a:pPr>
            <a:r>
              <a:rPr lang="en-US" sz="1200" b="1" dirty="0">
                <a:solidFill>
                  <a:srgbClr val="FFFFFF"/>
                </a:solidFill>
              </a:rPr>
              <a:t>Don't try to out-TalentNow TalentNow</a:t>
            </a:r>
            <a:endParaRPr lang="en-US" sz="1200" dirty="0"/>
          </a:p>
        </p:txBody>
      </p:sp>
      <p:sp>
        <p:nvSpPr>
          <p:cNvPr id="7" name="Text 5"/>
          <p:cNvSpPr/>
          <p:nvPr/>
        </p:nvSpPr>
        <p:spPr>
          <a:xfrm>
            <a:off x="621792" y="3063240"/>
            <a:ext cx="3246120" cy="2194560"/>
          </a:xfrm>
          <a:prstGeom prst="rect">
            <a:avLst/>
          </a:prstGeom>
          <a:noFill/>
          <a:ln/>
        </p:spPr>
        <p:txBody>
          <a:bodyPr wrap="square" lIns="0" tIns="0" rIns="0" bIns="0" rtlCol="0" anchor="ctr"/>
          <a:lstStyle/>
          <a:p>
            <a:pPr indent="0" marL="0">
              <a:buNone/>
            </a:pPr>
            <a:r>
              <a:rPr lang="en-US" sz="1100" dirty="0">
                <a:solidFill>
                  <a:srgbClr val="94A3B8"/>
                </a:solidFill>
              </a:rPr>
              <a:t>Their Connect model and 8-year tech lead are advantages RT cannot close in the short term. Don't compete on price or platform — compete on relationships, compliance depth, and SA-specific intelligence.</a:t>
            </a:r>
            <a:endParaRPr lang="en-US" sz="1100" dirty="0"/>
          </a:p>
        </p:txBody>
      </p:sp>
      <p:sp>
        <p:nvSpPr>
          <p:cNvPr id="8" name="Shape 6"/>
          <p:cNvSpPr/>
          <p:nvPr/>
        </p:nvSpPr>
        <p:spPr>
          <a:xfrm>
            <a:off x="4297680" y="1645920"/>
            <a:ext cx="3566160" cy="3840480"/>
          </a:xfrm>
          <a:prstGeom prst="roundRect">
            <a:avLst>
              <a:gd name="adj" fmla="val 3077"/>
            </a:avLst>
          </a:prstGeom>
          <a:solidFill>
            <a:srgbClr val="243147"/>
          </a:solidFill>
          <a:ln/>
        </p:spPr>
      </p:sp>
      <p:sp>
        <p:nvSpPr>
          <p:cNvPr id="9" name="Shape 7"/>
          <p:cNvSpPr/>
          <p:nvPr/>
        </p:nvSpPr>
        <p:spPr>
          <a:xfrm>
            <a:off x="4297680" y="1645920"/>
            <a:ext cx="3566160" cy="502920"/>
          </a:xfrm>
          <a:prstGeom prst="roundRect">
            <a:avLst>
              <a:gd name="adj" fmla="val 18182"/>
            </a:avLst>
          </a:prstGeom>
          <a:solidFill>
            <a:srgbClr val="F2A93B"/>
          </a:solidFill>
          <a:ln/>
        </p:spPr>
      </p:sp>
      <p:sp>
        <p:nvSpPr>
          <p:cNvPr id="10" name="Text 8"/>
          <p:cNvSpPr/>
          <p:nvPr/>
        </p:nvSpPr>
        <p:spPr>
          <a:xfrm>
            <a:off x="4297680" y="164592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02</a:t>
            </a:r>
            <a:endParaRPr lang="en-US" sz="2200" dirty="0"/>
          </a:p>
        </p:txBody>
      </p:sp>
      <p:sp>
        <p:nvSpPr>
          <p:cNvPr id="11" name="Text 9"/>
          <p:cNvSpPr/>
          <p:nvPr/>
        </p:nvSpPr>
        <p:spPr>
          <a:xfrm>
            <a:off x="4462272" y="2240280"/>
            <a:ext cx="3246120" cy="777240"/>
          </a:xfrm>
          <a:prstGeom prst="rect">
            <a:avLst/>
          </a:prstGeom>
          <a:noFill/>
          <a:ln/>
        </p:spPr>
        <p:txBody>
          <a:bodyPr wrap="square" lIns="0" tIns="0" rIns="0" bIns="0" rtlCol="0" anchor="ctr"/>
          <a:lstStyle/>
          <a:p>
            <a:pPr indent="0" marL="0">
              <a:buNone/>
            </a:pPr>
            <a:r>
              <a:rPr lang="en-US" sz="1200" b="1" dirty="0">
                <a:solidFill>
                  <a:srgbClr val="FFFFFF"/>
                </a:solidFill>
              </a:rPr>
              <a:t>Win SA with speed, supply, and loyalty</a:t>
            </a:r>
            <a:endParaRPr lang="en-US" sz="1200" dirty="0"/>
          </a:p>
        </p:txBody>
      </p:sp>
      <p:sp>
        <p:nvSpPr>
          <p:cNvPr id="12" name="Text 10"/>
          <p:cNvSpPr/>
          <p:nvPr/>
        </p:nvSpPr>
        <p:spPr>
          <a:xfrm>
            <a:off x="4462272" y="3063240"/>
            <a:ext cx="3246120" cy="2194560"/>
          </a:xfrm>
          <a:prstGeom prst="rect">
            <a:avLst/>
          </a:prstGeom>
          <a:noFill/>
          <a:ln/>
        </p:spPr>
        <p:txBody>
          <a:bodyPr wrap="square" lIns="0" tIns="0" rIns="0" bIns="0" rtlCol="0" anchor="ctr"/>
          <a:lstStyle/>
          <a:p>
            <a:pPr indent="0" marL="0">
              <a:buNone/>
            </a:pPr>
            <a:r>
              <a:rPr lang="en-US" sz="1100" dirty="0">
                <a:solidFill>
                  <a:srgbClr val="94A3B8"/>
                </a:solidFill>
              </a:rPr>
              <a:t>The Edge SA win is a 30–90 day window. Flood SA with active, compliant educators. Close the pay gap via WRP toggle. Lock in educator loyalty with incentives and appreciation. Do all three simultaneously.</a:t>
            </a:r>
            <a:endParaRPr lang="en-US" sz="1100" dirty="0"/>
          </a:p>
        </p:txBody>
      </p:sp>
      <p:sp>
        <p:nvSpPr>
          <p:cNvPr id="13" name="Shape 11"/>
          <p:cNvSpPr/>
          <p:nvPr/>
        </p:nvSpPr>
        <p:spPr>
          <a:xfrm>
            <a:off x="8138160" y="1645920"/>
            <a:ext cx="3566160" cy="3840480"/>
          </a:xfrm>
          <a:prstGeom prst="roundRect">
            <a:avLst>
              <a:gd name="adj" fmla="val 3077"/>
            </a:avLst>
          </a:prstGeom>
          <a:solidFill>
            <a:srgbClr val="243147"/>
          </a:solidFill>
          <a:ln/>
        </p:spPr>
      </p:sp>
      <p:sp>
        <p:nvSpPr>
          <p:cNvPr id="14" name="Shape 12"/>
          <p:cNvSpPr/>
          <p:nvPr/>
        </p:nvSpPr>
        <p:spPr>
          <a:xfrm>
            <a:off x="8138160" y="1645920"/>
            <a:ext cx="3566160" cy="502920"/>
          </a:xfrm>
          <a:prstGeom prst="roundRect">
            <a:avLst>
              <a:gd name="adj" fmla="val 18182"/>
            </a:avLst>
          </a:prstGeom>
          <a:solidFill>
            <a:srgbClr val="27AE60"/>
          </a:solidFill>
          <a:ln/>
        </p:spPr>
      </p:sp>
      <p:sp>
        <p:nvSpPr>
          <p:cNvPr id="15" name="Text 13"/>
          <p:cNvSpPr/>
          <p:nvPr/>
        </p:nvSpPr>
        <p:spPr>
          <a:xfrm>
            <a:off x="8138160" y="1645920"/>
            <a:ext cx="35661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8302752" y="2240280"/>
            <a:ext cx="3246120" cy="777240"/>
          </a:xfrm>
          <a:prstGeom prst="rect">
            <a:avLst/>
          </a:prstGeom>
          <a:noFill/>
          <a:ln/>
        </p:spPr>
        <p:txBody>
          <a:bodyPr wrap="square" lIns="0" tIns="0" rIns="0" bIns="0" rtlCol="0" anchor="ctr"/>
          <a:lstStyle/>
          <a:p>
            <a:pPr indent="0" marL="0">
              <a:buNone/>
            </a:pPr>
            <a:r>
              <a:rPr lang="en-US" sz="1200" b="1" dirty="0">
                <a:solidFill>
                  <a:srgbClr val="FFFFFF"/>
                </a:solidFill>
              </a:rPr>
              <a:t>Build the RT platform as the long-term play</a:t>
            </a:r>
            <a:endParaRPr lang="en-US" sz="1200" dirty="0"/>
          </a:p>
        </p:txBody>
      </p:sp>
      <p:sp>
        <p:nvSpPr>
          <p:cNvPr id="17" name="Text 15"/>
          <p:cNvSpPr/>
          <p:nvPr/>
        </p:nvSpPr>
        <p:spPr>
          <a:xfrm>
            <a:off x="8302752" y="3063240"/>
            <a:ext cx="3246120" cy="2194560"/>
          </a:xfrm>
          <a:prstGeom prst="rect">
            <a:avLst/>
          </a:prstGeom>
          <a:noFill/>
          <a:ln/>
        </p:spPr>
        <p:txBody>
          <a:bodyPr wrap="square" lIns="0" tIns="0" rIns="0" bIns="0" rtlCol="0" anchor="ctr"/>
          <a:lstStyle/>
          <a:p>
            <a:pPr indent="0" marL="0">
              <a:buNone/>
            </a:pPr>
            <a:r>
              <a:rPr lang="en-US" sz="1100" dirty="0">
                <a:solidFill>
                  <a:srgbClr val="94A3B8"/>
                </a:solidFill>
              </a:rPr>
              <a:t>In 3–5 years RT's vision is a marketplace platform. The SA childcare vertical is the proof of concept. Every process, SOP, and tech decision made now should be built as if it will scale to other industries.</a:t>
            </a:r>
            <a:endParaRPr lang="en-US" sz="1100" dirty="0"/>
          </a:p>
        </p:txBody>
      </p:sp>
      <p:sp>
        <p:nvSpPr>
          <p:cNvPr id="18" name="Text 16"/>
          <p:cNvSpPr/>
          <p:nvPr/>
        </p:nvSpPr>
        <p:spPr>
          <a:xfrm>
            <a:off x="640080" y="5806440"/>
            <a:ext cx="10789920" cy="548640"/>
          </a:xfrm>
          <a:prstGeom prst="rect">
            <a:avLst/>
          </a:prstGeom>
          <a:noFill/>
          <a:ln/>
        </p:spPr>
        <p:txBody>
          <a:bodyPr wrap="square" lIns="0" tIns="0" rIns="0" bIns="0" rtlCol="0" anchor="ctr"/>
          <a:lstStyle/>
          <a:p>
            <a:pPr algn="ctr" indent="0" marL="0">
              <a:buNone/>
            </a:pPr>
            <a:r>
              <a:rPr lang="en-US" sz="1050" i="1" dirty="0">
                <a:solidFill>
                  <a:srgbClr val="F2A93B"/>
                </a:solidFill>
              </a:rPr>
              <a:t>Next Steps: WRP toggle model (Joy, Week 1)  ·  SA educator export (Prince, Week 1)  ·  NCS Training audit (Joy + team, Week 1)  ·  Notification fix date (Yuvraj/Prince, Week 1)</a:t>
            </a:r>
            <a:endParaRPr lang="en-US" sz="1050" dirty="0"/>
          </a:p>
        </p:txBody>
      </p:sp>
      <p:sp>
        <p:nvSpPr>
          <p:cNvPr id="19" name="Text 17"/>
          <p:cNvSpPr/>
          <p:nvPr/>
        </p:nvSpPr>
        <p:spPr>
          <a:xfrm>
            <a:off x="640080" y="6400800"/>
            <a:ext cx="10789920" cy="274320"/>
          </a:xfrm>
          <a:prstGeom prst="rect">
            <a:avLst/>
          </a:prstGeom>
          <a:noFill/>
          <a:ln/>
        </p:spPr>
        <p:txBody>
          <a:bodyPr wrap="square" lIns="0" tIns="0" rIns="0" bIns="0" rtlCol="0" anchor="ctr"/>
          <a:lstStyle/>
          <a:p>
            <a:pPr algn="ctr" indent="0" marL="0">
              <a:buNone/>
            </a:pPr>
            <a:r>
              <a:rPr lang="en-US" sz="800" dirty="0">
                <a:solidFill>
                  <a:srgbClr val="475569"/>
                </a:solidFill>
              </a:rPr>
              <a:t>Joy Victoria, Operations Manager — Raw Talent  ·  joy@rawtalent.com.au  ·  rawtalent.com.au  ·  June 2026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Raw Talent vs TalentNow — Competitive Analysis</dc:title>
  <dc:subject>PptxGenJS Presentation</dc:subject>
  <dc:creator>Joy Victoria, Operations Manager</dc:creator>
  <cp:lastModifiedBy>Joy Victoria, Operations Manager</cp:lastModifiedBy>
  <cp:revision>1</cp:revision>
  <dcterms:created xsi:type="dcterms:W3CDTF">2026-06-15T20:47:41Z</dcterms:created>
  <dcterms:modified xsi:type="dcterms:W3CDTF">2026-06-15T20:47:41Z</dcterms:modified>
</cp:coreProperties>
</file>